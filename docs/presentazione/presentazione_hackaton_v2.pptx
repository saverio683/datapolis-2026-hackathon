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embeddedFontLst>
    <p:embeddedFont>
      <p:font typeface="Play"/>
      <p:regular r:id="rId22"/>
      <p:bold r:id="rId23"/>
      <p:italic r:id="rId2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font" Target="fonts/Font_1_Play_Regular.fntdata"/><Relationship Id="rId23" Type="http://schemas.openxmlformats.org/officeDocument/2006/relationships/font" Target="fonts/Font_2_Play_Bold.fntdata"/><Relationship Id="rId2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3DFEDD-B93D-4DE9-94C3-60518D3BD48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Apertura: annunciare che la presentazione segue cinque blocchi: introduzione e metodo, studio-lavoro, focus femminile, proposta, conclusione.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F63F98-816C-4D0B-A721-14EE08EA08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Dire: non partiamo da un problema genericamente “NEET”; partiamo da una catena osservabile nelle fonti pubbliche.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B93458-B64B-47AE-B8AE-D90734D878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 che il dato è costruito come prodotto verificabile: raw append-only, processati, notebook, figure, controlli.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7A3925-EE3B-46DB-B6C1-DFB5F939DC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Far passare l’idea: il problema non è solo chi cerca, ma chi è fuori e non si presenta.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7015B6-11B5-4777-A966-90ACF15AAC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Transizione: adesso entriamo nella prima area tematica richiesta.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5C3D2A-7F33-4CA3-B5CE-E503994A51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Non dire “il diploma non si converte” come percorso individuale. Dire: osserviamo insieme misure territoriali distinte.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2D74FB-9A1A-4A7A-98E6-CAE21A163D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Il punto chiave: il calo complessivo non significa che l’inattività sia stata riassorbita.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157640-D220-4D8A-A2DD-3E158E0089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Questa slide protegge da contestazioni: non facciamo claim causali sul percorso diploma-lavoro.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62B5B5-25EB-4C15-9394-B2BD2C8114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Transizione: dopo lo studio-lavoro generale, entriamo nel focus femminile.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E5EAB2-F972-4DEB-83B9-EAEDE8C95E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Non dire: “le diplomate non lavorano”. Dire: misuriamo insieme istruzione più alta e occupazione più bassa.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2CF80E-4AFF-4524-87F9-F4D4E0BD2F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Evitare parole come “minimo storico” o “crollo”.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64084D-288C-4DB1-9310-A34E8D6F4E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Non dire “carico di cura” come dato misurato; dire “etichetta censuaria”.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41EE3E-5B63-40DA-8480-7D61544A60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 che la mobilità non è esclusa: diventa vincolo di progettazione, non capitolo astratto.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B918CC-63B2-4FDC-872F-FB5E56D584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Entrare nella proposta: non promettiamo effetti, disegniamo un servizio misurabile.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C0A1F8-A113-4B1E-B83D-C09A22076E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Chiarire: 200 è capacità progettata, non stima della domanda né copertura della platea 15-24.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D53E37-AEC6-4932-9E3D-98DD7D3B66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Sottolineare: non basta prima-dopo. La lista d’attesa è il confronto interno al servizio.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382AAC-59C5-4736-9704-3EA01E6FEB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Dire: la mobilità non è una slide separata di policy, è un criterio di ammissibilità delle opportunità.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85CC93-E0AD-4D75-9289-0C1F5D0956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Chiusura: Ponte 19 non è un auspicio; è un disegno operativo con target, quota, valutazione e follow-up.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19A1B7-CBA4-4DFD-8EA8-C4BDC16EE4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8;p3" descr="/mnt/data/a_clean_vector_flat_infographic_illustration_on_a_batch_1.png"/>
          <p:cNvPicPr/>
          <p:nvPr/>
        </p:nvPicPr>
        <p:blipFill>
          <a:blip r:embed="rId1"/>
          <a:srcRect l="0" t="0" r="-52" b="0"/>
          <a:stretch/>
        </p:blipFill>
        <p:spPr>
          <a:xfrm>
            <a:off x="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19;p3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BF8EF">
              <a:alpha val="93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20;p3"/>
          <p:cNvSpPr/>
          <p:nvPr/>
        </p:nvSpPr>
        <p:spPr>
          <a:xfrm>
            <a:off x="0" y="0"/>
            <a:ext cx="5073840" cy="6856920"/>
          </a:xfrm>
          <a:prstGeom prst="rect">
            <a:avLst/>
          </a:prstGeom>
          <a:solidFill>
            <a:srgbClr val="FBF8EF">
              <a:alpha val="98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21;p3"/>
          <p:cNvSpPr/>
          <p:nvPr/>
        </p:nvSpPr>
        <p:spPr>
          <a:xfrm>
            <a:off x="658440" y="658440"/>
            <a:ext cx="2925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43D30"/>
                </a:solidFill>
                <a:effectLst/>
                <a:uFillTx/>
                <a:latin typeface="Play"/>
                <a:ea typeface="Play"/>
              </a:rPr>
              <a:t>PONTE 19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2;p3"/>
          <p:cNvSpPr/>
          <p:nvPr/>
        </p:nvSpPr>
        <p:spPr>
          <a:xfrm>
            <a:off x="658440" y="2030040"/>
            <a:ext cx="57596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8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Un servizio che va a cercare chi non cerca e che misura se funziona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3;p3"/>
          <p:cNvSpPr/>
          <p:nvPr/>
        </p:nvSpPr>
        <p:spPr>
          <a:xfrm>
            <a:off x="685800" y="5074920"/>
            <a:ext cx="42966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 (PA)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Alessandro Carosia e Saverio Randazzo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Google Shape;24;p3"/>
          <p:cNvCxnSpPr/>
          <p:nvPr/>
        </p:nvCxnSpPr>
        <p:spPr>
          <a:xfrm>
            <a:off x="685800" y="4553640"/>
            <a:ext cx="3109680" cy="1080"/>
          </a:xfrm>
          <a:prstGeom prst="straightConnector1">
            <a:avLst/>
          </a:prstGeom>
          <a:ln w="20300">
            <a:solidFill>
              <a:srgbClr val="101828"/>
            </a:solidFill>
            <a:round/>
          </a:ln>
        </p:spPr>
      </p:cxnSp>
      <p:sp>
        <p:nvSpPr>
          <p:cNvPr id="17" name="Google Shape;25;p3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31;p4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32;p4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33;p4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Google Shape;34;p4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22" name="Google Shape;35;p4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Introduzione: il problema è una catena, non un singolo numero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6;p4"/>
          <p:cNvSpPr/>
          <p:nvPr/>
        </p:nvSpPr>
        <p:spPr>
          <a:xfrm>
            <a:off x="621720" y="13716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Il brief parla di giovani, lavoro, studio e fuga di talenti; i dati mostrano tre punti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di rottura.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Google Shape;37;p4" descr="/mnt/data/wide_minimalist_abstract_flat_vector_illustration_batch_3.png"/>
          <p:cNvPicPr/>
          <p:nvPr/>
        </p:nvPicPr>
        <p:blipFill>
          <a:blip r:embed="rId1"/>
          <a:srcRect l="11999" t="0" r="26545" b="0"/>
          <a:stretch/>
        </p:blipFill>
        <p:spPr>
          <a:xfrm>
            <a:off x="6995520" y="1225080"/>
            <a:ext cx="4890960" cy="426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Google Shape;38;p4"/>
          <p:cNvSpPr/>
          <p:nvPr/>
        </p:nvSpPr>
        <p:spPr>
          <a:xfrm>
            <a:off x="731520" y="1901880"/>
            <a:ext cx="108720" cy="108720"/>
          </a:xfrm>
          <a:prstGeom prst="ellipse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9;p4"/>
          <p:cNvSpPr/>
          <p:nvPr/>
        </p:nvSpPr>
        <p:spPr>
          <a:xfrm>
            <a:off x="932760" y="1828800"/>
            <a:ext cx="5256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Molti giovani sono fuori da lavoro e studio; tra questi prevale chi non risulta in ricerca.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40;p4"/>
          <p:cNvSpPr/>
          <p:nvPr/>
        </p:nvSpPr>
        <p:spPr>
          <a:xfrm>
            <a:off x="731520" y="2724840"/>
            <a:ext cx="108720" cy="10872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41;p4"/>
          <p:cNvSpPr/>
          <p:nvPr/>
        </p:nvSpPr>
        <p:spPr>
          <a:xfrm>
            <a:off x="932760" y="2651760"/>
            <a:ext cx="5256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legame tra capitale umano e ingresso nel lavoro è debole: non basta leggere il miglioramento assoluto.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42;p4"/>
          <p:cNvSpPr/>
          <p:nvPr/>
        </p:nvSpPr>
        <p:spPr>
          <a:xfrm>
            <a:off x="731520" y="3547800"/>
            <a:ext cx="108720" cy="108720"/>
          </a:xfrm>
          <a:prstGeom prst="ellipse">
            <a:avLst/>
          </a:prstGeom>
          <a:solidFill>
            <a:srgbClr val="C970A7"/>
          </a:solidFill>
          <a:ln w="12700">
            <a:solidFill>
              <a:srgbClr val="C970A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43;p4"/>
          <p:cNvSpPr/>
          <p:nvPr/>
        </p:nvSpPr>
        <p:spPr>
          <a:xfrm>
            <a:off x="932760" y="3474720"/>
            <a:ext cx="5256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divario femminile non nasce da minore istruzione: emerge nel passaggio verso lavoro e mobilità.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4;p4"/>
          <p:cNvSpPr/>
          <p:nvPr/>
        </p:nvSpPr>
        <p:spPr>
          <a:xfrm>
            <a:off x="749880" y="4800600"/>
            <a:ext cx="51652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Serve un servizio attivo, non solo uno sportello.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45;p4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Brief del contest: profiling, focus tematico, proposta data-driven. Fonti del progetto: ISTAT, matrici pendolarismo, MIUR, pipeline del repository.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6;p4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2;p5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53;p5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54;p5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Google Shape;55;p5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38" name="Google Shape;56;p5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Fonti trattate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7;p5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Fonti ufficiali, ruoli separati e controlli automatici prima della narrazione.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8;p5"/>
          <p:cNvSpPr/>
          <p:nvPr/>
        </p:nvSpPr>
        <p:spPr>
          <a:xfrm>
            <a:off x="3429000" y="2264760"/>
            <a:ext cx="810720" cy="706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9;p5"/>
          <p:cNvSpPr/>
          <p:nvPr/>
        </p:nvSpPr>
        <p:spPr>
          <a:xfrm>
            <a:off x="3449880" y="2472840"/>
            <a:ext cx="76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60;p5"/>
          <p:cNvSpPr/>
          <p:nvPr/>
        </p:nvSpPr>
        <p:spPr>
          <a:xfrm>
            <a:off x="4470120" y="2243880"/>
            <a:ext cx="1872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Censimento permanente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61;p5"/>
          <p:cNvSpPr/>
          <p:nvPr/>
        </p:nvSpPr>
        <p:spPr>
          <a:xfrm>
            <a:off x="6083640" y="2296080"/>
            <a:ext cx="28094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condizione professionale 15-24, istruzione, popolazione per età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2;p5"/>
          <p:cNvSpPr/>
          <p:nvPr/>
        </p:nvSpPr>
        <p:spPr>
          <a:xfrm>
            <a:off x="3429000" y="3268080"/>
            <a:ext cx="810720" cy="706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86B1F"/>
          </a:solidFill>
          <a:ln w="12700">
            <a:solidFill>
              <a:srgbClr val="D86B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63;p5"/>
          <p:cNvSpPr/>
          <p:nvPr/>
        </p:nvSpPr>
        <p:spPr>
          <a:xfrm>
            <a:off x="3449880" y="3476160"/>
            <a:ext cx="76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4;p5"/>
          <p:cNvSpPr/>
          <p:nvPr/>
        </p:nvSpPr>
        <p:spPr>
          <a:xfrm>
            <a:off x="4470120" y="3247200"/>
            <a:ext cx="1872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8milaCensus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65;p5"/>
          <p:cNvSpPr/>
          <p:nvPr/>
        </p:nvSpPr>
        <p:spPr>
          <a:xfrm>
            <a:off x="6083640" y="3299400"/>
            <a:ext cx="28094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storico 1991-2011, NEET 15-29 come dato separato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6;p5"/>
          <p:cNvSpPr/>
          <p:nvPr/>
        </p:nvSpPr>
        <p:spPr>
          <a:xfrm>
            <a:off x="3429000" y="4322160"/>
            <a:ext cx="810720" cy="706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7;p5"/>
          <p:cNvSpPr/>
          <p:nvPr/>
        </p:nvSpPr>
        <p:spPr>
          <a:xfrm>
            <a:off x="3449880" y="4530600"/>
            <a:ext cx="76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8;p5"/>
          <p:cNvSpPr/>
          <p:nvPr/>
        </p:nvSpPr>
        <p:spPr>
          <a:xfrm>
            <a:off x="4470120" y="4301280"/>
            <a:ext cx="1872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MIUR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scuole tecniche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9;p5"/>
          <p:cNvSpPr/>
          <p:nvPr/>
        </p:nvSpPr>
        <p:spPr>
          <a:xfrm>
            <a:off x="6135480" y="4353480"/>
            <a:ext cx="28094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canali operativi per il servizio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70;p5"/>
          <p:cNvSpPr/>
          <p:nvPr/>
        </p:nvSpPr>
        <p:spPr>
          <a:xfrm>
            <a:off x="9414720" y="3418560"/>
            <a:ext cx="76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71;p5"/>
          <p:cNvSpPr/>
          <p:nvPr/>
        </p:nvSpPr>
        <p:spPr>
          <a:xfrm>
            <a:off x="7149240" y="3378240"/>
            <a:ext cx="1644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72;p5"/>
          <p:cNvSpPr/>
          <p:nvPr/>
        </p:nvSpPr>
        <p:spPr>
          <a:xfrm>
            <a:off x="8394120" y="3423960"/>
            <a:ext cx="246780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3;p5"/>
          <p:cNvSpPr/>
          <p:nvPr/>
        </p:nvSpPr>
        <p:spPr>
          <a:xfrm>
            <a:off x="6062760" y="4477680"/>
            <a:ext cx="15080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4;p5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80;p6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81;p6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82;p6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Google Shape;83;p6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61" name="Google Shape;84;p6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Quadro iniziale: tre cifre che guidano la proposta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6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Non sono slogan: sono vincoli di progettazione del servizio.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6"/>
          <p:cNvSpPr/>
          <p:nvPr/>
        </p:nvSpPr>
        <p:spPr>
          <a:xfrm>
            <a:off x="777240" y="164592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43D30"/>
                </a:solidFill>
                <a:effectLst/>
                <a:uFillTx/>
                <a:latin typeface="Play"/>
                <a:ea typeface="Play"/>
              </a:rPr>
              <a:t>26,9%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6"/>
          <p:cNvSpPr/>
          <p:nvPr/>
        </p:nvSpPr>
        <p:spPr>
          <a:xfrm>
            <a:off x="777240" y="2176200"/>
            <a:ext cx="30164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15-24 fuori da lavoro e studio nel 2024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6"/>
          <p:cNvSpPr/>
          <p:nvPr/>
        </p:nvSpPr>
        <p:spPr>
          <a:xfrm>
            <a:off x="4526280" y="164592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D86B1F"/>
                </a:solidFill>
                <a:effectLst/>
                <a:uFillTx/>
                <a:latin typeface="Play"/>
                <a:ea typeface="Play"/>
              </a:rPr>
              <a:t>70,6%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6"/>
          <p:cNvSpPr/>
          <p:nvPr/>
        </p:nvSpPr>
        <p:spPr>
          <a:xfrm>
            <a:off x="4526280" y="2176200"/>
            <a:ext cx="30164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fra questi, non classificati in ricerca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6"/>
          <p:cNvSpPr/>
          <p:nvPr/>
        </p:nvSpPr>
        <p:spPr>
          <a:xfrm>
            <a:off x="8229600" y="1645920"/>
            <a:ext cx="274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67B1"/>
                </a:solidFill>
                <a:effectLst/>
                <a:uFillTx/>
                <a:latin typeface="Play"/>
                <a:ea typeface="Play"/>
              </a:rPr>
              <a:t>12,4%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6"/>
          <p:cNvSpPr/>
          <p:nvPr/>
        </p:nvSpPr>
        <p:spPr>
          <a:xfrm>
            <a:off x="8229600" y="2176200"/>
            <a:ext cx="27421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tasso di occupazione giovanile 15-24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Google Shape;92;p6"/>
          <p:cNvCxnSpPr/>
          <p:nvPr/>
        </p:nvCxnSpPr>
        <p:spPr>
          <a:xfrm>
            <a:off x="2423160" y="1901880"/>
            <a:ext cx="1829520" cy="1080"/>
          </a:xfrm>
          <a:prstGeom prst="straightConnector1">
            <a:avLst/>
          </a:prstGeom>
          <a:ln w="25400">
            <a:solidFill>
              <a:srgbClr val="E6EAF0"/>
            </a:solidFill>
            <a:round/>
            <a:tailEnd len="med" type="triangle" w="med"/>
          </a:ln>
        </p:spPr>
      </p:cxnSp>
      <p:cxnSp>
        <p:nvCxnSpPr>
          <p:cNvPr id="70" name="Google Shape;93;p6"/>
          <p:cNvCxnSpPr/>
          <p:nvPr/>
        </p:nvCxnSpPr>
        <p:spPr>
          <a:xfrm>
            <a:off x="6217920" y="1901880"/>
            <a:ext cx="1829520" cy="1080"/>
          </a:xfrm>
          <a:prstGeom prst="straightConnector1">
            <a:avLst/>
          </a:prstGeom>
          <a:ln w="25400">
            <a:solidFill>
              <a:srgbClr val="E6EAF0"/>
            </a:solidFill>
            <a:round/>
            <a:tailEnd len="med" type="triangle" w="med"/>
          </a:ln>
        </p:spPr>
      </p:cxnSp>
      <p:pic>
        <p:nvPicPr>
          <p:cNvPr id="71" name="Google Shape;94;p6" descr="/mnt/data/datapolis_charts_v2/chart_youth_states.png"/>
          <p:cNvPicPr/>
          <p:nvPr/>
        </p:nvPicPr>
        <p:blipFill>
          <a:blip r:embed="rId1"/>
          <a:stretch/>
        </p:blipFill>
        <p:spPr>
          <a:xfrm>
            <a:off x="457200" y="2971800"/>
            <a:ext cx="5766120" cy="32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95;p6" descr="/mnt/data/datapolis_charts_v2/chart_inactive_trend.png"/>
          <p:cNvPicPr/>
          <p:nvPr/>
        </p:nvPicPr>
        <p:blipFill>
          <a:blip r:embed="rId2"/>
          <a:stretch/>
        </p:blipFill>
        <p:spPr>
          <a:xfrm>
            <a:off x="6223680" y="3012840"/>
            <a:ext cx="5789880" cy="293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Google Shape;96;p6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ISTAT, Censimento permanente 2018-2024; elaborazioni da edu_youth_states_2018_2024.csv e edu_recent_analysis_panel.csv.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6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D86B1F"/>
          </a:solidFill>
          <a:ln w="12700">
            <a:solidFill>
              <a:srgbClr val="D86B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03;p7" descr="/mnt/data/wide_minimalist_abstract_flat_vector_illustration_batch_3.png"/>
          <p:cNvPicPr/>
          <p:nvPr/>
        </p:nvPicPr>
        <p:blipFill>
          <a:blip r:embed="rId1"/>
          <a:srcRect l="0" t="0" r="-52" b="0"/>
          <a:stretch/>
        </p:blipFill>
        <p:spPr>
          <a:xfrm>
            <a:off x="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04;p7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BF8EF">
              <a:alpha val="84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5;p7"/>
          <p:cNvSpPr/>
          <p:nvPr/>
        </p:nvSpPr>
        <p:spPr>
          <a:xfrm>
            <a:off x="685800" y="68580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67B1"/>
                </a:solidFill>
                <a:effectLst/>
                <a:uFillTx/>
                <a:latin typeface="Arial"/>
                <a:ea typeface="Arial"/>
              </a:rPr>
              <a:t>AREA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6;p7"/>
          <p:cNvSpPr/>
          <p:nvPr/>
        </p:nvSpPr>
        <p:spPr>
          <a:xfrm>
            <a:off x="685800" y="2057400"/>
            <a:ext cx="484524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Titolo di studio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e lavoro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7;p7"/>
          <p:cNvSpPr/>
          <p:nvPr/>
        </p:nvSpPr>
        <p:spPr>
          <a:xfrm>
            <a:off x="731520" y="3886200"/>
            <a:ext cx="4662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131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La relazione non è osservabile come incrocio individuale; va letta come doppia misura sul territorio.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8;p7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4;p8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5;p8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TITOLO DI STUDIO → LAVORO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6;p8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Google Shape;117;p8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85" name="Google Shape;118;p8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Titolo di studio e lavoro: il deficit resta nel confronto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9;p8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Nel 2024 Bagheria è sotto la Sicilia sia sul capitale umano adulto sia sull’occupazione.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20;p8" descr="/mnt/data/datapolis_charts_v2/chart_kpi_vs_sicily.png"/>
          <p:cNvPicPr/>
          <p:nvPr/>
        </p:nvPicPr>
        <p:blipFill>
          <a:blip r:embed="rId1"/>
          <a:stretch/>
        </p:blipFill>
        <p:spPr>
          <a:xfrm>
            <a:off x="685800" y="1723680"/>
            <a:ext cx="6582600" cy="409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21;p8"/>
          <p:cNvSpPr/>
          <p:nvPr/>
        </p:nvSpPr>
        <p:spPr>
          <a:xfrm>
            <a:off x="7543800" y="1508760"/>
            <a:ext cx="347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Lettura corretta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2;p8"/>
          <p:cNvSpPr/>
          <p:nvPr/>
        </p:nvSpPr>
        <p:spPr>
          <a:xfrm>
            <a:off x="7543800" y="2121120"/>
            <a:ext cx="108720" cy="10872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3;p8"/>
          <p:cNvSpPr/>
          <p:nvPr/>
        </p:nvSpPr>
        <p:spPr>
          <a:xfrm>
            <a:off x="7745040" y="1965960"/>
            <a:ext cx="383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confronto è descrittivo: non isola causalità.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4;p8"/>
          <p:cNvSpPr/>
          <p:nvPr/>
        </p:nvSpPr>
        <p:spPr>
          <a:xfrm>
            <a:off x="7543800" y="272484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5;p8"/>
          <p:cNvSpPr/>
          <p:nvPr/>
        </p:nvSpPr>
        <p:spPr>
          <a:xfrm>
            <a:off x="7745040" y="2651760"/>
            <a:ext cx="383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La quota di diplomati cresce, ma il lavoro resta sotto benchmark.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6;p8"/>
          <p:cNvSpPr/>
          <p:nvPr/>
        </p:nvSpPr>
        <p:spPr>
          <a:xfrm>
            <a:off x="7543800" y="3410640"/>
            <a:ext cx="108720" cy="108720"/>
          </a:xfrm>
          <a:prstGeom prst="ellipse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7;p8"/>
          <p:cNvSpPr/>
          <p:nvPr/>
        </p:nvSpPr>
        <p:spPr>
          <a:xfrm>
            <a:off x="7745040" y="3337560"/>
            <a:ext cx="383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Per il 15-24 la distanza occupazionale con la Sicilia è circa -3,1 punti.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8;p8"/>
          <p:cNvSpPr/>
          <p:nvPr/>
        </p:nvSpPr>
        <p:spPr>
          <a:xfrm>
            <a:off x="7543800" y="4617720"/>
            <a:ext cx="3747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Questo giustifica una policy di transizione, non soltanto formazione aggiuntiva.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9;p8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edu_kpi_dashboard.csv, anno 2024. Misure aggregate separate; non osservano l’incrocio individuale titolo × condizione lavorativa.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0;p8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36;p9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7;p9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TITOLO DI STUDIO → LAVORO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8;p9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Google Shape;139;p9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02" name="Google Shape;140;p9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Il recupero recente non riattiva il nucleo inattivo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1;p9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La componente in cerca cala; quella inattiva non studentesca resta quasi ferma.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Google Shape;142;p9" descr="/mnt/data/datapolis_charts_v2/chart_inactive_trend.png"/>
          <p:cNvPicPr/>
          <p:nvPr/>
        </p:nvPicPr>
        <p:blipFill>
          <a:blip r:embed="rId1"/>
          <a:stretch/>
        </p:blipFill>
        <p:spPr>
          <a:xfrm>
            <a:off x="685800" y="1978560"/>
            <a:ext cx="6902640" cy="34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Google Shape;143;p9"/>
          <p:cNvSpPr/>
          <p:nvPr/>
        </p:nvSpPr>
        <p:spPr>
          <a:xfrm>
            <a:off x="7818120" y="1600200"/>
            <a:ext cx="3473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Perché conta per la policy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4;p9"/>
          <p:cNvSpPr/>
          <p:nvPr/>
        </p:nvSpPr>
        <p:spPr>
          <a:xfrm>
            <a:off x="7818120" y="214884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43D30"/>
                </a:solidFill>
                <a:effectLst/>
                <a:uFillTx/>
                <a:latin typeface="Play"/>
                <a:ea typeface="Play"/>
              </a:rPr>
              <a:t>19,0%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5;p9"/>
          <p:cNvSpPr/>
          <p:nvPr/>
        </p:nvSpPr>
        <p:spPr>
          <a:xfrm>
            <a:off x="7818120" y="2679120"/>
            <a:ext cx="3107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inattivi non studenti 15-24 nel 2024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6;p9"/>
          <p:cNvSpPr/>
          <p:nvPr/>
        </p:nvSpPr>
        <p:spPr>
          <a:xfrm>
            <a:off x="7818120" y="352044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0B429"/>
                </a:solidFill>
                <a:effectLst/>
                <a:uFillTx/>
                <a:latin typeface="Play"/>
                <a:ea typeface="Play"/>
              </a:rPr>
              <a:t>7,9%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7;p9"/>
          <p:cNvSpPr/>
          <p:nvPr/>
        </p:nvSpPr>
        <p:spPr>
          <a:xfrm>
            <a:off x="7818120" y="4050720"/>
            <a:ext cx="31078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in cerca di lavoro nel 2024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8;p9"/>
          <p:cNvSpPr/>
          <p:nvPr/>
        </p:nvSpPr>
        <p:spPr>
          <a:xfrm>
            <a:off x="7818120" y="4937760"/>
            <a:ext cx="3565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Uno sportello intercetta chi si presenta. Ponte 19 nasce per raggiungere anche chi non si presenta.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9;p9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edu_youth_states_2018_2024.csv. Il 2020 manca nella fonte per la classe 15-24 e non è interpolato.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50;p9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56;p10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7;p10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TITOLO DI STUDIO → LAVORO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8;p10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Google Shape;159;p10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17" name="Google Shape;160;p10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Cosa non possiamo dire: l’incrocio individuale non c’è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61;p10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Il limite del dato orienta la lettura e diventa un requisito della proposta.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2;p10"/>
          <p:cNvSpPr/>
          <p:nvPr/>
        </p:nvSpPr>
        <p:spPr>
          <a:xfrm>
            <a:off x="868680" y="1600200"/>
            <a:ext cx="3016440" cy="228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167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3;p10"/>
          <p:cNvSpPr/>
          <p:nvPr/>
        </p:nvSpPr>
        <p:spPr>
          <a:xfrm>
            <a:off x="1097280" y="187452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67B1"/>
                </a:solidFill>
                <a:effectLst/>
                <a:uFillTx/>
                <a:latin typeface="Arial"/>
                <a:ea typeface="Arial"/>
              </a:rPr>
              <a:t>Tavola istruzione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4;p10"/>
          <p:cNvSpPr/>
          <p:nvPr/>
        </p:nvSpPr>
        <p:spPr>
          <a:xfrm>
            <a:off x="1234440" y="2450520"/>
            <a:ext cx="2239200" cy="200160"/>
          </a:xfrm>
          <a:prstGeom prst="rect">
            <a:avLst/>
          </a:prstGeom>
          <a:solidFill>
            <a:srgbClr val="1167B1">
              <a:alpha val="75000"/>
            </a:srgbClr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5;p10"/>
          <p:cNvSpPr/>
          <p:nvPr/>
        </p:nvSpPr>
        <p:spPr>
          <a:xfrm>
            <a:off x="1234440" y="2834640"/>
            <a:ext cx="1736280" cy="200160"/>
          </a:xfrm>
          <a:prstGeom prst="rect">
            <a:avLst/>
          </a:prstGeom>
          <a:solidFill>
            <a:srgbClr val="1167B1">
              <a:alpha val="45000"/>
            </a:srgbClr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6;p10"/>
          <p:cNvSpPr/>
          <p:nvPr/>
        </p:nvSpPr>
        <p:spPr>
          <a:xfrm>
            <a:off x="1234440" y="3218760"/>
            <a:ext cx="1964880" cy="200160"/>
          </a:xfrm>
          <a:prstGeom prst="rect">
            <a:avLst/>
          </a:prstGeom>
          <a:solidFill>
            <a:srgbClr val="1167B1">
              <a:alpha val="30000"/>
            </a:srgbClr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67;p10"/>
          <p:cNvSpPr/>
          <p:nvPr/>
        </p:nvSpPr>
        <p:spPr>
          <a:xfrm>
            <a:off x="8321040" y="1600200"/>
            <a:ext cx="3016440" cy="228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383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68;p10"/>
          <p:cNvSpPr/>
          <p:nvPr/>
        </p:nvSpPr>
        <p:spPr>
          <a:xfrm>
            <a:off x="8549640" y="187452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835E"/>
                </a:solidFill>
                <a:effectLst/>
                <a:uFillTx/>
                <a:latin typeface="Arial"/>
                <a:ea typeface="Arial"/>
              </a:rPr>
              <a:t>Tavola lavoro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69;p10"/>
          <p:cNvSpPr/>
          <p:nvPr/>
        </p:nvSpPr>
        <p:spPr>
          <a:xfrm>
            <a:off x="8686800" y="2450520"/>
            <a:ext cx="1416240" cy="200160"/>
          </a:xfrm>
          <a:prstGeom prst="rect">
            <a:avLst/>
          </a:prstGeom>
          <a:solidFill>
            <a:srgbClr val="23835E">
              <a:alpha val="75000"/>
            </a:srgbClr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0;p10"/>
          <p:cNvSpPr/>
          <p:nvPr/>
        </p:nvSpPr>
        <p:spPr>
          <a:xfrm>
            <a:off x="8686800" y="2834640"/>
            <a:ext cx="2239200" cy="200160"/>
          </a:xfrm>
          <a:prstGeom prst="rect">
            <a:avLst/>
          </a:prstGeom>
          <a:solidFill>
            <a:srgbClr val="23835E">
              <a:alpha val="45000"/>
            </a:srgbClr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1;p10"/>
          <p:cNvSpPr/>
          <p:nvPr/>
        </p:nvSpPr>
        <p:spPr>
          <a:xfrm>
            <a:off x="8686800" y="3218760"/>
            <a:ext cx="1782000" cy="200160"/>
          </a:xfrm>
          <a:prstGeom prst="rect">
            <a:avLst/>
          </a:prstGeom>
          <a:solidFill>
            <a:srgbClr val="23835E">
              <a:alpha val="30000"/>
            </a:srgbClr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Google Shape;172;p10"/>
          <p:cNvCxnSpPr/>
          <p:nvPr/>
        </p:nvCxnSpPr>
        <p:spPr>
          <a:xfrm>
            <a:off x="4114800" y="2743200"/>
            <a:ext cx="3841200" cy="1080"/>
          </a:xfrm>
          <a:prstGeom prst="straightConnector1">
            <a:avLst/>
          </a:prstGeom>
          <a:ln w="63500">
            <a:solidFill>
              <a:srgbClr val="E6EAF0"/>
            </a:solidFill>
            <a:round/>
          </a:ln>
        </p:spPr>
      </p:cxnSp>
      <p:sp>
        <p:nvSpPr>
          <p:cNvPr id="130" name="Google Shape;173;p10"/>
          <p:cNvSpPr/>
          <p:nvPr/>
        </p:nvSpPr>
        <p:spPr>
          <a:xfrm>
            <a:off x="5120640" y="2231280"/>
            <a:ext cx="18277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43D30"/>
                </a:solidFill>
                <a:effectLst/>
                <a:uFillTx/>
                <a:latin typeface="Arial"/>
                <a:ea typeface="Arial"/>
              </a:rPr>
              <a:t>incrocio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43D30"/>
                </a:solidFill>
                <a:effectLst/>
                <a:uFillTx/>
                <a:latin typeface="Arial"/>
                <a:ea typeface="Arial"/>
              </a:rPr>
              <a:t>non pubblicato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4;p10"/>
          <p:cNvSpPr/>
          <p:nvPr/>
        </p:nvSpPr>
        <p:spPr>
          <a:xfrm>
            <a:off x="5650920" y="3017520"/>
            <a:ext cx="639000" cy="639000"/>
          </a:xfrm>
          <a:prstGeom prst="noSmoking">
            <a:avLst>
              <a:gd name="adj" fmla="val 18750"/>
            </a:avLst>
          </a:prstGeom>
          <a:noFill/>
          <a:ln w="25400">
            <a:solidFill>
              <a:srgbClr val="E43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5;p10"/>
          <p:cNvSpPr/>
          <p:nvPr/>
        </p:nvSpPr>
        <p:spPr>
          <a:xfrm>
            <a:off x="868680" y="4663440"/>
            <a:ext cx="2376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Scelta metodologica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76;p10"/>
          <p:cNvSpPr/>
          <p:nvPr/>
        </p:nvSpPr>
        <p:spPr>
          <a:xfrm>
            <a:off x="868680" y="5193720"/>
            <a:ext cx="108720" cy="10872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77;p10"/>
          <p:cNvSpPr/>
          <p:nvPr/>
        </p:nvSpPr>
        <p:spPr>
          <a:xfrm>
            <a:off x="1069920" y="5120640"/>
            <a:ext cx="48452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Affianchiamo istruzione e lavoro senza sostenere una transizione individuale.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78;p10"/>
          <p:cNvSpPr/>
          <p:nvPr/>
        </p:nvSpPr>
        <p:spPr>
          <a:xfrm>
            <a:off x="6355080" y="519372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79;p10"/>
          <p:cNvSpPr/>
          <p:nvPr/>
        </p:nvSpPr>
        <p:spPr>
          <a:xfrm>
            <a:off x="6565680" y="5056200"/>
            <a:ext cx="50281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servizio deve raccogliere il dato mancante: titolo, stato, percorso, esito.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0;p10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Limite dichiarato nei notebook e nella relazione: l’incrocio titolo di studio × condizione professionale non è disponibile a livello comunale nelle tavole usate.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81;p10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87;p11" descr="/mnt/data/wide_minimalist_abstract_infographic_illustration_batch_4.png"/>
          <p:cNvPicPr/>
          <p:nvPr/>
        </p:nvPicPr>
        <p:blipFill>
          <a:blip r:embed="rId1"/>
          <a:srcRect l="2001" t="0" r="-2050" b="0"/>
          <a:stretch/>
        </p:blipFill>
        <p:spPr>
          <a:xfrm>
            <a:off x="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Google Shape;188;p1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BF8EF">
              <a:alpha val="90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89;p11"/>
          <p:cNvSpPr/>
          <p:nvPr/>
        </p:nvSpPr>
        <p:spPr>
          <a:xfrm>
            <a:off x="685800" y="68580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970A7"/>
                </a:solidFill>
                <a:effectLst/>
                <a:uFillTx/>
                <a:latin typeface="Arial"/>
                <a:ea typeface="Arial"/>
              </a:rPr>
              <a:t>AREA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0;p11"/>
          <p:cNvSpPr/>
          <p:nvPr/>
        </p:nvSpPr>
        <p:spPr>
          <a:xfrm>
            <a:off x="685800" y="2194560"/>
            <a:ext cx="53024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Focus femminile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1;p11"/>
          <p:cNvSpPr/>
          <p:nvPr/>
        </p:nvSpPr>
        <p:spPr>
          <a:xfrm>
            <a:off x="731520" y="3794760"/>
            <a:ext cx="49366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Qui non cerchiamo una causa unica. Individuiamo il punto dove il divario si concentra.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2;p11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C970A7"/>
          </a:solidFill>
          <a:ln w="12700">
            <a:solidFill>
              <a:srgbClr val="C970A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98;p12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99;p12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0;p12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Google Shape;201;p12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49" name="Google Shape;202;p12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Il rovesciamento: più diploma, meno lavoro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3;p12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 Bagheria le ragazze hanno più diploma dei ragazzi, ma lavorano circa la metà.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Google Shape;204;p12" descr="/mnt/data/datapolis_charts_v2/chart_per1000_gender.png"/>
          <p:cNvPicPr/>
          <p:nvPr/>
        </p:nvPicPr>
        <p:blipFill>
          <a:blip r:embed="rId1"/>
          <a:stretch/>
        </p:blipFill>
        <p:spPr>
          <a:xfrm>
            <a:off x="685800" y="1804680"/>
            <a:ext cx="6628320" cy="393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05;p12"/>
          <p:cNvSpPr/>
          <p:nvPr/>
        </p:nvSpPr>
        <p:spPr>
          <a:xfrm>
            <a:off x="7859880" y="2565000"/>
            <a:ext cx="3199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C970A7"/>
                </a:solidFill>
                <a:effectLst/>
                <a:uFillTx/>
                <a:latin typeface="Play"/>
                <a:ea typeface="Play"/>
              </a:rPr>
              <a:t>510 vs 462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06;p12"/>
          <p:cNvSpPr/>
          <p:nvPr/>
        </p:nvSpPr>
        <p:spPr>
          <a:xfrm>
            <a:off x="7859880" y="3095280"/>
            <a:ext cx="31993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diploma per 1.000 residenti 15-24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07;p12"/>
          <p:cNvSpPr/>
          <p:nvPr/>
        </p:nvSpPr>
        <p:spPr>
          <a:xfrm>
            <a:off x="7859880" y="4073760"/>
            <a:ext cx="3199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67B1"/>
                </a:solidFill>
                <a:effectLst/>
                <a:uFillTx/>
                <a:latin typeface="Play"/>
                <a:ea typeface="Play"/>
              </a:rPr>
              <a:t>82 vs 165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08;p12"/>
          <p:cNvSpPr/>
          <p:nvPr/>
        </p:nvSpPr>
        <p:spPr>
          <a:xfrm>
            <a:off x="7859880" y="4604040"/>
            <a:ext cx="31993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occupati per 1.000 residenti 15-24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09;p12"/>
          <p:cNvSpPr/>
          <p:nvPr/>
        </p:nvSpPr>
        <p:spPr>
          <a:xfrm>
            <a:off x="7791480" y="5180040"/>
            <a:ext cx="33364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10;p12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genere_per_1000.csv, Bagheria 2024. Diploma e occupazione sono misure aggregate separate.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11;p12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C970A7"/>
          </a:solidFill>
          <a:ln w="12700">
            <a:solidFill>
              <a:srgbClr val="C970A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17;p13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18;p13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19;p13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Google Shape;220;p13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63" name="Google Shape;221;p13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Il tasso femminile cresce, ma il divario non si chiude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22;p13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Bagheria migliora in valore assoluto; resta sotto Palermo, Sicilia e Italia in ogni annata.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Google Shape;223;p13" descr="/mnt/data/datapolis_charts_v2/chart_female_employment_series.png"/>
          <p:cNvPicPr/>
          <p:nvPr/>
        </p:nvPicPr>
        <p:blipFill>
          <a:blip r:embed="rId1"/>
          <a:stretch/>
        </p:blipFill>
        <p:spPr>
          <a:xfrm>
            <a:off x="685800" y="1965240"/>
            <a:ext cx="6948360" cy="365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Google Shape;224;p13"/>
          <p:cNvSpPr/>
          <p:nvPr/>
        </p:nvSpPr>
        <p:spPr>
          <a:xfrm>
            <a:off x="7955280" y="1572840"/>
            <a:ext cx="3290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25;p13"/>
          <p:cNvSpPr/>
          <p:nvPr/>
        </p:nvSpPr>
        <p:spPr>
          <a:xfrm>
            <a:off x="7955280" y="2971800"/>
            <a:ext cx="108720" cy="108720"/>
          </a:xfrm>
          <a:prstGeom prst="ellipse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26;p13"/>
          <p:cNvSpPr/>
          <p:nvPr/>
        </p:nvSpPr>
        <p:spPr>
          <a:xfrm>
            <a:off x="8156520" y="28987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8,2% nel 2024: valore più alto della serie di Bagheria.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27;p13"/>
          <p:cNvSpPr/>
          <p:nvPr/>
        </p:nvSpPr>
        <p:spPr>
          <a:xfrm>
            <a:off x="7955280" y="375372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8;p13"/>
          <p:cNvSpPr/>
          <p:nvPr/>
        </p:nvSpPr>
        <p:spPr>
          <a:xfrm>
            <a:off x="8156520" y="35845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Non è un crollo: cresce ovunque.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9;p13"/>
          <p:cNvSpPr/>
          <p:nvPr/>
        </p:nvSpPr>
        <p:spPr>
          <a:xfrm>
            <a:off x="7955280" y="4425840"/>
            <a:ext cx="108720" cy="10872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30;p13"/>
          <p:cNvSpPr/>
          <p:nvPr/>
        </p:nvSpPr>
        <p:spPr>
          <a:xfrm>
            <a:off x="8156520" y="4270320"/>
            <a:ext cx="3473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punto è la mancata convergenza col benchmark.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31;p13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genere_forbice_serie.csv. Tasso di occupazione femminile 15-24, 2018-2024; 2020 assente nella fonte.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32;p13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238;p14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39;p14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40;p14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Google Shape;241;p14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79" name="Google Shape;242;p14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Casalinghe nel censimento: un’etichetta utile per l’outreach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43;p14"/>
          <p:cNvSpPr/>
          <p:nvPr/>
        </p:nvSpPr>
        <p:spPr>
          <a:xfrm>
            <a:off x="594360" y="11340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 Bagheria la quota è quasi tripla rispetto all’Italia; non misura ore di cura.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Google Shape;244;p14" descr="/mnt/data/datapolis_charts_v2/chart_casalinghe.png"/>
          <p:cNvPicPr/>
          <p:nvPr/>
        </p:nvPicPr>
        <p:blipFill>
          <a:blip r:embed="rId1"/>
          <a:stretch/>
        </p:blipFill>
        <p:spPr>
          <a:xfrm>
            <a:off x="685800" y="1432080"/>
            <a:ext cx="6582600" cy="467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Google Shape;245;p14"/>
          <p:cNvSpPr/>
          <p:nvPr/>
        </p:nvSpPr>
        <p:spPr>
          <a:xfrm>
            <a:off x="7726680" y="1600200"/>
            <a:ext cx="356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Cosa significa per il servizio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46;p14"/>
          <p:cNvSpPr/>
          <p:nvPr/>
        </p:nvSpPr>
        <p:spPr>
          <a:xfrm>
            <a:off x="7726680" y="2157840"/>
            <a:ext cx="108720" cy="108720"/>
          </a:xfrm>
          <a:prstGeom prst="ellipse">
            <a:avLst/>
          </a:prstGeom>
          <a:solidFill>
            <a:srgbClr val="C970A7"/>
          </a:solidFill>
          <a:ln w="12700">
            <a:solidFill>
              <a:srgbClr val="C970A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47;p14"/>
          <p:cNvSpPr/>
          <p:nvPr/>
        </p:nvSpPr>
        <p:spPr>
          <a:xfrm>
            <a:off x="7927920" y="2084760"/>
            <a:ext cx="35193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È una stima ISTAT, non una dichiarazione: niente diagnosi familiari.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48;p14"/>
          <p:cNvSpPr/>
          <p:nvPr/>
        </p:nvSpPr>
        <p:spPr>
          <a:xfrm>
            <a:off x="7726680" y="290772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49;p14"/>
          <p:cNvSpPr/>
          <p:nvPr/>
        </p:nvSpPr>
        <p:spPr>
          <a:xfrm>
            <a:off x="7927920" y="2834640"/>
            <a:ext cx="35193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È però un punto di contatto: aiuta a costruire canali di outreach.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50;p14"/>
          <p:cNvSpPr/>
          <p:nvPr/>
        </p:nvSpPr>
        <p:spPr>
          <a:xfrm>
            <a:off x="7726680" y="3657600"/>
            <a:ext cx="108720" cy="108720"/>
          </a:xfrm>
          <a:prstGeom prst="ellipse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51;p14"/>
          <p:cNvSpPr/>
          <p:nvPr/>
        </p:nvSpPr>
        <p:spPr>
          <a:xfrm>
            <a:off x="7927920" y="3584520"/>
            <a:ext cx="35193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La quota femminile nel servizio evita che la neutralità formale riproduca lo squilibrio.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52;p14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genere_casalinghe.csv, anno 2024. Dal 2021 stima di modello del censimento, non misura delle ore di cura.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53;p14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D86B1F"/>
          </a:solidFill>
          <a:ln w="12700">
            <a:solidFill>
              <a:srgbClr val="D86B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259;p15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60;p15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61;p15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Google Shape;262;p15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195" name="Google Shape;263;p15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Mobilità e finestra di intervento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64;p15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Le ragazze si spostano per studiare; il nodo emerge nel lavoro e nella fascia 22-25.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Google Shape;265;p15" descr="/mnt/data/datapolis_charts_v2/chart_mobility_gender.png"/>
          <p:cNvPicPr/>
          <p:nvPr/>
        </p:nvPicPr>
        <p:blipFill>
          <a:blip r:embed="rId1"/>
          <a:stretch/>
        </p:blipFill>
        <p:spPr>
          <a:xfrm>
            <a:off x="685800" y="2090520"/>
            <a:ext cx="5348160" cy="327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266;p15" descr="/mnt/data/datapolis_charts_v2/chart_retention_female.png"/>
          <p:cNvPicPr/>
          <p:nvPr/>
        </p:nvPicPr>
        <p:blipFill>
          <a:blip r:embed="rId2"/>
          <a:stretch/>
        </p:blipFill>
        <p:spPr>
          <a:xfrm>
            <a:off x="6172200" y="2086560"/>
            <a:ext cx="5348160" cy="327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267;p15"/>
          <p:cNvSpPr/>
          <p:nvPr/>
        </p:nvSpPr>
        <p:spPr>
          <a:xfrm>
            <a:off x="777240" y="6099120"/>
            <a:ext cx="10788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Uso progettuale: reclutare prima che la finestra 22-25 si chiuda, e verificare la raggiungibilità reale delle opportunità.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68;p15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Dati: genere_pendolarismo.csv; genere_ritenzione_eta.csv. La ritenzione è saldo netto di coorte, non conteggio di partenze individuali.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69;p15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75;p16" descr="/mnt/data/flat_vector_infographic_illustration_on_a_pale_cre_batch_5.png"/>
          <p:cNvPicPr/>
          <p:nvPr/>
        </p:nvPicPr>
        <p:blipFill>
          <a:blip r:embed="rId1"/>
          <a:srcRect l="0" t="0" r="-52" b="0"/>
          <a:stretch/>
        </p:blipFill>
        <p:spPr>
          <a:xfrm>
            <a:off x="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Google Shape;276;p16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BF8EF">
              <a:alpha val="85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77;p16"/>
          <p:cNvSpPr/>
          <p:nvPr/>
        </p:nvSpPr>
        <p:spPr>
          <a:xfrm>
            <a:off x="685800" y="685800"/>
            <a:ext cx="2102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3835E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78;p16"/>
          <p:cNvSpPr/>
          <p:nvPr/>
        </p:nvSpPr>
        <p:spPr>
          <a:xfrm>
            <a:off x="685800" y="2148840"/>
            <a:ext cx="3656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Ponte 19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79;p16"/>
          <p:cNvSpPr/>
          <p:nvPr/>
        </p:nvSpPr>
        <p:spPr>
          <a:xfrm>
            <a:off x="713160" y="3063240"/>
            <a:ext cx="4662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9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Servizio comunale di transizione e riattivazione per i 18-25.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80;p16"/>
          <p:cNvSpPr/>
          <p:nvPr/>
        </p:nvSpPr>
        <p:spPr>
          <a:xfrm>
            <a:off x="731520" y="3767400"/>
            <a:ext cx="51195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Contatto attivo · quota femminile · opportunità verificate · esiti misurati.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81;p16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87;p17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88;p17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89;p17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Google Shape;290;p17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213" name="Google Shape;291;p17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Dal contatto attivo all’opportunità praticabile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92;p17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Il servizio non aspetta la domanda: costruisce il primo contatto e verifica le condizioni reali.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93;p17"/>
          <p:cNvSpPr/>
          <p:nvPr/>
        </p:nvSpPr>
        <p:spPr>
          <a:xfrm>
            <a:off x="685800" y="1828800"/>
            <a:ext cx="2422080" cy="1141920"/>
          </a:xfrm>
          <a:prstGeom prst="chevron">
            <a:avLst>
              <a:gd name="adj" fmla="val 50000"/>
            </a:avLst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94;p17"/>
          <p:cNvSpPr/>
          <p:nvPr/>
        </p:nvSpPr>
        <p:spPr>
          <a:xfrm>
            <a:off x="850320" y="2157840"/>
            <a:ext cx="410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5;p17"/>
          <p:cNvSpPr/>
          <p:nvPr/>
        </p:nvSpPr>
        <p:spPr>
          <a:xfrm>
            <a:off x="1307520" y="2030040"/>
            <a:ext cx="1388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Contatto attivo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96;p17"/>
          <p:cNvSpPr/>
          <p:nvPr/>
        </p:nvSpPr>
        <p:spPr>
          <a:xfrm>
            <a:off x="850320" y="3246120"/>
            <a:ext cx="21477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nei luoghi e canali frequentati dai giovani fuori da lavoro e studio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97;p17"/>
          <p:cNvSpPr/>
          <p:nvPr/>
        </p:nvSpPr>
        <p:spPr>
          <a:xfrm>
            <a:off x="3520440" y="1828800"/>
            <a:ext cx="2422080" cy="1141920"/>
          </a:xfrm>
          <a:prstGeom prst="chevron">
            <a:avLst>
              <a:gd name="adj" fmla="val 50000"/>
            </a:avLst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98;p17"/>
          <p:cNvSpPr/>
          <p:nvPr/>
        </p:nvSpPr>
        <p:spPr>
          <a:xfrm>
            <a:off x="3684960" y="2157840"/>
            <a:ext cx="410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99;p17"/>
          <p:cNvSpPr/>
          <p:nvPr/>
        </p:nvSpPr>
        <p:spPr>
          <a:xfrm>
            <a:off x="4142160" y="2030040"/>
            <a:ext cx="1388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Piano individuale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300;p17"/>
          <p:cNvSpPr/>
          <p:nvPr/>
        </p:nvSpPr>
        <p:spPr>
          <a:xfrm>
            <a:off x="3684960" y="3246120"/>
            <a:ext cx="21477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una prossima azione verificabile entro 15 giorni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301;p17"/>
          <p:cNvSpPr/>
          <p:nvPr/>
        </p:nvSpPr>
        <p:spPr>
          <a:xfrm>
            <a:off x="6355080" y="1828800"/>
            <a:ext cx="2422080" cy="1141920"/>
          </a:xfrm>
          <a:prstGeom prst="chevron">
            <a:avLst>
              <a:gd name="adj" fmla="val 50000"/>
            </a:avLst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302;p17"/>
          <p:cNvSpPr/>
          <p:nvPr/>
        </p:nvSpPr>
        <p:spPr>
          <a:xfrm>
            <a:off x="6519600" y="2157840"/>
            <a:ext cx="410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303;p17"/>
          <p:cNvSpPr/>
          <p:nvPr/>
        </p:nvSpPr>
        <p:spPr>
          <a:xfrm>
            <a:off x="6976800" y="2030040"/>
            <a:ext cx="1388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Opportunità verificata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304;p17"/>
          <p:cNvSpPr/>
          <p:nvPr/>
        </p:nvSpPr>
        <p:spPr>
          <a:xfrm>
            <a:off x="6519600" y="3246120"/>
            <a:ext cx="21477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attività reale, mentor, compenso e raggiungibilità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305;p17"/>
          <p:cNvSpPr/>
          <p:nvPr/>
        </p:nvSpPr>
        <p:spPr>
          <a:xfrm>
            <a:off x="9189720" y="1828800"/>
            <a:ext cx="2422080" cy="1141920"/>
          </a:xfrm>
          <a:prstGeom prst="chevron">
            <a:avLst>
              <a:gd name="adj" fmla="val 50000"/>
            </a:avLst>
          </a:prstGeom>
          <a:solidFill>
            <a:srgbClr val="D86B1F"/>
          </a:solidFill>
          <a:ln w="12700">
            <a:solidFill>
              <a:srgbClr val="D86B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306;p17"/>
          <p:cNvSpPr/>
          <p:nvPr/>
        </p:nvSpPr>
        <p:spPr>
          <a:xfrm>
            <a:off x="9354240" y="2157840"/>
            <a:ext cx="410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07;p17"/>
          <p:cNvSpPr/>
          <p:nvPr/>
        </p:nvSpPr>
        <p:spPr>
          <a:xfrm>
            <a:off x="9811440" y="2030040"/>
            <a:ext cx="1388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Esiti misurati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308;p17"/>
          <p:cNvSpPr/>
          <p:nvPr/>
        </p:nvSpPr>
        <p:spPr>
          <a:xfrm>
            <a:off x="9354240" y="3246120"/>
            <a:ext cx="21477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follow-up a 3, 6 e 12 mesi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309;p17"/>
          <p:cNvSpPr/>
          <p:nvPr/>
        </p:nvSpPr>
        <p:spPr>
          <a:xfrm>
            <a:off x="1005840" y="4572000"/>
            <a:ext cx="10148760" cy="77616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10;p17"/>
          <p:cNvSpPr/>
          <p:nvPr/>
        </p:nvSpPr>
        <p:spPr>
          <a:xfrm>
            <a:off x="1234440" y="4782240"/>
            <a:ext cx="9691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Destinatari: residenti 18-25 fuori da lavoro e studio, con outreach verso chi non risulta in ricerca. Capacità primo anno: 200 partecipanti, di cui 100 donne.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11;p17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Proposta Ponte 19: target, quote, capacità e componenti operative. I 18-25 della policy si sovrappongono solo in parte al 15-24 osservato nei dati.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12;p17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318;p18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19;p18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20;p18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Google Shape;321;p18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239" name="Google Shape;322;p18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227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Come si misura: territorio in tasso, servizio sugli esiti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23;p18"/>
          <p:cNvSpPr/>
          <p:nvPr/>
        </p:nvSpPr>
        <p:spPr>
          <a:xfrm>
            <a:off x="594360" y="11754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Separiamo obiettivi territoriali, outcome dei partecipanti e disegno di valutazione.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4;p18"/>
          <p:cNvSpPr/>
          <p:nvPr/>
        </p:nvSpPr>
        <p:spPr>
          <a:xfrm>
            <a:off x="685800" y="1463040"/>
            <a:ext cx="3336480" cy="38851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50">
            <a:solidFill>
              <a:srgbClr val="E7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5;p18"/>
          <p:cNvSpPr/>
          <p:nvPr/>
        </p:nvSpPr>
        <p:spPr>
          <a:xfrm>
            <a:off x="960120" y="1737360"/>
            <a:ext cx="2010600" cy="254880"/>
          </a:xfrm>
          <a:prstGeom prst="rect">
            <a:avLst/>
          </a:prstGeom>
          <a:solidFill>
            <a:srgbClr val="1167B1"/>
          </a:solidFill>
          <a:ln w="9525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INDICATORI TERRITORIALI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26;p18"/>
          <p:cNvSpPr/>
          <p:nvPr/>
        </p:nvSpPr>
        <p:spPr>
          <a:xfrm>
            <a:off x="987480" y="2240280"/>
            <a:ext cx="2604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43D30"/>
                </a:solidFill>
                <a:effectLst/>
                <a:uFillTx/>
                <a:latin typeface="Play"/>
                <a:ea typeface="Play"/>
              </a:rPr>
              <a:t>8,2 → 9,6%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27;p18"/>
          <p:cNvSpPr/>
          <p:nvPr/>
        </p:nvSpPr>
        <p:spPr>
          <a:xfrm>
            <a:off x="987480" y="2770560"/>
            <a:ext cx="2604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occupazione F 15-24, triennio (direzione)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28;p18"/>
          <p:cNvSpPr/>
          <p:nvPr/>
        </p:nvSpPr>
        <p:spPr>
          <a:xfrm>
            <a:off x="987480" y="3703320"/>
            <a:ext cx="2604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D86B1F"/>
                </a:solidFill>
                <a:effectLst/>
                <a:uFillTx/>
                <a:latin typeface="Play"/>
                <a:ea typeface="Play"/>
              </a:rPr>
              <a:t>13,4 → 11,3%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29;p18"/>
          <p:cNvSpPr/>
          <p:nvPr/>
        </p:nvSpPr>
        <p:spPr>
          <a:xfrm>
            <a:off x="987480" y="4233600"/>
            <a:ext cx="2604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casalinghe 15-24 (stima ISTAT), biennio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30;p18"/>
          <p:cNvSpPr/>
          <p:nvPr/>
        </p:nvSpPr>
        <p:spPr>
          <a:xfrm>
            <a:off x="4434840" y="1463040"/>
            <a:ext cx="3245040" cy="3885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50">
            <a:solidFill>
              <a:srgbClr val="E7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31;p18"/>
          <p:cNvSpPr/>
          <p:nvPr/>
        </p:nvSpPr>
        <p:spPr>
          <a:xfrm>
            <a:off x="4718160" y="1737360"/>
            <a:ext cx="1690560" cy="254880"/>
          </a:xfrm>
          <a:prstGeom prst="rect">
            <a:avLst/>
          </a:prstGeom>
          <a:solidFill>
            <a:srgbClr val="23835E"/>
          </a:solidFill>
          <a:ln w="9525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ESITI DEL SERVIZIO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32;p18"/>
          <p:cNvSpPr/>
          <p:nvPr/>
        </p:nvSpPr>
        <p:spPr>
          <a:xfrm>
            <a:off x="4736520" y="243216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33;p18"/>
          <p:cNvSpPr/>
          <p:nvPr/>
        </p:nvSpPr>
        <p:spPr>
          <a:xfrm>
            <a:off x="4937760" y="2359080"/>
            <a:ext cx="2604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A 6 mesi: occupati, in istruzione o in formazione qualificante.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34;p18"/>
          <p:cNvSpPr/>
          <p:nvPr/>
        </p:nvSpPr>
        <p:spPr>
          <a:xfrm>
            <a:off x="4736520" y="341532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35;p18"/>
          <p:cNvSpPr/>
          <p:nvPr/>
        </p:nvSpPr>
        <p:spPr>
          <a:xfrm>
            <a:off x="4937760" y="3246120"/>
            <a:ext cx="2604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A 12 mesi: esito ancora attivo.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36;p18"/>
          <p:cNvSpPr/>
          <p:nvPr/>
        </p:nvSpPr>
        <p:spPr>
          <a:xfrm>
            <a:off x="4736520" y="402336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37;p18"/>
          <p:cNvSpPr/>
          <p:nvPr/>
        </p:nvSpPr>
        <p:spPr>
          <a:xfrm>
            <a:off x="4937760" y="3950280"/>
            <a:ext cx="2604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Lettura sui presi in carico, non su tutta la popolazione.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38;p18"/>
          <p:cNvSpPr/>
          <p:nvPr/>
        </p:nvSpPr>
        <p:spPr>
          <a:xfrm>
            <a:off x="8092440" y="1463040"/>
            <a:ext cx="3382200" cy="3885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50">
            <a:solidFill>
              <a:srgbClr val="E7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39;p18"/>
          <p:cNvSpPr/>
          <p:nvPr/>
        </p:nvSpPr>
        <p:spPr>
          <a:xfrm>
            <a:off x="8366760" y="1737360"/>
            <a:ext cx="1233360" cy="254880"/>
          </a:xfrm>
          <a:prstGeom prst="rect">
            <a:avLst/>
          </a:prstGeom>
          <a:solidFill>
            <a:srgbClr val="7A5AF8"/>
          </a:solidFill>
          <a:ln w="9525">
            <a:solidFill>
              <a:srgbClr val="7A5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VALUTAZIONE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40;p18"/>
          <p:cNvSpPr/>
          <p:nvPr/>
        </p:nvSpPr>
        <p:spPr>
          <a:xfrm>
            <a:off x="8366760" y="2359080"/>
            <a:ext cx="867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Gruppo 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41;p18"/>
          <p:cNvSpPr/>
          <p:nvPr/>
        </p:nvSpPr>
        <p:spPr>
          <a:xfrm>
            <a:off x="9372600" y="2331720"/>
            <a:ext cx="1507680" cy="29160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42;p18"/>
          <p:cNvSpPr/>
          <p:nvPr/>
        </p:nvSpPr>
        <p:spPr>
          <a:xfrm>
            <a:off x="9418320" y="2386440"/>
            <a:ext cx="13705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avvio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43;p18"/>
          <p:cNvSpPr/>
          <p:nvPr/>
        </p:nvSpPr>
        <p:spPr>
          <a:xfrm>
            <a:off x="8366760" y="3063240"/>
            <a:ext cx="867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Gruppo 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44;p18"/>
          <p:cNvSpPr/>
          <p:nvPr/>
        </p:nvSpPr>
        <p:spPr>
          <a:xfrm>
            <a:off x="9372600" y="3035880"/>
            <a:ext cx="1004760" cy="291600"/>
          </a:xfrm>
          <a:prstGeom prst="rect">
            <a:avLst/>
          </a:prstGeom>
          <a:solidFill>
            <a:srgbClr val="E6EAF0"/>
          </a:solidFill>
          <a:ln w="12700">
            <a:solidFill>
              <a:srgbClr val="E6EA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45;p18"/>
          <p:cNvSpPr/>
          <p:nvPr/>
        </p:nvSpPr>
        <p:spPr>
          <a:xfrm>
            <a:off x="9399960" y="3090600"/>
            <a:ext cx="9316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attesa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46;p18"/>
          <p:cNvSpPr/>
          <p:nvPr/>
        </p:nvSpPr>
        <p:spPr>
          <a:xfrm>
            <a:off x="10396800" y="3035880"/>
            <a:ext cx="657360" cy="29160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47;p18"/>
          <p:cNvSpPr/>
          <p:nvPr/>
        </p:nvSpPr>
        <p:spPr>
          <a:xfrm>
            <a:off x="10415160" y="3090600"/>
            <a:ext cx="620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avvio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48;p18"/>
          <p:cNvSpPr/>
          <p:nvPr/>
        </p:nvSpPr>
        <p:spPr>
          <a:xfrm>
            <a:off x="8375760" y="4005000"/>
            <a:ext cx="274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 parità di priorità l’ordine è casuale. Il gruppo B parte sei mesi dopo: è il confronto a 6 mesi.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49;p18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Policy Ponte 19: KPI territoriali e disegno con lista d’attesa. Gli obiettivi sono progettuali; gli esiti sono da misurare.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50;p18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356;p19"/>
          <p:cNvSpPr/>
          <p:nvPr/>
        </p:nvSpPr>
        <p:spPr>
          <a:xfrm>
            <a:off x="502920" y="164520"/>
            <a:ext cx="2284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57;p19"/>
          <p:cNvSpPr/>
          <p:nvPr/>
        </p:nvSpPr>
        <p:spPr>
          <a:xfrm>
            <a:off x="2743200" y="164520"/>
            <a:ext cx="6765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58;p19"/>
          <p:cNvSpPr/>
          <p:nvPr/>
        </p:nvSpPr>
        <p:spPr>
          <a:xfrm>
            <a:off x="11384280" y="1645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Google Shape;359;p19"/>
          <p:cNvCxnSpPr/>
          <p:nvPr/>
        </p:nvCxnSpPr>
        <p:spPr>
          <a:xfrm>
            <a:off x="502920" y="429480"/>
            <a:ext cx="11202120" cy="1080"/>
          </a:xfrm>
          <a:prstGeom prst="straightConnector1">
            <a:avLst/>
          </a:prstGeom>
          <a:ln w="10150">
            <a:solidFill>
              <a:srgbClr val="E6EAF0"/>
            </a:solidFill>
            <a:round/>
          </a:ln>
        </p:spPr>
      </p:cxnSp>
      <p:sp>
        <p:nvSpPr>
          <p:cNvPr id="272" name="Google Shape;360;p19"/>
          <p:cNvSpPr/>
          <p:nvPr/>
        </p:nvSpPr>
        <p:spPr>
          <a:xfrm>
            <a:off x="594360" y="658440"/>
            <a:ext cx="82285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Tempi certi e vincolo di raggiungibilità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61;p19"/>
          <p:cNvSpPr/>
          <p:nvPr/>
        </p:nvSpPr>
        <p:spPr>
          <a:xfrm>
            <a:off x="621720" y="1261800"/>
            <a:ext cx="7771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La mobilità entra come verifica concreta dentro ogni opportunità, non come promessa generale.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62;p19"/>
          <p:cNvSpPr/>
          <p:nvPr/>
        </p:nvSpPr>
        <p:spPr>
          <a:xfrm>
            <a:off x="1600200" y="1828800"/>
            <a:ext cx="1096200" cy="1096200"/>
          </a:xfrm>
          <a:prstGeom prst="ellipse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63;p19"/>
          <p:cNvSpPr/>
          <p:nvPr/>
        </p:nvSpPr>
        <p:spPr>
          <a:xfrm>
            <a:off x="1636920" y="2249280"/>
            <a:ext cx="10594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Google Shape;364;p19"/>
          <p:cNvCxnSpPr/>
          <p:nvPr/>
        </p:nvCxnSpPr>
        <p:spPr>
          <a:xfrm>
            <a:off x="2788920" y="2377440"/>
            <a:ext cx="1829520" cy="1080"/>
          </a:xfrm>
          <a:prstGeom prst="straightConnector1">
            <a:avLst/>
          </a:prstGeom>
          <a:ln w="38100">
            <a:solidFill>
              <a:srgbClr val="E6EAF0"/>
            </a:solidFill>
            <a:round/>
            <a:tailEnd len="med" type="triangle" w="med"/>
          </a:ln>
        </p:spPr>
      </p:cxnSp>
      <p:sp>
        <p:nvSpPr>
          <p:cNvPr id="277" name="Google Shape;365;p19"/>
          <p:cNvSpPr/>
          <p:nvPr/>
        </p:nvSpPr>
        <p:spPr>
          <a:xfrm>
            <a:off x="960120" y="3154680"/>
            <a:ext cx="23763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43D30"/>
                </a:solidFill>
                <a:effectLst/>
                <a:uFillTx/>
                <a:latin typeface="Arial"/>
                <a:ea typeface="Arial"/>
              </a:rPr>
              <a:t>90 giorni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66;p19"/>
          <p:cNvSpPr/>
          <p:nvPr/>
        </p:nvSpPr>
        <p:spPr>
          <a:xfrm>
            <a:off x="960120" y="3639240"/>
            <a:ext cx="2376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preparazione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67;p19"/>
          <p:cNvSpPr/>
          <p:nvPr/>
        </p:nvSpPr>
        <p:spPr>
          <a:xfrm>
            <a:off x="914400" y="4069080"/>
            <a:ext cx="2467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audit datori, canali, quota di genere, decision gate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68;p19"/>
          <p:cNvSpPr/>
          <p:nvPr/>
        </p:nvSpPr>
        <p:spPr>
          <a:xfrm>
            <a:off x="5257800" y="1828800"/>
            <a:ext cx="1096200" cy="109620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69;p19"/>
          <p:cNvSpPr/>
          <p:nvPr/>
        </p:nvSpPr>
        <p:spPr>
          <a:xfrm>
            <a:off x="5276160" y="2249280"/>
            <a:ext cx="10594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Google Shape;370;p19"/>
          <p:cNvCxnSpPr/>
          <p:nvPr/>
        </p:nvCxnSpPr>
        <p:spPr>
          <a:xfrm>
            <a:off x="6446520" y="2377440"/>
            <a:ext cx="1829520" cy="1080"/>
          </a:xfrm>
          <a:prstGeom prst="straightConnector1">
            <a:avLst/>
          </a:prstGeom>
          <a:ln w="38100">
            <a:solidFill>
              <a:srgbClr val="E6EAF0"/>
            </a:solidFill>
            <a:round/>
            <a:tailEnd len="med" type="triangle" w="med"/>
          </a:ln>
        </p:spPr>
      </p:cxnSp>
      <p:sp>
        <p:nvSpPr>
          <p:cNvPr id="283" name="Google Shape;371;p19"/>
          <p:cNvSpPr/>
          <p:nvPr/>
        </p:nvSpPr>
        <p:spPr>
          <a:xfrm>
            <a:off x="4617720" y="3154680"/>
            <a:ext cx="23763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67B1"/>
                </a:solidFill>
                <a:effectLst/>
                <a:uFillTx/>
                <a:latin typeface="Arial"/>
                <a:ea typeface="Arial"/>
              </a:rPr>
              <a:t>12 mesi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72;p19"/>
          <p:cNvSpPr/>
          <p:nvPr/>
        </p:nvSpPr>
        <p:spPr>
          <a:xfrm>
            <a:off x="4617720" y="3639240"/>
            <a:ext cx="2376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erogazione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73;p19"/>
          <p:cNvSpPr/>
          <p:nvPr/>
        </p:nvSpPr>
        <p:spPr>
          <a:xfrm>
            <a:off x="4572000" y="4069080"/>
            <a:ext cx="2467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due coorti (mese 0 e 6), piani individuali, esperienze retribuite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74;p19"/>
          <p:cNvSpPr/>
          <p:nvPr/>
        </p:nvSpPr>
        <p:spPr>
          <a:xfrm>
            <a:off x="8915400" y="1828800"/>
            <a:ext cx="1096200" cy="109620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75;p19"/>
          <p:cNvSpPr/>
          <p:nvPr/>
        </p:nvSpPr>
        <p:spPr>
          <a:xfrm>
            <a:off x="8915400" y="2249640"/>
            <a:ext cx="10594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76;p19"/>
          <p:cNvSpPr/>
          <p:nvPr/>
        </p:nvSpPr>
        <p:spPr>
          <a:xfrm>
            <a:off x="8275320" y="3154680"/>
            <a:ext cx="23763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835E"/>
                </a:solidFill>
                <a:effectLst/>
                <a:uFillTx/>
                <a:latin typeface="Arial"/>
                <a:ea typeface="Arial"/>
              </a:rPr>
              <a:t>3·6·12 mesi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77;p19"/>
          <p:cNvSpPr/>
          <p:nvPr/>
        </p:nvSpPr>
        <p:spPr>
          <a:xfrm>
            <a:off x="8275320" y="3639240"/>
            <a:ext cx="2376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follow-up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78;p19"/>
          <p:cNvSpPr/>
          <p:nvPr/>
        </p:nvSpPr>
        <p:spPr>
          <a:xfrm>
            <a:off x="8229600" y="4069080"/>
            <a:ext cx="2467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472"/>
                </a:solidFill>
                <a:effectLst/>
                <a:uFillTx/>
                <a:latin typeface="Arial"/>
                <a:ea typeface="Arial"/>
              </a:rPr>
              <a:t>esiti rilevati dalla presa in carico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79;p19"/>
          <p:cNvSpPr/>
          <p:nvPr/>
        </p:nvSpPr>
        <p:spPr>
          <a:xfrm>
            <a:off x="1097280" y="5349240"/>
            <a:ext cx="9965880" cy="6573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50">
            <a:solidFill>
              <a:srgbClr val="E7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80;p19"/>
          <p:cNvSpPr/>
          <p:nvPr/>
        </p:nvSpPr>
        <p:spPr>
          <a:xfrm>
            <a:off x="1353240" y="5550480"/>
            <a:ext cx="9508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8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Vincolo operativo: prima di inserire un’opportunità nel piano, il servizio verifica collegamento e orari reali con il trasporto collettivo.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81;p19"/>
          <p:cNvSpPr/>
          <p:nvPr/>
        </p:nvSpPr>
        <p:spPr>
          <a:xfrm>
            <a:off x="502920" y="6510600"/>
            <a:ext cx="11200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Policy Ponte 19: durata, decision gate, componente mobilità e follow-up.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82;p19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388;p20" descr="/mnt/data/a_clean_vector_flat_infographic_illustration_on_a_batch_1.png"/>
          <p:cNvPicPr/>
          <p:nvPr/>
        </p:nvPicPr>
        <p:blipFill>
          <a:blip r:embed="rId1"/>
          <a:srcRect l="11999" t="0" r="-12051" b="0"/>
          <a:stretch/>
        </p:blipFill>
        <p:spPr>
          <a:xfrm>
            <a:off x="0" y="0"/>
            <a:ext cx="121906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Google Shape;389;p20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BF8EF">
              <a:alpha val="92000"/>
            </a:srgbClr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90;p20"/>
          <p:cNvSpPr/>
          <p:nvPr/>
        </p:nvSpPr>
        <p:spPr>
          <a:xfrm>
            <a:off x="0" y="0"/>
            <a:ext cx="5851080" cy="6856920"/>
          </a:xfrm>
          <a:prstGeom prst="rect">
            <a:avLst/>
          </a:prstGeom>
          <a:solidFill>
            <a:srgbClr val="FBF8EF"/>
          </a:solidFill>
          <a:ln w="12700">
            <a:solidFill>
              <a:srgbClr val="FBF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91;p20"/>
          <p:cNvSpPr/>
          <p:nvPr/>
        </p:nvSpPr>
        <p:spPr>
          <a:xfrm>
            <a:off x="713160" y="658440"/>
            <a:ext cx="1919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43D30"/>
                </a:solidFill>
                <a:effectLst/>
                <a:uFillTx/>
                <a:latin typeface="Arial"/>
                <a:ea typeface="Arial"/>
              </a:rPr>
              <a:t>Conclusione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92;p20"/>
          <p:cNvSpPr/>
          <p:nvPr/>
        </p:nvSpPr>
        <p:spPr>
          <a:xfrm>
            <a:off x="713160" y="1874520"/>
            <a:ext cx="58053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Un servizio che cerca chi non cerca,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101828"/>
                </a:solidFill>
                <a:effectLst/>
                <a:uFillTx/>
                <a:latin typeface="Play"/>
                <a:ea typeface="Play"/>
              </a:rPr>
              <a:t>e misura se funziona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93;p20"/>
          <p:cNvSpPr/>
          <p:nvPr/>
        </p:nvSpPr>
        <p:spPr>
          <a:xfrm>
            <a:off x="777240" y="3849480"/>
            <a:ext cx="108720" cy="10872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94;p20"/>
          <p:cNvSpPr/>
          <p:nvPr/>
        </p:nvSpPr>
        <p:spPr>
          <a:xfrm>
            <a:off x="978480" y="3703320"/>
            <a:ext cx="51195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perimetro è dichiarato: 15-24 osservabile, 18-25 target del servizio.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95;p20"/>
          <p:cNvSpPr/>
          <p:nvPr/>
        </p:nvSpPr>
        <p:spPr>
          <a:xfrm>
            <a:off x="777240" y="4480560"/>
            <a:ext cx="108720" cy="108720"/>
          </a:xfrm>
          <a:prstGeom prst="ellipse">
            <a:avLst/>
          </a:prstGeom>
          <a:solidFill>
            <a:srgbClr val="23835E"/>
          </a:solidFill>
          <a:ln w="12700">
            <a:solidFill>
              <a:srgbClr val="2383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96;p20"/>
          <p:cNvSpPr/>
          <p:nvPr/>
        </p:nvSpPr>
        <p:spPr>
          <a:xfrm>
            <a:off x="978480" y="4407480"/>
            <a:ext cx="51195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nodo studio-lavoro guida la transizione: dati mancanti raccolti dal servizio.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97;p20"/>
          <p:cNvSpPr/>
          <p:nvPr/>
        </p:nvSpPr>
        <p:spPr>
          <a:xfrm>
            <a:off x="777240" y="5184720"/>
            <a:ext cx="108720" cy="108720"/>
          </a:xfrm>
          <a:prstGeom prst="ellipse">
            <a:avLst/>
          </a:prstGeom>
          <a:solidFill>
            <a:srgbClr val="C970A7"/>
          </a:solidFill>
          <a:ln w="12700">
            <a:solidFill>
              <a:srgbClr val="C970A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98;p20"/>
          <p:cNvSpPr/>
          <p:nvPr/>
        </p:nvSpPr>
        <p:spPr>
          <a:xfrm>
            <a:off x="978480" y="5111640"/>
            <a:ext cx="51195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Il focus femminile richiede quota e outreach, non un servizio esclusivamente femminile.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99;p20"/>
          <p:cNvSpPr/>
          <p:nvPr/>
        </p:nvSpPr>
        <p:spPr>
          <a:xfrm>
            <a:off x="786240" y="6016680"/>
            <a:ext cx="51652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01828"/>
                </a:solidFill>
                <a:effectLst/>
                <a:uFillTx/>
                <a:latin typeface="Arial"/>
                <a:ea typeface="Arial"/>
              </a:rPr>
              <a:t>Non pretendiamo di spiegare la fuga. Proponiamo un pilota che produce evidenza sugli esiti.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400;p20"/>
          <p:cNvSpPr/>
          <p:nvPr/>
        </p:nvSpPr>
        <p:spPr>
          <a:xfrm>
            <a:off x="0" y="6748200"/>
            <a:ext cx="12190680" cy="10872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LibreOffice/26.8.0.3$Linux_X86_64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2026-09-23T15:51:09Z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