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9" name="Google Shape;6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0" name="Google Shape;8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8" name="Google Shape;9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8" name="Google Shape;11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8" name="Google Shape;13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2" name="Google Shape;16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2" name="Google Shape;172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8" name="Google Shape;188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3" name="Google Shape;20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0" name="Google Shape;210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2" name="Google Shape;222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3" name="Google Shape;233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7" name="Google Shape;257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3" name="Google Shape;293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4" name="Google Shape;294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3" name="Google Shape;323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4" name="Google Shape;324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7" name="Google Shape;347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48" name="Google Shape;348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2" name="Google Shape;372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73" name="Google Shape;373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8" name="Google Shape;398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99" name="Google Shape;399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1" name="Google Shape;431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32" name="Google Shape;432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Relationship Id="rId4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510857" y="576000"/>
            <a:ext cx="1078479" cy="294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98">
                <a:solidFill>
                  <a:srgbClr val="E33D30"/>
                </a:solidFill>
                <a:latin typeface="Arial"/>
                <a:ea typeface="Arial"/>
                <a:cs typeface="Arial"/>
                <a:sym typeface="Arial"/>
              </a:rPr>
              <a:t>PONTE 19</a:t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10857" y="1556571"/>
            <a:ext cx="4198479" cy="2975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16">
                <a:solidFill>
                  <a:srgbClr val="101725"/>
                </a:solidFill>
                <a:latin typeface="Verdana"/>
                <a:ea typeface="Verdana"/>
                <a:cs typeface="Verdana"/>
                <a:sym typeface="Verdana"/>
              </a:rPr>
              <a:t>Un servizio che va a cercare chi non</a:t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507429" y="1875429"/>
            <a:ext cx="639621" cy="288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68">
                <a:solidFill>
                  <a:srgbClr val="111725"/>
                </a:solidFill>
                <a:latin typeface="Verdana"/>
                <a:ea typeface="Verdana"/>
                <a:cs typeface="Verdana"/>
                <a:sym typeface="Verdana"/>
              </a:rPr>
              <a:t>cerca</a:t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507429" y="2163429"/>
            <a:ext cx="2960764" cy="302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40">
                <a:solidFill>
                  <a:srgbClr val="111725"/>
                </a:solidFill>
                <a:latin typeface="Verdana"/>
                <a:ea typeface="Verdana"/>
                <a:cs typeface="Verdana"/>
                <a:sym typeface="Verdana"/>
              </a:rPr>
              <a:t>e che misura se funziona</a:t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524571" y="3867429"/>
            <a:ext cx="1606479" cy="162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81">
                <a:solidFill>
                  <a:srgbClr val="5E6369"/>
                </a:solidFill>
                <a:latin typeface="Arial"/>
                <a:ea typeface="Arial"/>
                <a:cs typeface="Arial"/>
                <a:sym typeface="Arial"/>
              </a:rPr>
              <a:t>DataPolis 2026 · Bagheria (PA)</a:t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514286" y="4004571"/>
            <a:ext cx="2089907" cy="156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3">
                <a:solidFill>
                  <a:srgbClr val="5F6268"/>
                </a:solidFill>
                <a:latin typeface="Arial"/>
                <a:ea typeface="Arial"/>
                <a:cs typeface="Arial"/>
                <a:sym typeface="Arial"/>
              </a:rPr>
              <a:t>Alessandro Carosia e Saverio Randazzo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384000" y="171429"/>
            <a:ext cx="859050" cy="99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40">
                <a:solidFill>
                  <a:srgbClr val="636466"/>
                </a:solidFill>
                <a:latin typeface="Arial"/>
                <a:ea typeface="Arial"/>
                <a:cs typeface="Arial"/>
                <a:sym typeface="Arial"/>
              </a:rPr>
              <a:t>DataPolis 2026 · Bagheria</a:t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2060571" y="171429"/>
            <a:ext cx="571050" cy="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33">
                <a:solidFill>
                  <a:srgbClr val="5E636A"/>
                </a:solidFill>
                <a:latin typeface="Arial"/>
                <a:ea typeface="Arial"/>
                <a:cs typeface="Arial"/>
                <a:sym typeface="Arial"/>
              </a:rPr>
              <a:t>INTRODUZIONE</a:t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8766857" y="168000"/>
            <a:ext cx="111621" cy="985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35">
                <a:solidFill>
                  <a:srgbClr val="64646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459429" y="651429"/>
            <a:ext cx="5336764" cy="248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11724"/>
                </a:solidFill>
                <a:latin typeface="Arial"/>
                <a:ea typeface="Arial"/>
                <a:cs typeface="Arial"/>
                <a:sym typeface="Arial"/>
              </a:rPr>
              <a:t>Introduzione: il problema è una catena, non un singolo numero</a:t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76571" y="1038857"/>
            <a:ext cx="3793907" cy="156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53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Il brief parla di giovani, lavoro, studio e fuga di talenti; i dati mostrano tre punti</a:t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469714" y="1172571"/>
            <a:ext cx="488764" cy="150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7">
                <a:solidFill>
                  <a:srgbClr val="5F6268"/>
                </a:solidFill>
                <a:latin typeface="Arial"/>
                <a:ea typeface="Arial"/>
                <a:cs typeface="Arial"/>
                <a:sym typeface="Arial"/>
              </a:rPr>
              <a:t>di rottura.</a:t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709714" y="1398857"/>
            <a:ext cx="3769907" cy="186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12">
                <a:solidFill>
                  <a:srgbClr val="131720"/>
                </a:solidFill>
                <a:latin typeface="Arial"/>
                <a:ea typeface="Arial"/>
                <a:cs typeface="Arial"/>
                <a:sym typeface="Arial"/>
              </a:rPr>
              <a:t>Molti giovani sono fuori da lavoro e studio; tra questi prevale chi</a:t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706286" y="1560000"/>
            <a:ext cx="1246479" cy="189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30">
                <a:solidFill>
                  <a:srgbClr val="141720"/>
                </a:solidFill>
                <a:latin typeface="Arial"/>
                <a:ea typeface="Arial"/>
                <a:cs typeface="Arial"/>
                <a:sym typeface="Arial"/>
              </a:rPr>
              <a:t>non risulta in ricerca.</a:t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713143" y="1998857"/>
            <a:ext cx="3797336" cy="192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46">
                <a:solidFill>
                  <a:srgbClr val="141720"/>
                </a:solidFill>
                <a:latin typeface="Arial"/>
                <a:ea typeface="Arial"/>
                <a:cs typeface="Arial"/>
                <a:sym typeface="Arial"/>
              </a:rPr>
              <a:t>Il legame tra capitale umano e ingresso nel lavoro è debole: non</a:t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706286" y="2177143"/>
            <a:ext cx="2367621" cy="188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3">
                <a:solidFill>
                  <a:srgbClr val="141720"/>
                </a:solidFill>
                <a:latin typeface="Arial"/>
                <a:ea typeface="Arial"/>
                <a:cs typeface="Arial"/>
                <a:sym typeface="Arial"/>
              </a:rPr>
              <a:t>basta leggere il miglioramento assoluto.</a:t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713143" y="2633143"/>
            <a:ext cx="3745907" cy="188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23">
                <a:solidFill>
                  <a:srgbClr val="14171F"/>
                </a:solidFill>
                <a:latin typeface="Arial"/>
                <a:ea typeface="Arial"/>
                <a:cs typeface="Arial"/>
                <a:sym typeface="Arial"/>
              </a:rPr>
              <a:t>Il divario femminile non nasce da minore istruzione: emerge nel</a:t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706286" y="2794286"/>
            <a:ext cx="2031621" cy="186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12">
                <a:solidFill>
                  <a:srgbClr val="14171F"/>
                </a:solidFill>
                <a:latin typeface="Arial"/>
                <a:ea typeface="Arial"/>
                <a:cs typeface="Arial"/>
                <a:sym typeface="Arial"/>
              </a:rPr>
              <a:t>passaggio verso lavoro e mobilità.</a:t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569143" y="3696000"/>
            <a:ext cx="3481907" cy="212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3">
                <a:solidFill>
                  <a:srgbClr val="121723"/>
                </a:solidFill>
                <a:latin typeface="Arial"/>
                <a:ea typeface="Arial"/>
                <a:cs typeface="Arial"/>
                <a:sym typeface="Arial"/>
              </a:rPr>
              <a:t>Serve un servizio attivo, non solo uno sportello.</a:t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366857" y="4902857"/>
            <a:ext cx="3985907" cy="91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98">
                <a:solidFill>
                  <a:srgbClr val="74757B"/>
                </a:solidFill>
                <a:latin typeface="Arial"/>
                <a:ea typeface="Arial"/>
                <a:cs typeface="Arial"/>
                <a:sym typeface="Arial"/>
              </a:rPr>
              <a:t>Brief del contest: profiling, focus tematico, proposta data-driven. Fonti del progetto: ISTAT, matrici pendolarismo, MIUR, pipeline del repository.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5"/>
          <p:cNvSpPr/>
          <p:nvPr/>
        </p:nvSpPr>
        <p:spPr>
          <a:xfrm>
            <a:off x="384000" y="171429"/>
            <a:ext cx="859050" cy="99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40">
                <a:solidFill>
                  <a:srgbClr val="636466"/>
                </a:solidFill>
                <a:latin typeface="Arial"/>
                <a:ea typeface="Arial"/>
                <a:cs typeface="Arial"/>
                <a:sym typeface="Arial"/>
              </a:rPr>
              <a:t>DataPolis 2026 · Bagheria</a:t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2060571" y="171429"/>
            <a:ext cx="571050" cy="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33">
                <a:solidFill>
                  <a:srgbClr val="5E636A"/>
                </a:solidFill>
                <a:latin typeface="Arial"/>
                <a:ea typeface="Arial"/>
                <a:cs typeface="Arial"/>
                <a:sym typeface="Arial"/>
              </a:rPr>
              <a:t>INTRODUZIONE</a:t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8766857" y="168000"/>
            <a:ext cx="111621" cy="985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35">
                <a:solidFill>
                  <a:srgbClr val="62636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456000" y="644571"/>
            <a:ext cx="3163050" cy="240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7">
                <a:solidFill>
                  <a:srgbClr val="111724"/>
                </a:solidFill>
                <a:latin typeface="Arial"/>
                <a:ea typeface="Arial"/>
                <a:cs typeface="Arial"/>
                <a:sym typeface="Arial"/>
              </a:rPr>
              <a:t>Fonti trattate: cosa entra nella pipeline</a:t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476571" y="1021714"/>
            <a:ext cx="3725336" cy="167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9">
                <a:solidFill>
                  <a:srgbClr val="5E6369"/>
                </a:solidFill>
                <a:latin typeface="Arial"/>
                <a:ea typeface="Arial"/>
                <a:cs typeface="Arial"/>
                <a:sym typeface="Arial"/>
              </a:rPr>
              <a:t>Fonti ufficiali, ruoli separati e controlli automatici prima della narrazione</a:t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1306286" y="1666286"/>
            <a:ext cx="372193" cy="179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6">
                <a:solidFill>
                  <a:srgbClr val="121723"/>
                </a:solidFill>
                <a:latin typeface="Arial"/>
                <a:ea typeface="Arial"/>
                <a:cs typeface="Arial"/>
                <a:sym typeface="Arial"/>
              </a:rPr>
              <a:t>ISTAT</a:t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2369143" y="1762286"/>
            <a:ext cx="1568764" cy="151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4">
                <a:solidFill>
                  <a:srgbClr val="5F6268"/>
                </a:solidFill>
                <a:latin typeface="Arial"/>
                <a:ea typeface="Arial"/>
                <a:cs typeface="Arial"/>
                <a:sym typeface="Arial"/>
              </a:rPr>
              <a:t>condizione professionale 15-24,</a:t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5252571" y="1741714"/>
            <a:ext cx="389336" cy="188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6">
                <a:solidFill>
                  <a:srgbClr val="111723"/>
                </a:solidFill>
                <a:latin typeface="Arial"/>
                <a:ea typeface="Arial"/>
                <a:cs typeface="Arial"/>
                <a:sym typeface="Arial"/>
              </a:rPr>
              <a:t>ISTAT</a:t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6312000" y="1762286"/>
            <a:ext cx="1853336" cy="1525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8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storico 1991-2011, NEET 15-29 come</a:t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1306286" y="1817143"/>
            <a:ext cx="739050" cy="178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8">
                <a:solidFill>
                  <a:srgbClr val="121722"/>
                </a:solidFill>
                <a:latin typeface="Arial"/>
                <a:ea typeface="Arial"/>
                <a:cs typeface="Arial"/>
                <a:sym typeface="Arial"/>
              </a:rPr>
              <a:t>Censimento</a:t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372571" y="1896000"/>
            <a:ext cx="1513907" cy="1501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6">
                <a:solidFill>
                  <a:srgbClr val="5F636A"/>
                </a:solidFill>
                <a:latin typeface="Arial"/>
                <a:ea typeface="Arial"/>
                <a:cs typeface="Arial"/>
                <a:sym typeface="Arial"/>
              </a:rPr>
              <a:t>istruzione, popolazione per età</a:t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5245714" y="1899429"/>
            <a:ext cx="852193" cy="1896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30">
                <a:solidFill>
                  <a:srgbClr val="121723"/>
                </a:solidFill>
                <a:latin typeface="Arial"/>
                <a:ea typeface="Arial"/>
                <a:cs typeface="Arial"/>
                <a:sym typeface="Arial"/>
              </a:rPr>
              <a:t>8milaCensus</a:t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6312000" y="1896000"/>
            <a:ext cx="697907" cy="151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4">
                <a:solidFill>
                  <a:srgbClr val="5E626A"/>
                </a:solidFill>
                <a:latin typeface="Arial"/>
                <a:ea typeface="Arial"/>
                <a:cs typeface="Arial"/>
                <a:sym typeface="Arial"/>
              </a:rPr>
              <a:t>dato separato</a:t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1306286" y="1974857"/>
            <a:ext cx="732193" cy="176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">
                <a:solidFill>
                  <a:srgbClr val="131723"/>
                </a:solidFill>
                <a:latin typeface="Arial"/>
                <a:ea typeface="Arial"/>
                <a:cs typeface="Arial"/>
                <a:sym typeface="Arial"/>
              </a:rPr>
              <a:t>permanente</a:t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1309714" y="2897143"/>
            <a:ext cx="368764" cy="188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3">
                <a:solidFill>
                  <a:srgbClr val="121723"/>
                </a:solidFill>
                <a:latin typeface="Arial"/>
                <a:ea typeface="Arial"/>
                <a:cs typeface="Arial"/>
                <a:sym typeface="Arial"/>
              </a:rPr>
              <a:t>MIUR</a:t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2369143" y="2921143"/>
            <a:ext cx="1428193" cy="151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4">
                <a:solidFill>
                  <a:srgbClr val="5F6368"/>
                </a:solidFill>
                <a:latin typeface="Arial"/>
                <a:ea typeface="Arial"/>
                <a:cs typeface="Arial"/>
                <a:sym typeface="Arial"/>
              </a:rPr>
              <a:t>canali operativi per il servizio</a:t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1302857" y="3054857"/>
            <a:ext cx="1027050" cy="191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42">
                <a:solidFill>
                  <a:srgbClr val="121722"/>
                </a:solidFill>
                <a:latin typeface="Arial"/>
                <a:ea typeface="Arial"/>
                <a:cs typeface="Arial"/>
                <a:sym typeface="Arial"/>
              </a:rPr>
              <a:t>scuole tecniche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6"/>
          <p:cNvSpPr/>
          <p:nvPr/>
        </p:nvSpPr>
        <p:spPr>
          <a:xfrm>
            <a:off x="514286" y="579429"/>
            <a:ext cx="430479" cy="155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6">
                <a:solidFill>
                  <a:srgbClr val="1A64A5"/>
                </a:solidFill>
                <a:latin typeface="Arial"/>
                <a:ea typeface="Arial"/>
                <a:cs typeface="Arial"/>
                <a:sym typeface="Arial"/>
              </a:rPr>
              <a:t>AREA 1</a:t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521143" y="1601143"/>
            <a:ext cx="2717336" cy="4568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81">
                <a:solidFill>
                  <a:srgbClr val="101727"/>
                </a:solidFill>
                <a:latin typeface="Verdana"/>
                <a:ea typeface="Verdana"/>
                <a:cs typeface="Verdana"/>
                <a:sym typeface="Verdana"/>
              </a:rPr>
              <a:t>Titolo di studio</a:t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531429" y="2060571"/>
            <a:ext cx="1417907" cy="439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>
                <a:solidFill>
                  <a:srgbClr val="101727"/>
                </a:solidFill>
                <a:latin typeface="Verdana"/>
                <a:ea typeface="Verdana"/>
                <a:cs typeface="Verdana"/>
                <a:sym typeface="Verdana"/>
              </a:rPr>
              <a:t>e lavoro</a:t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558857" y="3003429"/>
            <a:ext cx="3334479" cy="173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40">
                <a:solidFill>
                  <a:srgbClr val="5F6269"/>
                </a:solidFill>
                <a:latin typeface="Arial"/>
                <a:ea typeface="Arial"/>
                <a:cs typeface="Arial"/>
                <a:sym typeface="Arial"/>
              </a:rPr>
              <a:t>La relazione non è osservabile come incrocio individuale; va</a:t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555429" y="3137143"/>
            <a:ext cx="2127621" cy="172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38">
                <a:solidFill>
                  <a:srgbClr val="5C636C"/>
                </a:solidFill>
                <a:latin typeface="Arial"/>
                <a:ea typeface="Arial"/>
                <a:cs typeface="Arial"/>
                <a:sym typeface="Arial"/>
              </a:rPr>
              <a:t>letta come doppia misura sul territorio.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7"/>
          <p:cNvSpPr/>
          <p:nvPr/>
        </p:nvSpPr>
        <p:spPr>
          <a:xfrm>
            <a:off x="384000" y="171429"/>
            <a:ext cx="859050" cy="99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40">
                <a:solidFill>
                  <a:srgbClr val="636466"/>
                </a:solidFill>
                <a:latin typeface="Arial"/>
                <a:ea typeface="Arial"/>
                <a:cs typeface="Arial"/>
                <a:sym typeface="Arial"/>
              </a:rPr>
              <a:t>DataPolis 2026 · Bagheria</a:t>
            </a:r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2060571" y="171429"/>
            <a:ext cx="571050" cy="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33">
                <a:solidFill>
                  <a:srgbClr val="5E636A"/>
                </a:solidFill>
                <a:latin typeface="Arial"/>
                <a:ea typeface="Arial"/>
                <a:cs typeface="Arial"/>
                <a:sym typeface="Arial"/>
              </a:rPr>
              <a:t>INTRODUZIONE</a:t>
            </a:r>
            <a:endParaRPr/>
          </a:p>
        </p:txBody>
      </p:sp>
      <p:sp>
        <p:nvSpPr>
          <p:cNvPr id="85" name="Google Shape;85;p7"/>
          <p:cNvSpPr/>
          <p:nvPr/>
        </p:nvSpPr>
        <p:spPr>
          <a:xfrm>
            <a:off x="8766857" y="171429"/>
            <a:ext cx="111621" cy="985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35">
                <a:solidFill>
                  <a:srgbClr val="616265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456000" y="627429"/>
            <a:ext cx="4945907" cy="3054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8">
                <a:solidFill>
                  <a:srgbClr val="111725"/>
                </a:solidFill>
                <a:latin typeface="Arial"/>
                <a:ea typeface="Arial"/>
                <a:cs typeface="Arial"/>
                <a:sym typeface="Arial"/>
              </a:rPr>
              <a:t>Quadro iniziale: tre cifre che guidano la proposta</a:t>
            </a:r>
            <a:endParaRPr/>
          </a:p>
        </p:txBody>
      </p:sp>
      <p:sp>
        <p:nvSpPr>
          <p:cNvPr id="87" name="Google Shape;87;p7"/>
          <p:cNvSpPr/>
          <p:nvPr/>
        </p:nvSpPr>
        <p:spPr>
          <a:xfrm>
            <a:off x="473143" y="1021714"/>
            <a:ext cx="3115050" cy="167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9">
                <a:solidFill>
                  <a:srgbClr val="5E6369"/>
                </a:solidFill>
                <a:latin typeface="Arial"/>
                <a:ea typeface="Arial"/>
                <a:cs typeface="Arial"/>
                <a:sym typeface="Arial"/>
              </a:rPr>
              <a:t>Non sono slogan: sono vincoli di progettazione del servizio.</a:t>
            </a:r>
            <a:endParaRPr/>
          </a:p>
        </p:txBody>
      </p:sp>
      <p:sp>
        <p:nvSpPr>
          <p:cNvPr id="88" name="Google Shape;88;p7"/>
          <p:cNvSpPr/>
          <p:nvPr/>
        </p:nvSpPr>
        <p:spPr>
          <a:xfrm>
            <a:off x="596571" y="1340571"/>
            <a:ext cx="773336" cy="331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33D30"/>
                </a:solidFill>
                <a:latin typeface="Arial"/>
                <a:ea typeface="Arial"/>
                <a:cs typeface="Arial"/>
                <a:sym typeface="Arial"/>
              </a:rPr>
              <a:t>26,9%</a:t>
            </a:r>
            <a:endParaRPr/>
          </a:p>
        </p:txBody>
      </p:sp>
      <p:sp>
        <p:nvSpPr>
          <p:cNvPr id="89" name="Google Shape;89;p7"/>
          <p:cNvSpPr/>
          <p:nvPr/>
        </p:nvSpPr>
        <p:spPr>
          <a:xfrm>
            <a:off x="3404571" y="1340571"/>
            <a:ext cx="776764" cy="331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86B20"/>
                </a:solidFill>
                <a:latin typeface="Arial"/>
                <a:ea typeface="Arial"/>
                <a:cs typeface="Arial"/>
                <a:sym typeface="Arial"/>
              </a:rPr>
              <a:t>70,6%</a:t>
            </a:r>
            <a:endParaRPr/>
          </a:p>
        </p:txBody>
      </p:sp>
      <p:sp>
        <p:nvSpPr>
          <p:cNvPr id="90" name="Google Shape;90;p7"/>
          <p:cNvSpPr/>
          <p:nvPr/>
        </p:nvSpPr>
        <p:spPr>
          <a:xfrm>
            <a:off x="6195429" y="1340571"/>
            <a:ext cx="763050" cy="331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366AF"/>
                </a:solidFill>
                <a:latin typeface="Arial"/>
                <a:ea typeface="Arial"/>
                <a:cs typeface="Arial"/>
                <a:sym typeface="Arial"/>
              </a:rPr>
              <a:t>12,4%</a:t>
            </a:r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593143" y="1800000"/>
            <a:ext cx="2124193" cy="16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10">
                <a:solidFill>
                  <a:srgbClr val="131722"/>
                </a:solidFill>
                <a:latin typeface="Arial"/>
                <a:ea typeface="Arial"/>
                <a:cs typeface="Arial"/>
                <a:sym typeface="Arial"/>
              </a:rPr>
              <a:t>15-24 fuori da lavoro e studio nel 2024</a:t>
            </a:r>
            <a:endParaRPr/>
          </a:p>
        </p:txBody>
      </p:sp>
      <p:sp>
        <p:nvSpPr>
          <p:cNvPr id="92" name="Google Shape;92;p7"/>
          <p:cNvSpPr/>
          <p:nvPr/>
        </p:nvSpPr>
        <p:spPr>
          <a:xfrm>
            <a:off x="3394286" y="1800000"/>
            <a:ext cx="2004193" cy="167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9">
                <a:solidFill>
                  <a:srgbClr val="131722"/>
                </a:solidFill>
                <a:latin typeface="Arial"/>
                <a:ea typeface="Arial"/>
                <a:cs typeface="Arial"/>
                <a:sym typeface="Arial"/>
              </a:rPr>
              <a:t>fra questi, non classificati in ricerca</a:t>
            </a: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6171429" y="1800000"/>
            <a:ext cx="2072764" cy="167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9">
                <a:solidFill>
                  <a:srgbClr val="131722"/>
                </a:solidFill>
                <a:latin typeface="Arial"/>
                <a:ea typeface="Arial"/>
                <a:cs typeface="Arial"/>
                <a:sym typeface="Arial"/>
              </a:rPr>
              <a:t>tasso di occupazione giovanile 15-24</a:t>
            </a:r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380571" y="4920000"/>
            <a:ext cx="3763050" cy="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78">
                <a:solidFill>
                  <a:srgbClr val="717277"/>
                </a:solidFill>
                <a:latin typeface="Arial"/>
                <a:ea typeface="Arial"/>
                <a:cs typeface="Arial"/>
                <a:sym typeface="Arial"/>
              </a:rPr>
              <a:t>Dati: ISTAT, Censimento permanente 2018-2024; elaborazioni da edu_youth_states_2018_2024.csv e edu_recent_analysis_panel.csv.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8"/>
          <p:cNvSpPr/>
          <p:nvPr/>
        </p:nvSpPr>
        <p:spPr>
          <a:xfrm>
            <a:off x="384000" y="171429"/>
            <a:ext cx="859050" cy="99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40">
                <a:solidFill>
                  <a:srgbClr val="636466"/>
                </a:solidFill>
                <a:latin typeface="Arial"/>
                <a:ea typeface="Arial"/>
                <a:cs typeface="Arial"/>
                <a:sym typeface="Arial"/>
              </a:rPr>
              <a:t>DataPolis 2026 · Bagheria</a:t>
            </a:r>
            <a:endParaRPr/>
          </a:p>
        </p:txBody>
      </p:sp>
      <p:sp>
        <p:nvSpPr>
          <p:cNvPr id="102" name="Google Shape;102;p8"/>
          <p:cNvSpPr/>
          <p:nvPr/>
        </p:nvSpPr>
        <p:spPr>
          <a:xfrm>
            <a:off x="2060571" y="171429"/>
            <a:ext cx="1081907" cy="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33">
                <a:solidFill>
                  <a:srgbClr val="5F626A"/>
                </a:solidFill>
                <a:latin typeface="Arial"/>
                <a:ea typeface="Arial"/>
                <a:cs typeface="Arial"/>
                <a:sym typeface="Arial"/>
              </a:rPr>
              <a:t>TITOLO DI STUDIO — LAVORO</a:t>
            </a:r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8766857" y="168000"/>
            <a:ext cx="111621" cy="985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35">
                <a:solidFill>
                  <a:srgbClr val="626466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04" name="Google Shape;104;p8"/>
          <p:cNvSpPr/>
          <p:nvPr/>
        </p:nvSpPr>
        <p:spPr>
          <a:xfrm>
            <a:off x="449143" y="610286"/>
            <a:ext cx="5326479" cy="304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6">
                <a:solidFill>
                  <a:srgbClr val="111725"/>
                </a:solidFill>
                <a:latin typeface="Arial"/>
                <a:ea typeface="Arial"/>
                <a:cs typeface="Arial"/>
                <a:sym typeface="Arial"/>
              </a:rPr>
              <a:t>Titolo di studio e lavoro: il deficit resta nel confronto</a:t>
            </a:r>
            <a:endParaRPr/>
          </a:p>
        </p:txBody>
      </p:sp>
      <p:sp>
        <p:nvSpPr>
          <p:cNvPr id="105" name="Google Shape;105;p8"/>
          <p:cNvSpPr/>
          <p:nvPr/>
        </p:nvSpPr>
        <p:spPr>
          <a:xfrm>
            <a:off x="473143" y="1021714"/>
            <a:ext cx="4517336" cy="1657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E6369"/>
                </a:solidFill>
                <a:latin typeface="Arial"/>
                <a:ea typeface="Arial"/>
                <a:cs typeface="Arial"/>
                <a:sym typeface="Arial"/>
              </a:rPr>
              <a:t>Nel 2024 Bagheria è sotto la Sicilia sia sul capitale umano adulto sia sull’occupazione.</a:t>
            </a:r>
            <a:endParaRPr/>
          </a:p>
        </p:txBody>
      </p:sp>
      <p:sp>
        <p:nvSpPr>
          <p:cNvPr id="106" name="Google Shape;106;p8"/>
          <p:cNvSpPr/>
          <p:nvPr/>
        </p:nvSpPr>
        <p:spPr>
          <a:xfrm>
            <a:off x="5667429" y="1189714"/>
            <a:ext cx="1003050" cy="188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6">
                <a:solidFill>
                  <a:srgbClr val="121722"/>
                </a:solidFill>
                <a:latin typeface="Arial"/>
                <a:ea typeface="Arial"/>
                <a:cs typeface="Arial"/>
                <a:sym typeface="Arial"/>
              </a:rPr>
              <a:t>Lettura corretta</a:t>
            </a:r>
            <a:endParaRPr/>
          </a:p>
        </p:txBody>
      </p:sp>
      <p:sp>
        <p:nvSpPr>
          <p:cNvPr id="107" name="Google Shape;107;p8"/>
          <p:cNvSpPr/>
          <p:nvPr/>
        </p:nvSpPr>
        <p:spPr>
          <a:xfrm>
            <a:off x="5818286" y="1587429"/>
            <a:ext cx="2329907" cy="167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2">
                <a:solidFill>
                  <a:srgbClr val="15171F"/>
                </a:solidFill>
                <a:latin typeface="Arial"/>
                <a:ea typeface="Arial"/>
                <a:cs typeface="Arial"/>
                <a:sym typeface="Arial"/>
              </a:rPr>
              <a:t>Il confronto è descrittivo: non isola causalità.</a:t>
            </a:r>
            <a:endParaRPr/>
          </a:p>
        </p:txBody>
      </p:sp>
      <p:sp>
        <p:nvSpPr>
          <p:cNvPr id="108" name="Google Shape;108;p8"/>
          <p:cNvSpPr/>
          <p:nvPr/>
        </p:nvSpPr>
        <p:spPr>
          <a:xfrm>
            <a:off x="5814857" y="2026286"/>
            <a:ext cx="2748193" cy="1657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5171E"/>
                </a:solidFill>
                <a:latin typeface="Arial"/>
                <a:ea typeface="Arial"/>
                <a:cs typeface="Arial"/>
                <a:sym typeface="Arial"/>
              </a:rPr>
              <a:t>La quota di diplomati cresce, ma il lavoro resta sotto</a:t>
            </a:r>
            <a:endParaRPr/>
          </a:p>
        </p:txBody>
      </p:sp>
      <p:sp>
        <p:nvSpPr>
          <p:cNvPr id="109" name="Google Shape;109;p8"/>
          <p:cNvSpPr/>
          <p:nvPr/>
        </p:nvSpPr>
        <p:spPr>
          <a:xfrm>
            <a:off x="5814857" y="2170286"/>
            <a:ext cx="636193" cy="1657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181E"/>
                </a:solidFill>
                <a:latin typeface="Arial"/>
                <a:ea typeface="Arial"/>
                <a:cs typeface="Arial"/>
                <a:sym typeface="Arial"/>
              </a:rPr>
              <a:t>benchmark.</a:t>
            </a:r>
            <a:endParaRPr/>
          </a:p>
        </p:txBody>
      </p:sp>
      <p:sp>
        <p:nvSpPr>
          <p:cNvPr id="110" name="Google Shape;110;p8"/>
          <p:cNvSpPr/>
          <p:nvPr/>
        </p:nvSpPr>
        <p:spPr>
          <a:xfrm>
            <a:off x="5818286" y="2544000"/>
            <a:ext cx="2796193" cy="1657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171F"/>
                </a:solidFill>
                <a:latin typeface="Arial"/>
                <a:ea typeface="Arial"/>
                <a:cs typeface="Arial"/>
                <a:sym typeface="Arial"/>
              </a:rPr>
              <a:t>Per il 15-24 la distanza occupazionale con la Sicilia è</a:t>
            </a:r>
            <a:endParaRPr/>
          </a:p>
        </p:txBody>
      </p:sp>
      <p:sp>
        <p:nvSpPr>
          <p:cNvPr id="111" name="Google Shape;111;p8"/>
          <p:cNvSpPr/>
          <p:nvPr/>
        </p:nvSpPr>
        <p:spPr>
          <a:xfrm>
            <a:off x="5811429" y="2688000"/>
            <a:ext cx="828193" cy="167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9">
                <a:solidFill>
                  <a:srgbClr val="15171F"/>
                </a:solidFill>
                <a:latin typeface="Arial"/>
                <a:ea typeface="Arial"/>
                <a:cs typeface="Arial"/>
                <a:sym typeface="Arial"/>
              </a:rPr>
              <a:t>circa -3,1 punti.</a:t>
            </a:r>
            <a:endParaRPr/>
          </a:p>
        </p:txBody>
      </p:sp>
      <p:sp>
        <p:nvSpPr>
          <p:cNvPr id="112" name="Google Shape;112;p8"/>
          <p:cNvSpPr/>
          <p:nvPr/>
        </p:nvSpPr>
        <p:spPr>
          <a:xfrm>
            <a:off x="5664000" y="3579429"/>
            <a:ext cx="2727621" cy="186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2">
                <a:solidFill>
                  <a:srgbClr val="121723"/>
                </a:solidFill>
                <a:latin typeface="Arial"/>
                <a:ea typeface="Arial"/>
                <a:cs typeface="Arial"/>
                <a:sym typeface="Arial"/>
              </a:rPr>
              <a:t>Questo giustifica una policy di transizione,</a:t>
            </a:r>
            <a:endParaRPr/>
          </a:p>
        </p:txBody>
      </p:sp>
      <p:sp>
        <p:nvSpPr>
          <p:cNvPr id="113" name="Google Shape;113;p8"/>
          <p:cNvSpPr/>
          <p:nvPr/>
        </p:nvSpPr>
        <p:spPr>
          <a:xfrm>
            <a:off x="5667429" y="3740571"/>
            <a:ext cx="2302479" cy="188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3">
                <a:solidFill>
                  <a:srgbClr val="121722"/>
                </a:solidFill>
                <a:latin typeface="Arial"/>
                <a:ea typeface="Arial"/>
                <a:cs typeface="Arial"/>
                <a:sym typeface="Arial"/>
              </a:rPr>
              <a:t>non soltanto formazione aggiuntiva.</a:t>
            </a:r>
            <a:endParaRPr/>
          </a:p>
        </p:txBody>
      </p:sp>
      <p:sp>
        <p:nvSpPr>
          <p:cNvPr id="114" name="Google Shape;114;p8"/>
          <p:cNvSpPr/>
          <p:nvPr/>
        </p:nvSpPr>
        <p:spPr>
          <a:xfrm>
            <a:off x="380571" y="4916571"/>
            <a:ext cx="3783621" cy="88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83">
                <a:solidFill>
                  <a:srgbClr val="707177"/>
                </a:solidFill>
                <a:latin typeface="Arial"/>
                <a:ea typeface="Arial"/>
                <a:cs typeface="Arial"/>
                <a:sym typeface="Arial"/>
              </a:rPr>
              <a:t>Dati: edu_kpi_dashboard.csv, anno 2024. Misure aggregate separate; non osservano l'incrocio individuale titolo x condizione lavorativa.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979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9"/>
          <p:cNvSpPr/>
          <p:nvPr/>
        </p:nvSpPr>
        <p:spPr>
          <a:xfrm>
            <a:off x="384000" y="157714"/>
            <a:ext cx="859050" cy="103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61">
                <a:solidFill>
                  <a:srgbClr val="656669"/>
                </a:solidFill>
                <a:latin typeface="Arial"/>
                <a:ea typeface="Arial"/>
                <a:cs typeface="Arial"/>
                <a:sym typeface="Arial"/>
              </a:rPr>
              <a:t>DataPolis 2026 · Bagheria</a:t>
            </a:r>
            <a:endParaRPr/>
          </a:p>
        </p:txBody>
      </p:sp>
      <p:sp>
        <p:nvSpPr>
          <p:cNvPr id="122" name="Google Shape;122;p9"/>
          <p:cNvSpPr/>
          <p:nvPr/>
        </p:nvSpPr>
        <p:spPr>
          <a:xfrm>
            <a:off x="2060571" y="171429"/>
            <a:ext cx="1081907" cy="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33">
                <a:solidFill>
                  <a:srgbClr val="5F626A"/>
                </a:solidFill>
                <a:latin typeface="Arial"/>
                <a:ea typeface="Arial"/>
                <a:cs typeface="Arial"/>
                <a:sym typeface="Arial"/>
              </a:rPr>
              <a:t>TITOLO DI STUDIO — LAVORO</a:t>
            </a:r>
            <a:endParaRPr/>
          </a:p>
        </p:txBody>
      </p:sp>
      <p:sp>
        <p:nvSpPr>
          <p:cNvPr id="123" name="Google Shape;123;p9"/>
          <p:cNvSpPr/>
          <p:nvPr/>
        </p:nvSpPr>
        <p:spPr>
          <a:xfrm>
            <a:off x="8766857" y="168000"/>
            <a:ext cx="111621" cy="985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35">
                <a:solidFill>
                  <a:srgbClr val="636464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124" name="Google Shape;124;p9"/>
          <p:cNvSpPr/>
          <p:nvPr/>
        </p:nvSpPr>
        <p:spPr>
          <a:xfrm>
            <a:off x="459429" y="630857"/>
            <a:ext cx="4863621" cy="298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20">
                <a:solidFill>
                  <a:srgbClr val="111725"/>
                </a:solidFill>
                <a:latin typeface="Arial"/>
                <a:ea typeface="Arial"/>
                <a:cs typeface="Arial"/>
                <a:sym typeface="Arial"/>
              </a:rPr>
              <a:t>Il recupero recente non riattiva il nucleo inattivo</a:t>
            </a:r>
            <a:endParaRPr/>
          </a:p>
        </p:txBody>
      </p:sp>
      <p:sp>
        <p:nvSpPr>
          <p:cNvPr id="125" name="Google Shape;125;p9"/>
          <p:cNvSpPr/>
          <p:nvPr/>
        </p:nvSpPr>
        <p:spPr>
          <a:xfrm>
            <a:off x="473143" y="1018286"/>
            <a:ext cx="4191621" cy="1657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E636A"/>
                </a:solidFill>
                <a:latin typeface="Arial"/>
                <a:ea typeface="Arial"/>
                <a:cs typeface="Arial"/>
                <a:sym typeface="Arial"/>
              </a:rPr>
              <a:t>La componente in cerca cala; quella inattiva non studentesca resta quasi ferma.</a:t>
            </a:r>
            <a:endParaRPr/>
          </a:p>
        </p:txBody>
      </p:sp>
      <p:sp>
        <p:nvSpPr>
          <p:cNvPr id="126" name="Google Shape;126;p9"/>
          <p:cNvSpPr/>
          <p:nvPr/>
        </p:nvSpPr>
        <p:spPr>
          <a:xfrm>
            <a:off x="5873143" y="1272000"/>
            <a:ext cx="1788193" cy="197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74">
                <a:solidFill>
                  <a:srgbClr val="121723"/>
                </a:solidFill>
                <a:latin typeface="Arial"/>
                <a:ea typeface="Arial"/>
                <a:cs typeface="Arial"/>
                <a:sym typeface="Arial"/>
              </a:rPr>
              <a:t>Perché conta per la policy</a:t>
            </a:r>
            <a:endParaRPr/>
          </a:p>
        </p:txBody>
      </p:sp>
      <p:sp>
        <p:nvSpPr>
          <p:cNvPr id="127" name="Google Shape;127;p9"/>
          <p:cNvSpPr/>
          <p:nvPr/>
        </p:nvSpPr>
        <p:spPr>
          <a:xfrm>
            <a:off x="5886857" y="1717714"/>
            <a:ext cx="763050" cy="331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33D2F"/>
                </a:solidFill>
                <a:latin typeface="Arial"/>
                <a:ea typeface="Arial"/>
                <a:cs typeface="Arial"/>
                <a:sym typeface="Arial"/>
              </a:rPr>
              <a:t>19,0%</a:t>
            </a:r>
            <a:endParaRPr/>
          </a:p>
        </p:txBody>
      </p:sp>
      <p:sp>
        <p:nvSpPr>
          <p:cNvPr id="128" name="Google Shape;128;p9"/>
          <p:cNvSpPr/>
          <p:nvPr/>
        </p:nvSpPr>
        <p:spPr>
          <a:xfrm>
            <a:off x="5869714" y="2177143"/>
            <a:ext cx="1949336" cy="1657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21722"/>
                </a:solidFill>
                <a:latin typeface="Arial"/>
                <a:ea typeface="Arial"/>
                <a:cs typeface="Arial"/>
                <a:sym typeface="Arial"/>
              </a:rPr>
              <a:t>inattivi non studenti 15-24 nel 2024</a:t>
            </a:r>
            <a:endParaRPr/>
          </a:p>
        </p:txBody>
      </p:sp>
      <p:sp>
        <p:nvSpPr>
          <p:cNvPr id="129" name="Google Shape;129;p9"/>
          <p:cNvSpPr/>
          <p:nvPr/>
        </p:nvSpPr>
        <p:spPr>
          <a:xfrm>
            <a:off x="5873143" y="2742857"/>
            <a:ext cx="622479" cy="3428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62">
                <a:solidFill>
                  <a:srgbClr val="EFB427"/>
                </a:solidFill>
                <a:latin typeface="Arial"/>
                <a:ea typeface="Arial"/>
                <a:cs typeface="Arial"/>
                <a:sym typeface="Arial"/>
              </a:rPr>
              <a:t>7,9%</a:t>
            </a:r>
            <a:endParaRPr/>
          </a:p>
        </p:txBody>
      </p:sp>
      <p:sp>
        <p:nvSpPr>
          <p:cNvPr id="130" name="Google Shape;130;p9"/>
          <p:cNvSpPr/>
          <p:nvPr/>
        </p:nvSpPr>
        <p:spPr>
          <a:xfrm>
            <a:off x="5869714" y="3205714"/>
            <a:ext cx="1472764" cy="1590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64">
                <a:solidFill>
                  <a:srgbClr val="121723"/>
                </a:solidFill>
                <a:latin typeface="Arial"/>
                <a:ea typeface="Arial"/>
                <a:cs typeface="Arial"/>
                <a:sym typeface="Arial"/>
              </a:rPr>
              <a:t>in cerca di lavoro nel 2024</a:t>
            </a:r>
            <a:endParaRPr/>
          </a:p>
        </p:txBody>
      </p:sp>
      <p:sp>
        <p:nvSpPr>
          <p:cNvPr id="131" name="Google Shape;131;p9"/>
          <p:cNvSpPr/>
          <p:nvPr/>
        </p:nvSpPr>
        <p:spPr>
          <a:xfrm>
            <a:off x="5869714" y="3768000"/>
            <a:ext cx="2353907" cy="172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38">
                <a:solidFill>
                  <a:srgbClr val="121722"/>
                </a:solidFill>
                <a:latin typeface="Arial"/>
                <a:ea typeface="Arial"/>
                <a:cs typeface="Arial"/>
                <a:sym typeface="Arial"/>
              </a:rPr>
              <a:t>Uno sportello intercetta chi si presenta.</a:t>
            </a:r>
            <a:endParaRPr/>
          </a:p>
        </p:txBody>
      </p:sp>
      <p:sp>
        <p:nvSpPr>
          <p:cNvPr id="132" name="Google Shape;132;p9"/>
          <p:cNvSpPr/>
          <p:nvPr/>
        </p:nvSpPr>
        <p:spPr>
          <a:xfrm>
            <a:off x="5873143" y="3884571"/>
            <a:ext cx="2511621" cy="177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6">
                <a:solidFill>
                  <a:srgbClr val="121722"/>
                </a:solidFill>
                <a:latin typeface="Arial"/>
                <a:ea typeface="Arial"/>
                <a:cs typeface="Arial"/>
                <a:sym typeface="Arial"/>
              </a:rPr>
              <a:t>Ponte 19 nasce per raggiungere anche chi</a:t>
            </a:r>
            <a:endParaRPr/>
          </a:p>
        </p:txBody>
      </p:sp>
      <p:sp>
        <p:nvSpPr>
          <p:cNvPr id="133" name="Google Shape;133;p9"/>
          <p:cNvSpPr/>
          <p:nvPr/>
        </p:nvSpPr>
        <p:spPr>
          <a:xfrm>
            <a:off x="5869714" y="4008000"/>
            <a:ext cx="972193" cy="172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38">
                <a:solidFill>
                  <a:srgbClr val="131722"/>
                </a:solidFill>
                <a:latin typeface="Arial"/>
                <a:ea typeface="Arial"/>
                <a:cs typeface="Arial"/>
                <a:sym typeface="Arial"/>
              </a:rPr>
              <a:t>non si presenta.</a:t>
            </a:r>
            <a:endParaRPr/>
          </a:p>
        </p:txBody>
      </p:sp>
      <p:sp>
        <p:nvSpPr>
          <p:cNvPr id="134" name="Google Shape;134;p9"/>
          <p:cNvSpPr/>
          <p:nvPr/>
        </p:nvSpPr>
        <p:spPr>
          <a:xfrm>
            <a:off x="384000" y="4906286"/>
            <a:ext cx="2947050" cy="90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92">
                <a:solidFill>
                  <a:srgbClr val="76777C"/>
                </a:solidFill>
                <a:latin typeface="Arial"/>
                <a:ea typeface="Arial"/>
                <a:cs typeface="Arial"/>
                <a:sym typeface="Arial"/>
              </a:rPr>
              <a:t>Dati: edu_youth_states_2018_2024.csv. Il 2020 manca nella fonte per la classe 15-24 e non è interpolato.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0"/>
          <p:cNvSpPr/>
          <p:nvPr/>
        </p:nvSpPr>
        <p:spPr>
          <a:xfrm>
            <a:off x="229714" y="130286"/>
            <a:ext cx="900193" cy="108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89">
                <a:solidFill>
                  <a:srgbClr val="51504A"/>
                </a:solidFill>
                <a:latin typeface="Arial"/>
                <a:ea typeface="Arial"/>
                <a:cs typeface="Arial"/>
                <a:sym typeface="Arial"/>
              </a:rPr>
              <a:t>DataPolis 2026 · Bagheria</a:t>
            </a:r>
            <a:endParaRPr/>
          </a:p>
        </p:txBody>
      </p:sp>
      <p:sp>
        <p:nvSpPr>
          <p:cNvPr id="142" name="Google Shape;142;p10"/>
          <p:cNvSpPr/>
          <p:nvPr/>
        </p:nvSpPr>
        <p:spPr>
          <a:xfrm>
            <a:off x="3970286" y="137143"/>
            <a:ext cx="1236193" cy="11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39">
                <a:solidFill>
                  <a:srgbClr val="4D4F4D"/>
                </a:solidFill>
                <a:latin typeface="Arial"/>
                <a:ea typeface="Arial"/>
                <a:cs typeface="Arial"/>
                <a:sym typeface="Arial"/>
              </a:rPr>
              <a:t>TITOLO DI STUDIO → LAVORO</a:t>
            </a:r>
            <a:endParaRPr/>
          </a:p>
        </p:txBody>
      </p:sp>
      <p:sp>
        <p:nvSpPr>
          <p:cNvPr id="143" name="Google Shape;143;p10"/>
          <p:cNvSpPr/>
          <p:nvPr/>
        </p:nvSpPr>
        <p:spPr>
          <a:xfrm>
            <a:off x="8787429" y="133714"/>
            <a:ext cx="115050" cy="103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59">
                <a:solidFill>
                  <a:srgbClr val="514F49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144" name="Google Shape;144;p10"/>
          <p:cNvSpPr/>
          <p:nvPr/>
        </p:nvSpPr>
        <p:spPr>
          <a:xfrm>
            <a:off x="291429" y="531429"/>
            <a:ext cx="4760764" cy="298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20">
                <a:solidFill>
                  <a:srgbClr val="102236"/>
                </a:solidFill>
                <a:latin typeface="Arial"/>
                <a:ea typeface="Arial"/>
                <a:cs typeface="Arial"/>
                <a:sym typeface="Arial"/>
              </a:rPr>
              <a:t>Il collo di bottiglia viene dopo la scuola di base</a:t>
            </a:r>
            <a:endParaRPr/>
          </a:p>
        </p:txBody>
      </p:sp>
      <p:sp>
        <p:nvSpPr>
          <p:cNvPr id="145" name="Google Shape;145;p10"/>
          <p:cNvSpPr/>
          <p:nvPr/>
        </p:nvSpPr>
        <p:spPr>
          <a:xfrm>
            <a:off x="284571" y="792000"/>
            <a:ext cx="3965336" cy="171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30">
                <a:solidFill>
                  <a:srgbClr val="6D6F70"/>
                </a:solidFill>
                <a:latin typeface="Arial"/>
                <a:ea typeface="Arial"/>
                <a:cs typeface="Arial"/>
                <a:sym typeface="Arial"/>
              </a:rPr>
              <a:t>La relazione titolo → lavoro non va forzata sulla persona: la leggiamo come</a:t>
            </a:r>
            <a:endParaRPr/>
          </a:p>
        </p:txBody>
      </p:sp>
      <p:sp>
        <p:nvSpPr>
          <p:cNvPr id="146" name="Google Shape;146;p10"/>
          <p:cNvSpPr/>
          <p:nvPr/>
        </p:nvSpPr>
        <p:spPr>
          <a:xfrm>
            <a:off x="284571" y="946286"/>
            <a:ext cx="2789336" cy="171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32">
                <a:solidFill>
                  <a:srgbClr val="6E6F70"/>
                </a:solidFill>
                <a:latin typeface="Arial"/>
                <a:ea typeface="Arial"/>
                <a:cs typeface="Arial"/>
                <a:sym typeface="Arial"/>
              </a:rPr>
              <a:t>progressione territoriale e come esigenza di servizio.</a:t>
            </a:r>
            <a:endParaRPr/>
          </a:p>
        </p:txBody>
      </p:sp>
      <p:sp>
        <p:nvSpPr>
          <p:cNvPr id="147" name="Google Shape;147;p10"/>
          <p:cNvSpPr/>
          <p:nvPr/>
        </p:nvSpPr>
        <p:spPr>
          <a:xfrm>
            <a:off x="4981714" y="1258286"/>
            <a:ext cx="1191621" cy="2121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0"/>
          <p:cNvSpPr/>
          <p:nvPr/>
        </p:nvSpPr>
        <p:spPr>
          <a:xfrm>
            <a:off x="5149713" y="1523961"/>
            <a:ext cx="8556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38">
                <a:solidFill>
                  <a:srgbClr val="112233"/>
                </a:solidFill>
                <a:latin typeface="Arial"/>
                <a:ea typeface="Arial"/>
                <a:cs typeface="Arial"/>
                <a:sym typeface="Arial"/>
              </a:rPr>
              <a:t>La base regge</a:t>
            </a:r>
            <a:endParaRPr/>
          </a:p>
        </p:txBody>
      </p:sp>
      <p:sp>
        <p:nvSpPr>
          <p:cNvPr id="149" name="Google Shape;149;p10"/>
          <p:cNvSpPr/>
          <p:nvPr/>
        </p:nvSpPr>
        <p:spPr>
          <a:xfrm>
            <a:off x="5132571" y="1690286"/>
            <a:ext cx="3108193" cy="1694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20">
                <a:solidFill>
                  <a:srgbClr val="6C6F72"/>
                </a:solidFill>
                <a:latin typeface="Arial"/>
                <a:ea typeface="Arial"/>
                <a:cs typeface="Arial"/>
                <a:sym typeface="Arial"/>
              </a:rPr>
              <a:t>96,7% dei 15-19enni ha almeno la licenza media nel 2011.</a:t>
            </a:r>
            <a:endParaRPr/>
          </a:p>
        </p:txBody>
      </p:sp>
      <p:sp>
        <p:nvSpPr>
          <p:cNvPr id="150" name="Google Shape;150;p10"/>
          <p:cNvSpPr/>
          <p:nvPr/>
        </p:nvSpPr>
        <p:spPr>
          <a:xfrm>
            <a:off x="5149725" y="1910229"/>
            <a:ext cx="14418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38">
                <a:solidFill>
                  <a:srgbClr val="122233"/>
                </a:solidFill>
                <a:latin typeface="Arial"/>
                <a:ea typeface="Arial"/>
                <a:cs typeface="Arial"/>
                <a:sym typeface="Arial"/>
              </a:rPr>
              <a:t>Il gradino successivo no</a:t>
            </a:r>
            <a:endParaRPr/>
          </a:p>
        </p:txBody>
      </p:sp>
      <p:sp>
        <p:nvSpPr>
          <p:cNvPr id="151" name="Google Shape;151;p10"/>
          <p:cNvSpPr/>
          <p:nvPr/>
        </p:nvSpPr>
        <p:spPr>
          <a:xfrm>
            <a:off x="5136000" y="2053714"/>
            <a:ext cx="3125336" cy="173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41">
                <a:solidFill>
                  <a:srgbClr val="6D7072"/>
                </a:solidFill>
                <a:latin typeface="Arial"/>
                <a:ea typeface="Arial"/>
                <a:cs typeface="Arial"/>
                <a:sym typeface="Arial"/>
              </a:rPr>
              <a:t>Diploma/laurea e titolo universitario restano sotto Palermo,</a:t>
            </a:r>
            <a:endParaRPr/>
          </a:p>
        </p:txBody>
      </p:sp>
      <p:sp>
        <p:nvSpPr>
          <p:cNvPr id="152" name="Google Shape;152;p10"/>
          <p:cNvSpPr/>
          <p:nvPr/>
        </p:nvSpPr>
        <p:spPr>
          <a:xfrm>
            <a:off x="5132571" y="2214857"/>
            <a:ext cx="745800" cy="1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6">
                <a:solidFill>
                  <a:srgbClr val="6C6F72"/>
                </a:solidFill>
                <a:latin typeface="Arial"/>
                <a:ea typeface="Arial"/>
                <a:cs typeface="Arial"/>
                <a:sym typeface="Arial"/>
              </a:rPr>
              <a:t>Sicilia e Italia.</a:t>
            </a:r>
            <a:endParaRPr/>
          </a:p>
        </p:txBody>
      </p:sp>
      <p:sp>
        <p:nvSpPr>
          <p:cNvPr id="153" name="Google Shape;153;p10"/>
          <p:cNvSpPr/>
          <p:nvPr/>
        </p:nvSpPr>
        <p:spPr>
          <a:xfrm>
            <a:off x="5132575" y="2435121"/>
            <a:ext cx="17436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9">
                <a:solidFill>
                  <a:srgbClr val="122233"/>
                </a:solidFill>
                <a:latin typeface="Arial"/>
                <a:ea typeface="Arial"/>
                <a:cs typeface="Arial"/>
                <a:sym typeface="Arial"/>
              </a:rPr>
              <a:t>Non è una catena individuale</a:t>
            </a:r>
            <a:endParaRPr/>
          </a:p>
        </p:txBody>
      </p:sp>
      <p:sp>
        <p:nvSpPr>
          <p:cNvPr id="154" name="Google Shape;154;p10"/>
          <p:cNvSpPr/>
          <p:nvPr/>
        </p:nvSpPr>
        <p:spPr>
          <a:xfrm>
            <a:off x="5136000" y="2592000"/>
            <a:ext cx="32247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38">
                <a:solidFill>
                  <a:srgbClr val="6D6F72"/>
                </a:solidFill>
                <a:latin typeface="Arial"/>
                <a:ea typeface="Arial"/>
                <a:cs typeface="Arial"/>
                <a:sym typeface="Arial"/>
              </a:rPr>
              <a:t>Le tavole comunali non osservano chi, tra i diplomati, lavora.</a:t>
            </a:r>
            <a:endParaRPr/>
          </a:p>
        </p:txBody>
      </p:sp>
      <p:sp>
        <p:nvSpPr>
          <p:cNvPr id="155" name="Google Shape;155;p10"/>
          <p:cNvSpPr/>
          <p:nvPr/>
        </p:nvSpPr>
        <p:spPr>
          <a:xfrm>
            <a:off x="5111925" y="2810327"/>
            <a:ext cx="9312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3">
                <a:solidFill>
                  <a:srgbClr val="112234"/>
                </a:solidFill>
                <a:latin typeface="Arial"/>
                <a:ea typeface="Arial"/>
                <a:cs typeface="Arial"/>
                <a:sym typeface="Arial"/>
              </a:rPr>
              <a:t>Da qui la policy</a:t>
            </a:r>
            <a:endParaRPr/>
          </a:p>
        </p:txBody>
      </p:sp>
      <p:sp>
        <p:nvSpPr>
          <p:cNvPr id="156" name="Google Shape;156;p10"/>
          <p:cNvSpPr/>
          <p:nvPr/>
        </p:nvSpPr>
        <p:spPr>
          <a:xfrm>
            <a:off x="5132571" y="2965714"/>
            <a:ext cx="3262479" cy="1741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46">
                <a:solidFill>
                  <a:srgbClr val="6D6F72"/>
                </a:solidFill>
                <a:latin typeface="Arial"/>
                <a:ea typeface="Arial"/>
                <a:cs typeface="Arial"/>
                <a:sym typeface="Arial"/>
              </a:rPr>
              <a:t>Serve transizione: azione ravvicinata, opportunità praticabile,</a:t>
            </a:r>
            <a:endParaRPr/>
          </a:p>
        </p:txBody>
      </p:sp>
      <p:sp>
        <p:nvSpPr>
          <p:cNvPr id="157" name="Google Shape;157;p10"/>
          <p:cNvSpPr/>
          <p:nvPr/>
        </p:nvSpPr>
        <p:spPr>
          <a:xfrm>
            <a:off x="5132571" y="3116571"/>
            <a:ext cx="800700" cy="1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24">
                <a:solidFill>
                  <a:srgbClr val="6D6F71"/>
                </a:solidFill>
                <a:latin typeface="Arial"/>
                <a:ea typeface="Arial"/>
                <a:cs typeface="Arial"/>
                <a:sym typeface="Arial"/>
              </a:rPr>
              <a:t>esito misurato.</a:t>
            </a:r>
            <a:endParaRPr/>
          </a:p>
        </p:txBody>
      </p:sp>
      <p:pic>
        <p:nvPicPr>
          <p:cNvPr id="158" name="Google Shape;158;p10" title="Screenshot from 2026-09-23 22-25-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4575" y="1117975"/>
            <a:ext cx="4412275" cy="298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1"/>
          <p:cNvSpPr/>
          <p:nvPr/>
        </p:nvSpPr>
        <p:spPr>
          <a:xfrm>
            <a:off x="514286" y="576000"/>
            <a:ext cx="444193" cy="161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75">
                <a:solidFill>
                  <a:srgbClr val="BD739B"/>
                </a:solidFill>
                <a:latin typeface="Arial"/>
                <a:ea typeface="Arial"/>
                <a:cs typeface="Arial"/>
                <a:sym typeface="Arial"/>
              </a:rPr>
              <a:t>AREA 2</a:t>
            </a:r>
            <a:endParaRPr/>
          </a:p>
        </p:txBody>
      </p:sp>
      <p:sp>
        <p:nvSpPr>
          <p:cNvPr id="166" name="Google Shape;166;p11"/>
          <p:cNvSpPr/>
          <p:nvPr/>
        </p:nvSpPr>
        <p:spPr>
          <a:xfrm>
            <a:off x="538286" y="1728000"/>
            <a:ext cx="2940193" cy="458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88">
                <a:solidFill>
                  <a:srgbClr val="101726"/>
                </a:solidFill>
                <a:latin typeface="Verdana"/>
                <a:ea typeface="Verdana"/>
                <a:cs typeface="Verdana"/>
                <a:sym typeface="Verdana"/>
              </a:rPr>
              <a:t>Focus femminile</a:t>
            </a:r>
            <a:endParaRPr/>
          </a:p>
        </p:txBody>
      </p:sp>
      <p:sp>
        <p:nvSpPr>
          <p:cNvPr id="167" name="Google Shape;167;p11"/>
          <p:cNvSpPr/>
          <p:nvPr/>
        </p:nvSpPr>
        <p:spPr>
          <a:xfrm>
            <a:off x="555429" y="2904000"/>
            <a:ext cx="3680764" cy="1967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69">
                <a:solidFill>
                  <a:srgbClr val="5D636B"/>
                </a:solidFill>
                <a:latin typeface="Arial"/>
                <a:ea typeface="Arial"/>
                <a:cs typeface="Arial"/>
                <a:sym typeface="Arial"/>
              </a:rPr>
              <a:t>Qui non cerchiamo una causa unica. Individuiamo il punto</a:t>
            </a:r>
            <a:endParaRPr/>
          </a:p>
        </p:txBody>
      </p:sp>
      <p:sp>
        <p:nvSpPr>
          <p:cNvPr id="168" name="Google Shape;168;p11"/>
          <p:cNvSpPr/>
          <p:nvPr/>
        </p:nvSpPr>
        <p:spPr>
          <a:xfrm>
            <a:off x="552000" y="3075429"/>
            <a:ext cx="1740193" cy="205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16">
                <a:solidFill>
                  <a:srgbClr val="5C626A"/>
                </a:solidFill>
                <a:latin typeface="Arial"/>
                <a:ea typeface="Arial"/>
                <a:cs typeface="Arial"/>
                <a:sym typeface="Arial"/>
              </a:rPr>
              <a:t>dove il divario si concentra.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2"/>
          <p:cNvSpPr/>
          <p:nvPr/>
        </p:nvSpPr>
        <p:spPr>
          <a:xfrm>
            <a:off x="380571" y="171429"/>
            <a:ext cx="862479" cy="1037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63">
                <a:solidFill>
                  <a:srgbClr val="636466"/>
                </a:solidFill>
                <a:latin typeface="Arial"/>
                <a:ea typeface="Arial"/>
                <a:cs typeface="Arial"/>
                <a:sym typeface="Arial"/>
              </a:rPr>
              <a:t>DataPolis 2026 · Bagheria</a:t>
            </a:r>
            <a:endParaRPr/>
          </a:p>
        </p:txBody>
      </p:sp>
      <p:sp>
        <p:nvSpPr>
          <p:cNvPr id="176" name="Google Shape;176;p12"/>
          <p:cNvSpPr/>
          <p:nvPr/>
        </p:nvSpPr>
        <p:spPr>
          <a:xfrm>
            <a:off x="2060571" y="171429"/>
            <a:ext cx="691050" cy="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33">
                <a:solidFill>
                  <a:srgbClr val="5E646B"/>
                </a:solidFill>
                <a:latin typeface="Arial"/>
                <a:ea typeface="Arial"/>
                <a:cs typeface="Arial"/>
                <a:sym typeface="Arial"/>
              </a:rPr>
              <a:t>FOCUS FEMMINILE</a:t>
            </a:r>
            <a:endParaRPr/>
          </a:p>
        </p:txBody>
      </p:sp>
      <p:sp>
        <p:nvSpPr>
          <p:cNvPr id="177" name="Google Shape;177;p12"/>
          <p:cNvSpPr/>
          <p:nvPr/>
        </p:nvSpPr>
        <p:spPr>
          <a:xfrm>
            <a:off x="8773714" y="171429"/>
            <a:ext cx="104764" cy="8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86">
                <a:solidFill>
                  <a:srgbClr val="626266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178" name="Google Shape;178;p12"/>
          <p:cNvSpPr/>
          <p:nvPr/>
        </p:nvSpPr>
        <p:spPr>
          <a:xfrm>
            <a:off x="462857" y="627429"/>
            <a:ext cx="4993907" cy="334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18">
                <a:solidFill>
                  <a:srgbClr val="111725"/>
                </a:solidFill>
                <a:latin typeface="Arial"/>
                <a:ea typeface="Arial"/>
                <a:cs typeface="Arial"/>
                <a:sym typeface="Arial"/>
              </a:rPr>
              <a:t>Il rovesciamento: più diploma, meno lavoro</a:t>
            </a:r>
            <a:endParaRPr/>
          </a:p>
        </p:txBody>
      </p:sp>
      <p:sp>
        <p:nvSpPr>
          <p:cNvPr id="179" name="Google Shape;179;p12"/>
          <p:cNvSpPr/>
          <p:nvPr/>
        </p:nvSpPr>
        <p:spPr>
          <a:xfrm>
            <a:off x="466286" y="1018286"/>
            <a:ext cx="4229336" cy="1657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E6369"/>
                </a:solidFill>
                <a:latin typeface="Arial"/>
                <a:ea typeface="Arial"/>
                <a:cs typeface="Arial"/>
                <a:sym typeface="Arial"/>
              </a:rPr>
              <a:t>A Bagheria le ragazze hanno più diploma dei ragazzi, ma lavorano circa la metà.</a:t>
            </a:r>
            <a:endParaRPr/>
          </a:p>
        </p:txBody>
      </p:sp>
      <p:sp>
        <p:nvSpPr>
          <p:cNvPr id="180" name="Google Shape;180;p12"/>
          <p:cNvSpPr/>
          <p:nvPr/>
        </p:nvSpPr>
        <p:spPr>
          <a:xfrm>
            <a:off x="5910857" y="2026286"/>
            <a:ext cx="1325336" cy="349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97">
                <a:solidFill>
                  <a:srgbClr val="C370A0"/>
                </a:solidFill>
                <a:latin typeface="Arial"/>
                <a:ea typeface="Arial"/>
                <a:cs typeface="Arial"/>
                <a:sym typeface="Arial"/>
              </a:rPr>
              <a:t>510 vs 462</a:t>
            </a:r>
            <a:endParaRPr/>
          </a:p>
        </p:txBody>
      </p:sp>
      <p:sp>
        <p:nvSpPr>
          <p:cNvPr id="181" name="Google Shape;181;p12"/>
          <p:cNvSpPr/>
          <p:nvPr/>
        </p:nvSpPr>
        <p:spPr>
          <a:xfrm>
            <a:off x="5897143" y="2489143"/>
            <a:ext cx="1856764" cy="167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9">
                <a:solidFill>
                  <a:srgbClr val="121722"/>
                </a:solidFill>
                <a:latin typeface="Arial"/>
                <a:ea typeface="Arial"/>
                <a:cs typeface="Arial"/>
                <a:sym typeface="Arial"/>
              </a:rPr>
              <a:t>diploma per 1.000 residenti 15-24</a:t>
            </a:r>
            <a:endParaRPr/>
          </a:p>
        </p:txBody>
      </p:sp>
      <p:sp>
        <p:nvSpPr>
          <p:cNvPr id="182" name="Google Shape;182;p12"/>
          <p:cNvSpPr/>
          <p:nvPr/>
        </p:nvSpPr>
        <p:spPr>
          <a:xfrm>
            <a:off x="5904000" y="3157714"/>
            <a:ext cx="1174479" cy="349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97">
                <a:solidFill>
                  <a:srgbClr val="1366B0"/>
                </a:solidFill>
                <a:latin typeface="Arial"/>
                <a:ea typeface="Arial"/>
                <a:cs typeface="Arial"/>
                <a:sym typeface="Arial"/>
              </a:rPr>
              <a:t>82 vs 165</a:t>
            </a:r>
            <a:endParaRPr/>
          </a:p>
        </p:txBody>
      </p:sp>
      <p:sp>
        <p:nvSpPr>
          <p:cNvPr id="183" name="Google Shape;183;p12"/>
          <p:cNvSpPr/>
          <p:nvPr/>
        </p:nvSpPr>
        <p:spPr>
          <a:xfrm>
            <a:off x="5897143" y="3620571"/>
            <a:ext cx="1891050" cy="167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9">
                <a:solidFill>
                  <a:srgbClr val="131722"/>
                </a:solidFill>
                <a:latin typeface="Arial"/>
                <a:ea typeface="Arial"/>
                <a:cs typeface="Arial"/>
                <a:sym typeface="Arial"/>
              </a:rPr>
              <a:t>occupati per 1.000 residenti 15-24</a:t>
            </a:r>
            <a:endParaRPr/>
          </a:p>
        </p:txBody>
      </p:sp>
      <p:sp>
        <p:nvSpPr>
          <p:cNvPr id="184" name="Google Shape;184;p12"/>
          <p:cNvSpPr/>
          <p:nvPr/>
        </p:nvSpPr>
        <p:spPr>
          <a:xfrm>
            <a:off x="380571" y="4920000"/>
            <a:ext cx="2847621" cy="88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83">
                <a:solidFill>
                  <a:srgbClr val="707277"/>
                </a:solidFill>
                <a:latin typeface="Arial"/>
                <a:ea typeface="Arial"/>
                <a:cs typeface="Arial"/>
                <a:sym typeface="Arial"/>
              </a:rPr>
              <a:t>Dati: genere_per_1000.csv, Bagheria 2024. Diploma e occupazione sono misure aggregate separate.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3"/>
          <p:cNvSpPr/>
          <p:nvPr/>
        </p:nvSpPr>
        <p:spPr>
          <a:xfrm>
            <a:off x="384000" y="157714"/>
            <a:ext cx="859050" cy="1033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61">
                <a:solidFill>
                  <a:srgbClr val="656669"/>
                </a:solidFill>
                <a:latin typeface="Arial"/>
                <a:ea typeface="Arial"/>
                <a:cs typeface="Arial"/>
                <a:sym typeface="Arial"/>
              </a:rPr>
              <a:t>DataPolis 2026 · Bagheria</a:t>
            </a:r>
            <a:endParaRPr/>
          </a:p>
        </p:txBody>
      </p:sp>
      <p:sp>
        <p:nvSpPr>
          <p:cNvPr id="192" name="Google Shape;192;p13"/>
          <p:cNvSpPr/>
          <p:nvPr/>
        </p:nvSpPr>
        <p:spPr>
          <a:xfrm>
            <a:off x="2064000" y="171429"/>
            <a:ext cx="687621" cy="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33">
                <a:solidFill>
                  <a:srgbClr val="5E646B"/>
                </a:solidFill>
                <a:latin typeface="Arial"/>
                <a:ea typeface="Arial"/>
                <a:cs typeface="Arial"/>
                <a:sym typeface="Arial"/>
              </a:rPr>
              <a:t>FOCUS FEMMINILE</a:t>
            </a:r>
            <a:endParaRPr/>
          </a:p>
        </p:txBody>
      </p:sp>
      <p:sp>
        <p:nvSpPr>
          <p:cNvPr id="193" name="Google Shape;193;p13"/>
          <p:cNvSpPr/>
          <p:nvPr/>
        </p:nvSpPr>
        <p:spPr>
          <a:xfrm>
            <a:off x="8780571" y="171429"/>
            <a:ext cx="87621" cy="67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5">
                <a:solidFill>
                  <a:srgbClr val="5F656B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194" name="Google Shape;194;p13"/>
          <p:cNvSpPr/>
          <p:nvPr/>
        </p:nvSpPr>
        <p:spPr>
          <a:xfrm>
            <a:off x="459429" y="613714"/>
            <a:ext cx="5237336" cy="284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43">
                <a:solidFill>
                  <a:srgbClr val="111725"/>
                </a:solidFill>
                <a:latin typeface="Arial"/>
                <a:ea typeface="Arial"/>
                <a:cs typeface="Arial"/>
                <a:sym typeface="Arial"/>
              </a:rPr>
              <a:t>Il tasso femminile cresce, ma il divario non si chiude</a:t>
            </a:r>
            <a:endParaRPr/>
          </a:p>
        </p:txBody>
      </p:sp>
      <p:sp>
        <p:nvSpPr>
          <p:cNvPr id="195" name="Google Shape;195;p13"/>
          <p:cNvSpPr/>
          <p:nvPr/>
        </p:nvSpPr>
        <p:spPr>
          <a:xfrm>
            <a:off x="473143" y="1018286"/>
            <a:ext cx="4537907" cy="1657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E6369"/>
                </a:solidFill>
                <a:latin typeface="Arial"/>
                <a:ea typeface="Arial"/>
                <a:cs typeface="Arial"/>
                <a:sym typeface="Arial"/>
              </a:rPr>
              <a:t>Bagheria migliora in valore assoluto; resta sotto Palermo, Sicilia e Italia in ogni annata.</a:t>
            </a:r>
            <a:endParaRPr/>
          </a:p>
        </p:txBody>
      </p:sp>
      <p:sp>
        <p:nvSpPr>
          <p:cNvPr id="196" name="Google Shape;196;p13"/>
          <p:cNvSpPr/>
          <p:nvPr/>
        </p:nvSpPr>
        <p:spPr>
          <a:xfrm>
            <a:off x="6120000" y="2214857"/>
            <a:ext cx="2237336" cy="1657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171F"/>
                </a:solidFill>
                <a:latin typeface="Arial"/>
                <a:ea typeface="Arial"/>
                <a:cs typeface="Arial"/>
                <a:sym typeface="Arial"/>
              </a:rPr>
              <a:t>8,2% nel 2024: valore più alto della serie di</a:t>
            </a:r>
            <a:endParaRPr/>
          </a:p>
        </p:txBody>
      </p:sp>
      <p:sp>
        <p:nvSpPr>
          <p:cNvPr id="197" name="Google Shape;197;p13"/>
          <p:cNvSpPr/>
          <p:nvPr/>
        </p:nvSpPr>
        <p:spPr>
          <a:xfrm>
            <a:off x="6123429" y="2355429"/>
            <a:ext cx="516193" cy="1622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81">
                <a:solidFill>
                  <a:srgbClr val="15171F"/>
                </a:solidFill>
                <a:latin typeface="Arial"/>
                <a:ea typeface="Arial"/>
                <a:cs typeface="Arial"/>
                <a:sym typeface="Arial"/>
              </a:rPr>
              <a:t>Bagheria.</a:t>
            </a:r>
            <a:endParaRPr/>
          </a:p>
        </p:txBody>
      </p:sp>
      <p:sp>
        <p:nvSpPr>
          <p:cNvPr id="198" name="Google Shape;198;p13"/>
          <p:cNvSpPr/>
          <p:nvPr/>
        </p:nvSpPr>
        <p:spPr>
          <a:xfrm>
            <a:off x="6123429" y="2797714"/>
            <a:ext cx="1716193" cy="164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91">
                <a:solidFill>
                  <a:srgbClr val="15171E"/>
                </a:solidFill>
                <a:latin typeface="Arial"/>
                <a:ea typeface="Arial"/>
                <a:cs typeface="Arial"/>
                <a:sym typeface="Arial"/>
              </a:rPr>
              <a:t>Non è un crollo: cresce ovunque.</a:t>
            </a:r>
            <a:endParaRPr/>
          </a:p>
        </p:txBody>
      </p:sp>
      <p:sp>
        <p:nvSpPr>
          <p:cNvPr id="199" name="Google Shape;199;p13"/>
          <p:cNvSpPr/>
          <p:nvPr/>
        </p:nvSpPr>
        <p:spPr>
          <a:xfrm>
            <a:off x="6126857" y="3315429"/>
            <a:ext cx="2611050" cy="1605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72">
                <a:solidFill>
                  <a:srgbClr val="141720"/>
                </a:solidFill>
                <a:latin typeface="Arial"/>
                <a:ea typeface="Arial"/>
                <a:cs typeface="Arial"/>
                <a:sym typeface="Arial"/>
              </a:rPr>
              <a:t>Il punto è la mancata convergenza col benchmark.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"/>
          <p:cNvSpPr/>
          <p:nvPr/>
        </p:nvSpPr>
        <p:spPr>
          <a:xfrm>
            <a:off x="8773714" y="171429"/>
            <a:ext cx="104764" cy="8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86">
                <a:solidFill>
                  <a:srgbClr val="63646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pic>
        <p:nvPicPr>
          <p:cNvPr descr="/mnt/data/pt_render/page-12.png" id="206" name="Google Shape;206;p14"/>
          <p:cNvPicPr preferRelativeResize="0"/>
          <p:nvPr/>
        </p:nvPicPr>
        <p:blipFill rotWithShape="1">
          <a:blip r:embed="rId3">
            <a:alphaModFix/>
          </a:blip>
          <a:srcRect b="1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5"/>
          <p:cNvSpPr/>
          <p:nvPr/>
        </p:nvSpPr>
        <p:spPr>
          <a:xfrm>
            <a:off x="380571" y="171429"/>
            <a:ext cx="862479" cy="99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40">
                <a:solidFill>
                  <a:srgbClr val="636466"/>
                </a:solidFill>
                <a:latin typeface="Arial"/>
                <a:ea typeface="Arial"/>
                <a:cs typeface="Arial"/>
                <a:sym typeface="Arial"/>
              </a:rPr>
              <a:t>DataPolis 2026 · Bagheria</a:t>
            </a:r>
            <a:endParaRPr/>
          </a:p>
        </p:txBody>
      </p:sp>
      <p:sp>
        <p:nvSpPr>
          <p:cNvPr id="214" name="Google Shape;214;p15"/>
          <p:cNvSpPr/>
          <p:nvPr/>
        </p:nvSpPr>
        <p:spPr>
          <a:xfrm>
            <a:off x="2060571" y="171429"/>
            <a:ext cx="691050" cy="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33">
                <a:solidFill>
                  <a:srgbClr val="5E646B"/>
                </a:solidFill>
                <a:latin typeface="Arial"/>
                <a:ea typeface="Arial"/>
                <a:cs typeface="Arial"/>
                <a:sym typeface="Arial"/>
              </a:rPr>
              <a:t>FOCUS FEMMINILE</a:t>
            </a:r>
            <a:endParaRPr/>
          </a:p>
        </p:txBody>
      </p:sp>
      <p:sp>
        <p:nvSpPr>
          <p:cNvPr id="215" name="Google Shape;215;p15"/>
          <p:cNvSpPr/>
          <p:nvPr/>
        </p:nvSpPr>
        <p:spPr>
          <a:xfrm>
            <a:off x="8773714" y="171429"/>
            <a:ext cx="104764" cy="8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86">
                <a:solidFill>
                  <a:srgbClr val="636266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216" name="Google Shape;216;p15"/>
          <p:cNvSpPr/>
          <p:nvPr/>
        </p:nvSpPr>
        <p:spPr>
          <a:xfrm>
            <a:off x="462857" y="617143"/>
            <a:ext cx="3965336" cy="3569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38">
                <a:solidFill>
                  <a:srgbClr val="101725"/>
                </a:solidFill>
                <a:latin typeface="Arial"/>
                <a:ea typeface="Arial"/>
                <a:cs typeface="Arial"/>
                <a:sym typeface="Arial"/>
              </a:rPr>
              <a:t>Mobilità e finestra di intervento</a:t>
            </a:r>
            <a:endParaRPr/>
          </a:p>
        </p:txBody>
      </p:sp>
      <p:sp>
        <p:nvSpPr>
          <p:cNvPr id="217" name="Google Shape;217;p15"/>
          <p:cNvSpPr/>
          <p:nvPr/>
        </p:nvSpPr>
        <p:spPr>
          <a:xfrm>
            <a:off x="473143" y="1021714"/>
            <a:ext cx="4369907" cy="167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9">
                <a:solidFill>
                  <a:srgbClr val="5E6369"/>
                </a:solidFill>
                <a:latin typeface="Arial"/>
                <a:ea typeface="Arial"/>
                <a:cs typeface="Arial"/>
                <a:sym typeface="Arial"/>
              </a:rPr>
              <a:t>Le ragazze si spostano per studiare; il nodo emerge nel lavoro e nella fascia 22-25.</a:t>
            </a:r>
            <a:endParaRPr/>
          </a:p>
        </p:txBody>
      </p:sp>
      <p:sp>
        <p:nvSpPr>
          <p:cNvPr id="218" name="Google Shape;218;p15"/>
          <p:cNvSpPr/>
          <p:nvPr/>
        </p:nvSpPr>
        <p:spPr>
          <a:xfrm>
            <a:off x="589714" y="4628571"/>
            <a:ext cx="6070479" cy="157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4">
                <a:solidFill>
                  <a:srgbClr val="131722"/>
                </a:solidFill>
                <a:latin typeface="Arial"/>
                <a:ea typeface="Arial"/>
                <a:cs typeface="Arial"/>
                <a:sym typeface="Arial"/>
              </a:rPr>
              <a:t>Uso progettuale: reclutare prima che la finestra 22-25 si chiuda, e verificare la raggiungibilità reale delle opportunità.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6"/>
          <p:cNvSpPr/>
          <p:nvPr/>
        </p:nvSpPr>
        <p:spPr>
          <a:xfrm>
            <a:off x="521143" y="576000"/>
            <a:ext cx="1119621" cy="156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3">
                <a:solidFill>
                  <a:srgbClr val="2A7F5C"/>
                </a:solidFill>
                <a:latin typeface="Arial"/>
                <a:ea typeface="Arial"/>
                <a:cs typeface="Arial"/>
                <a:sym typeface="Arial"/>
              </a:rPr>
              <a:t>POLICY PROPOSAL</a:t>
            </a:r>
            <a:endParaRPr/>
          </a:p>
        </p:txBody>
      </p:sp>
      <p:sp>
        <p:nvSpPr>
          <p:cNvPr id="226" name="Google Shape;226;p16"/>
          <p:cNvSpPr/>
          <p:nvPr/>
        </p:nvSpPr>
        <p:spPr>
          <a:xfrm>
            <a:off x="541714" y="1704000"/>
            <a:ext cx="1654479" cy="4665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33">
                <a:solidFill>
                  <a:srgbClr val="101727"/>
                </a:solidFill>
                <a:latin typeface="Verdana"/>
                <a:ea typeface="Verdana"/>
                <a:cs typeface="Verdana"/>
                <a:sym typeface="Verdana"/>
              </a:rPr>
              <a:t>Ponte 19</a:t>
            </a:r>
            <a:endParaRPr/>
          </a:p>
        </p:txBody>
      </p:sp>
      <p:sp>
        <p:nvSpPr>
          <p:cNvPr id="227" name="Google Shape;227;p16"/>
          <p:cNvSpPr/>
          <p:nvPr/>
        </p:nvSpPr>
        <p:spPr>
          <a:xfrm>
            <a:off x="538286" y="2297143"/>
            <a:ext cx="3461336" cy="1706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27">
                <a:solidFill>
                  <a:srgbClr val="121723"/>
                </a:solidFill>
                <a:latin typeface="Verdana"/>
                <a:ea typeface="Verdana"/>
                <a:cs typeface="Verdana"/>
                <a:sym typeface="Verdana"/>
              </a:rPr>
              <a:t>Servizio comunale di transizione e riattivazione per</a:t>
            </a:r>
            <a:endParaRPr/>
          </a:p>
        </p:txBody>
      </p:sp>
      <p:sp>
        <p:nvSpPr>
          <p:cNvPr id="228" name="Google Shape;228;p16"/>
          <p:cNvSpPr/>
          <p:nvPr/>
        </p:nvSpPr>
        <p:spPr>
          <a:xfrm>
            <a:off x="541714" y="2478857"/>
            <a:ext cx="499050" cy="157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54">
                <a:solidFill>
                  <a:srgbClr val="121722"/>
                </a:solidFill>
                <a:latin typeface="Verdana"/>
                <a:ea typeface="Verdana"/>
                <a:cs typeface="Verdana"/>
                <a:sym typeface="Verdana"/>
              </a:rPr>
              <a:t>i 18-25.</a:t>
            </a:r>
            <a:endParaRPr/>
          </a:p>
        </p:txBody>
      </p:sp>
      <p:sp>
        <p:nvSpPr>
          <p:cNvPr id="229" name="Google Shape;229;p16"/>
          <p:cNvSpPr/>
          <p:nvPr/>
        </p:nvSpPr>
        <p:spPr>
          <a:xfrm>
            <a:off x="555429" y="2928000"/>
            <a:ext cx="3783621" cy="1691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18">
                <a:solidFill>
                  <a:srgbClr val="5D636B"/>
                </a:solidFill>
                <a:latin typeface="Arial"/>
                <a:ea typeface="Arial"/>
                <a:cs typeface="Arial"/>
                <a:sym typeface="Arial"/>
              </a:rPr>
              <a:t>Contatto attivo - quota femminile - opportunità verificate - esiti misurati.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7"/>
          <p:cNvSpPr/>
          <p:nvPr/>
        </p:nvSpPr>
        <p:spPr>
          <a:xfrm>
            <a:off x="229714" y="120000"/>
            <a:ext cx="900193" cy="96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6">
                <a:solidFill>
                  <a:srgbClr val="4B5052"/>
                </a:solidFill>
                <a:latin typeface="Verdana"/>
                <a:ea typeface="Verdana"/>
                <a:cs typeface="Verdana"/>
                <a:sym typeface="Verdana"/>
              </a:rPr>
              <a:t>DataPolis 2026 · Bagheria</a:t>
            </a:r>
            <a:endParaRPr/>
          </a:p>
        </p:txBody>
      </p:sp>
      <p:sp>
        <p:nvSpPr>
          <p:cNvPr id="237" name="Google Shape;237;p17"/>
          <p:cNvSpPr/>
          <p:nvPr/>
        </p:nvSpPr>
        <p:spPr>
          <a:xfrm>
            <a:off x="4193143" y="120000"/>
            <a:ext cx="800764" cy="105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5">
                <a:solidFill>
                  <a:srgbClr val="4B5052"/>
                </a:solidFill>
                <a:latin typeface="Verdana"/>
                <a:ea typeface="Verdana"/>
                <a:cs typeface="Verdana"/>
                <a:sym typeface="Verdana"/>
              </a:rPr>
              <a:t>POLICY PROPOSAL</a:t>
            </a:r>
            <a:endParaRPr/>
          </a:p>
        </p:txBody>
      </p:sp>
      <p:sp>
        <p:nvSpPr>
          <p:cNvPr id="238" name="Google Shape;238;p17"/>
          <p:cNvSpPr/>
          <p:nvPr/>
        </p:nvSpPr>
        <p:spPr>
          <a:xfrm>
            <a:off x="8790857" y="123429"/>
            <a:ext cx="111621" cy="86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68">
                <a:solidFill>
                  <a:srgbClr val="4B5052"/>
                </a:solidFill>
                <a:latin typeface="Verdana"/>
                <a:ea typeface="Verdana"/>
                <a:cs typeface="Verdana"/>
                <a:sym typeface="Verdana"/>
              </a:rPr>
              <a:t>15</a:t>
            </a:r>
            <a:endParaRPr/>
          </a:p>
        </p:txBody>
      </p:sp>
      <p:sp>
        <p:nvSpPr>
          <p:cNvPr id="239" name="Google Shape;239;p17"/>
          <p:cNvSpPr/>
          <p:nvPr/>
        </p:nvSpPr>
        <p:spPr>
          <a:xfrm>
            <a:off x="291429" y="500571"/>
            <a:ext cx="3883050" cy="257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98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Ponte 19: evidenza → intervento → KPI</a:t>
            </a:r>
            <a:endParaRPr/>
          </a:p>
        </p:txBody>
      </p:sp>
      <p:sp>
        <p:nvSpPr>
          <p:cNvPr id="240" name="Google Shape;240;p17"/>
          <p:cNvSpPr/>
          <p:nvPr/>
        </p:nvSpPr>
        <p:spPr>
          <a:xfrm>
            <a:off x="593143" y="1083429"/>
            <a:ext cx="1033907" cy="149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12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Evidenza dai dati</a:t>
            </a:r>
            <a:endParaRPr/>
          </a:p>
        </p:txBody>
      </p:sp>
      <p:sp>
        <p:nvSpPr>
          <p:cNvPr id="241" name="Google Shape;241;p17"/>
          <p:cNvSpPr/>
          <p:nvPr/>
        </p:nvSpPr>
        <p:spPr>
          <a:xfrm>
            <a:off x="4601143" y="1083429"/>
            <a:ext cx="1541336" cy="150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18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Conseguenza progettuale</a:t>
            </a:r>
            <a:endParaRPr/>
          </a:p>
        </p:txBody>
      </p:sp>
      <p:sp>
        <p:nvSpPr>
          <p:cNvPr id="242" name="Google Shape;242;p17"/>
          <p:cNvSpPr/>
          <p:nvPr/>
        </p:nvSpPr>
        <p:spPr>
          <a:xfrm>
            <a:off x="778286" y="1450286"/>
            <a:ext cx="2881907" cy="1512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1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70,6% di chi è fuori da lavoro e studio non cerca</a:t>
            </a:r>
            <a:endParaRPr/>
          </a:p>
        </p:txBody>
      </p:sp>
      <p:sp>
        <p:nvSpPr>
          <p:cNvPr id="243" name="Google Shape;243;p17"/>
          <p:cNvSpPr/>
          <p:nvPr/>
        </p:nvSpPr>
        <p:spPr>
          <a:xfrm>
            <a:off x="4601143" y="1450286"/>
            <a:ext cx="2093336" cy="1512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1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Outreach attivo, non solo sportello</a:t>
            </a:r>
            <a:endParaRPr/>
          </a:p>
        </p:txBody>
      </p:sp>
      <p:sp>
        <p:nvSpPr>
          <p:cNvPr id="244" name="Google Shape;244;p17"/>
          <p:cNvSpPr/>
          <p:nvPr/>
        </p:nvSpPr>
        <p:spPr>
          <a:xfrm>
            <a:off x="4601143" y="1923429"/>
            <a:ext cx="2614479" cy="1512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1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Servizio di transizione, non sola formazione</a:t>
            </a:r>
            <a:endParaRPr/>
          </a:p>
        </p:txBody>
      </p:sp>
      <p:sp>
        <p:nvSpPr>
          <p:cNvPr id="245" name="Google Shape;245;p17"/>
          <p:cNvSpPr/>
          <p:nvPr/>
        </p:nvSpPr>
        <p:spPr>
          <a:xfrm>
            <a:off x="778286" y="1923429"/>
            <a:ext cx="2004193" cy="151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1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Gap persistente istruzione/lavoro</a:t>
            </a:r>
            <a:endParaRPr/>
          </a:p>
        </p:txBody>
      </p:sp>
      <p:sp>
        <p:nvSpPr>
          <p:cNvPr id="246" name="Google Shape;246;p17"/>
          <p:cNvSpPr/>
          <p:nvPr/>
        </p:nvSpPr>
        <p:spPr>
          <a:xfrm>
            <a:off x="781714" y="2396571"/>
            <a:ext cx="1284193" cy="149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14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Finestra critica 22-25</a:t>
            </a:r>
            <a:endParaRPr/>
          </a:p>
        </p:txBody>
      </p:sp>
      <p:sp>
        <p:nvSpPr>
          <p:cNvPr id="247" name="Google Shape;247;p17"/>
          <p:cNvSpPr/>
          <p:nvPr/>
        </p:nvSpPr>
        <p:spPr>
          <a:xfrm>
            <a:off x="4601143" y="2396571"/>
            <a:ext cx="2141336" cy="150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0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Seconda finestra di ingaggio mirata</a:t>
            </a:r>
            <a:endParaRPr/>
          </a:p>
        </p:txBody>
      </p:sp>
      <p:sp>
        <p:nvSpPr>
          <p:cNvPr id="248" name="Google Shape;248;p17"/>
          <p:cNvSpPr/>
          <p:nvPr/>
        </p:nvSpPr>
        <p:spPr>
          <a:xfrm>
            <a:off x="781714" y="2869714"/>
            <a:ext cx="2429336" cy="1512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1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Mobilità studio/lavoro con segno diverso</a:t>
            </a:r>
            <a:endParaRPr/>
          </a:p>
        </p:txBody>
      </p:sp>
      <p:sp>
        <p:nvSpPr>
          <p:cNvPr id="249" name="Google Shape;249;p17"/>
          <p:cNvSpPr/>
          <p:nvPr/>
        </p:nvSpPr>
        <p:spPr>
          <a:xfrm>
            <a:off x="4604571" y="2869714"/>
            <a:ext cx="2360764" cy="151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0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Raggiungibilità verificata caso per caso</a:t>
            </a:r>
            <a:endParaRPr/>
          </a:p>
        </p:txBody>
      </p:sp>
      <p:sp>
        <p:nvSpPr>
          <p:cNvPr id="250" name="Google Shape;250;p17"/>
          <p:cNvSpPr/>
          <p:nvPr/>
        </p:nvSpPr>
        <p:spPr>
          <a:xfrm>
            <a:off x="781714" y="3342857"/>
            <a:ext cx="1849907" cy="150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17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Platea giovanile in contrazione</a:t>
            </a:r>
            <a:endParaRPr/>
          </a:p>
        </p:txBody>
      </p:sp>
      <p:sp>
        <p:nvSpPr>
          <p:cNvPr id="251" name="Google Shape;251;p17"/>
          <p:cNvSpPr/>
          <p:nvPr/>
        </p:nvSpPr>
        <p:spPr>
          <a:xfrm>
            <a:off x="4604571" y="3342857"/>
            <a:ext cx="1897907" cy="1508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19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KPI territoriali espressi in tasso</a:t>
            </a:r>
            <a:endParaRPr/>
          </a:p>
        </p:txBody>
      </p:sp>
      <p:sp>
        <p:nvSpPr>
          <p:cNvPr id="252" name="Google Shape;252;p17"/>
          <p:cNvSpPr/>
          <p:nvPr/>
        </p:nvSpPr>
        <p:spPr>
          <a:xfrm>
            <a:off x="340050" y="844950"/>
            <a:ext cx="1218300" cy="151500"/>
          </a:xfrm>
          <a:prstGeom prst="rect">
            <a:avLst/>
          </a:prstGeom>
          <a:solidFill>
            <a:srgbClr val="F7F3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7"/>
          <p:cNvSpPr/>
          <p:nvPr/>
        </p:nvSpPr>
        <p:spPr>
          <a:xfrm>
            <a:off x="155700" y="931925"/>
            <a:ext cx="218700" cy="151500"/>
          </a:xfrm>
          <a:prstGeom prst="rect">
            <a:avLst/>
          </a:prstGeom>
          <a:solidFill>
            <a:srgbClr val="F7F3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8"/>
          <p:cNvSpPr/>
          <p:nvPr/>
        </p:nvSpPr>
        <p:spPr>
          <a:xfrm>
            <a:off x="229714" y="120000"/>
            <a:ext cx="900193" cy="96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6">
                <a:solidFill>
                  <a:srgbClr val="4B5052"/>
                </a:solidFill>
                <a:latin typeface="Verdana"/>
                <a:ea typeface="Verdana"/>
                <a:cs typeface="Verdana"/>
                <a:sym typeface="Verdana"/>
              </a:rPr>
              <a:t>DataPolis 2026 · Bagheria</a:t>
            </a:r>
            <a:endParaRPr/>
          </a:p>
        </p:txBody>
      </p:sp>
      <p:sp>
        <p:nvSpPr>
          <p:cNvPr id="261" name="Google Shape;261;p18"/>
          <p:cNvSpPr/>
          <p:nvPr/>
        </p:nvSpPr>
        <p:spPr>
          <a:xfrm>
            <a:off x="4193143" y="120000"/>
            <a:ext cx="800764" cy="105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5">
                <a:solidFill>
                  <a:srgbClr val="4B5052"/>
                </a:solidFill>
                <a:latin typeface="Verdana"/>
                <a:ea typeface="Verdana"/>
                <a:cs typeface="Verdana"/>
                <a:sym typeface="Verdana"/>
              </a:rPr>
              <a:t>POLICY PROPOSAL</a:t>
            </a:r>
            <a:endParaRPr/>
          </a:p>
        </p:txBody>
      </p:sp>
      <p:sp>
        <p:nvSpPr>
          <p:cNvPr id="262" name="Google Shape;262;p18"/>
          <p:cNvSpPr/>
          <p:nvPr/>
        </p:nvSpPr>
        <p:spPr>
          <a:xfrm>
            <a:off x="8790857" y="123429"/>
            <a:ext cx="111621" cy="86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68">
                <a:solidFill>
                  <a:srgbClr val="4B5052"/>
                </a:solidFill>
                <a:latin typeface="Verdana"/>
                <a:ea typeface="Verdana"/>
                <a:cs typeface="Verdana"/>
                <a:sym typeface="Verdana"/>
              </a:rPr>
              <a:t>16</a:t>
            </a:r>
            <a:endParaRPr/>
          </a:p>
        </p:txBody>
      </p:sp>
      <p:sp>
        <p:nvSpPr>
          <p:cNvPr id="263" name="Google Shape;263;p18"/>
          <p:cNvSpPr/>
          <p:nvPr/>
        </p:nvSpPr>
        <p:spPr>
          <a:xfrm>
            <a:off x="274286" y="500571"/>
            <a:ext cx="5319621" cy="2587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5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Target: due finestre, non un unico contenitore 18-25</a:t>
            </a:r>
            <a:endParaRPr/>
          </a:p>
        </p:txBody>
      </p:sp>
      <p:sp>
        <p:nvSpPr>
          <p:cNvPr id="264" name="Google Shape;264;p18"/>
          <p:cNvSpPr/>
          <p:nvPr/>
        </p:nvSpPr>
        <p:spPr>
          <a:xfrm>
            <a:off x="284571" y="761143"/>
            <a:ext cx="3979050" cy="151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2">
                <a:solidFill>
                  <a:srgbClr val="697078"/>
                </a:solidFill>
                <a:latin typeface="Verdana"/>
                <a:ea typeface="Verdana"/>
                <a:cs typeface="Verdana"/>
                <a:sym typeface="Verdana"/>
              </a:rPr>
              <a:t>La presa in carico distingue prevenzione e riattivazione. La quota di genere</a:t>
            </a:r>
            <a:endParaRPr/>
          </a:p>
        </p:txBody>
      </p:sp>
      <p:sp>
        <p:nvSpPr>
          <p:cNvPr id="265" name="Google Shape;265;p18"/>
          <p:cNvSpPr/>
          <p:nvPr/>
        </p:nvSpPr>
        <p:spPr>
          <a:xfrm>
            <a:off x="281143" y="929143"/>
            <a:ext cx="3169907" cy="151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0">
                <a:solidFill>
                  <a:srgbClr val="697078"/>
                </a:solidFill>
                <a:latin typeface="Verdana"/>
                <a:ea typeface="Verdana"/>
                <a:cs typeface="Verdana"/>
                <a:sym typeface="Verdana"/>
              </a:rPr>
              <a:t>obbliga a costruire canali diversi, non a escludere qualcuno.</a:t>
            </a:r>
            <a:endParaRPr/>
          </a:p>
        </p:txBody>
      </p:sp>
      <p:sp>
        <p:nvSpPr>
          <p:cNvPr id="266" name="Google Shape;266;p18"/>
          <p:cNvSpPr/>
          <p:nvPr/>
        </p:nvSpPr>
        <p:spPr>
          <a:xfrm>
            <a:off x="490286" y="1337143"/>
            <a:ext cx="773336" cy="1849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4">
                <a:solidFill>
                  <a:srgbClr val="1E71B7"/>
                </a:solidFill>
                <a:latin typeface="Verdana"/>
                <a:ea typeface="Verdana"/>
                <a:cs typeface="Verdana"/>
                <a:sym typeface="Verdana"/>
              </a:rPr>
              <a:t>Finestra A</a:t>
            </a:r>
            <a:endParaRPr/>
          </a:p>
        </p:txBody>
      </p:sp>
      <p:sp>
        <p:nvSpPr>
          <p:cNvPr id="267" name="Google Shape;267;p18"/>
          <p:cNvSpPr/>
          <p:nvPr/>
        </p:nvSpPr>
        <p:spPr>
          <a:xfrm>
            <a:off x="2547429" y="1337143"/>
            <a:ext cx="763050" cy="182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92">
                <a:solidFill>
                  <a:srgbClr val="E63931"/>
                </a:solidFill>
                <a:latin typeface="Verdana"/>
                <a:ea typeface="Verdana"/>
                <a:cs typeface="Verdana"/>
                <a:sym typeface="Verdana"/>
              </a:rPr>
              <a:t>Finestra B</a:t>
            </a:r>
            <a:endParaRPr/>
          </a:p>
        </p:txBody>
      </p:sp>
      <p:sp>
        <p:nvSpPr>
          <p:cNvPr id="268" name="Google Shape;268;p18"/>
          <p:cNvSpPr/>
          <p:nvPr/>
        </p:nvSpPr>
        <p:spPr>
          <a:xfrm>
            <a:off x="5081143" y="1337143"/>
            <a:ext cx="1119621" cy="185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6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Capacità pilota</a:t>
            </a:r>
            <a:endParaRPr/>
          </a:p>
        </p:txBody>
      </p:sp>
      <p:sp>
        <p:nvSpPr>
          <p:cNvPr id="269" name="Google Shape;269;p18"/>
          <p:cNvSpPr/>
          <p:nvPr/>
        </p:nvSpPr>
        <p:spPr>
          <a:xfrm>
            <a:off x="500571" y="1566857"/>
            <a:ext cx="1181336" cy="277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5">
                <a:solidFill>
                  <a:srgbClr val="1E71B7"/>
                </a:solidFill>
                <a:latin typeface="Verdana"/>
                <a:ea typeface="Verdana"/>
                <a:cs typeface="Verdana"/>
                <a:sym typeface="Verdana"/>
              </a:rPr>
              <a:t>18-20 anni</a:t>
            </a:r>
            <a:endParaRPr/>
          </a:p>
        </p:txBody>
      </p:sp>
      <p:sp>
        <p:nvSpPr>
          <p:cNvPr id="270" name="Google Shape;270;p18"/>
          <p:cNvSpPr/>
          <p:nvPr/>
        </p:nvSpPr>
        <p:spPr>
          <a:xfrm>
            <a:off x="2554286" y="1566857"/>
            <a:ext cx="1184764" cy="2780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10">
                <a:solidFill>
                  <a:srgbClr val="E63931"/>
                </a:solidFill>
                <a:latin typeface="Verdana"/>
                <a:ea typeface="Verdana"/>
                <a:cs typeface="Verdana"/>
                <a:sym typeface="Verdana"/>
              </a:rPr>
              <a:t>22-25 anni</a:t>
            </a:r>
            <a:endParaRPr/>
          </a:p>
        </p:txBody>
      </p:sp>
      <p:sp>
        <p:nvSpPr>
          <p:cNvPr id="271" name="Google Shape;271;p18"/>
          <p:cNvSpPr/>
          <p:nvPr/>
        </p:nvSpPr>
        <p:spPr>
          <a:xfrm>
            <a:off x="5088000" y="1580571"/>
            <a:ext cx="423621" cy="268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60">
                <a:solidFill>
                  <a:srgbClr val="DA6918"/>
                </a:solidFill>
                <a:latin typeface="Verdana"/>
                <a:ea typeface="Verdana"/>
                <a:cs typeface="Verdana"/>
                <a:sym typeface="Verdana"/>
              </a:rPr>
              <a:t>200</a:t>
            </a:r>
            <a:endParaRPr/>
          </a:p>
        </p:txBody>
      </p:sp>
      <p:sp>
        <p:nvSpPr>
          <p:cNvPr id="272" name="Google Shape;272;p18"/>
          <p:cNvSpPr/>
          <p:nvPr/>
        </p:nvSpPr>
        <p:spPr>
          <a:xfrm>
            <a:off x="6294857" y="1584000"/>
            <a:ext cx="581336" cy="2697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65">
                <a:solidFill>
                  <a:srgbClr val="C65FA4"/>
                </a:solidFill>
                <a:latin typeface="Verdana"/>
                <a:ea typeface="Verdana"/>
                <a:cs typeface="Verdana"/>
                <a:sym typeface="Verdana"/>
              </a:rPr>
              <a:t>≥100</a:t>
            </a:r>
            <a:endParaRPr/>
          </a:p>
        </p:txBody>
      </p:sp>
      <p:sp>
        <p:nvSpPr>
          <p:cNvPr id="273" name="Google Shape;273;p18"/>
          <p:cNvSpPr/>
          <p:nvPr/>
        </p:nvSpPr>
        <p:spPr>
          <a:xfrm>
            <a:off x="7529153" y="1580575"/>
            <a:ext cx="9003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88">
                <a:solidFill>
                  <a:srgbClr val="278B67"/>
                </a:solidFill>
                <a:latin typeface="Verdana"/>
                <a:ea typeface="Verdana"/>
                <a:cs typeface="Verdana"/>
                <a:sym typeface="Verdana"/>
              </a:rPr>
              <a:t>~18%</a:t>
            </a:r>
            <a:endParaRPr/>
          </a:p>
        </p:txBody>
      </p:sp>
      <p:sp>
        <p:nvSpPr>
          <p:cNvPr id="274" name="Google Shape;274;p18"/>
          <p:cNvSpPr/>
          <p:nvPr/>
        </p:nvSpPr>
        <p:spPr>
          <a:xfrm>
            <a:off x="5081143" y="1844571"/>
            <a:ext cx="598479" cy="1057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4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persone/anno</a:t>
            </a:r>
            <a:endParaRPr/>
          </a:p>
        </p:txBody>
      </p:sp>
      <p:sp>
        <p:nvSpPr>
          <p:cNvPr id="275" name="Google Shape;275;p18"/>
          <p:cNvSpPr/>
          <p:nvPr/>
        </p:nvSpPr>
        <p:spPr>
          <a:xfrm>
            <a:off x="6277714" y="1848000"/>
            <a:ext cx="649907" cy="105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4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donne prese in</a:t>
            </a:r>
            <a:endParaRPr/>
          </a:p>
        </p:txBody>
      </p:sp>
      <p:sp>
        <p:nvSpPr>
          <p:cNvPr id="276" name="Google Shape;276;p18"/>
          <p:cNvSpPr/>
          <p:nvPr/>
        </p:nvSpPr>
        <p:spPr>
          <a:xfrm>
            <a:off x="7512000" y="1848000"/>
            <a:ext cx="739050" cy="105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5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degli inattivi non</a:t>
            </a:r>
            <a:endParaRPr/>
          </a:p>
        </p:txBody>
      </p:sp>
      <p:sp>
        <p:nvSpPr>
          <p:cNvPr id="277" name="Google Shape;277;p18"/>
          <p:cNvSpPr/>
          <p:nvPr/>
        </p:nvSpPr>
        <p:spPr>
          <a:xfrm>
            <a:off x="490286" y="1906286"/>
            <a:ext cx="1572193" cy="1502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6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Uscita dalla scuola o entro 30</a:t>
            </a:r>
            <a:endParaRPr/>
          </a:p>
        </p:txBody>
      </p:sp>
      <p:sp>
        <p:nvSpPr>
          <p:cNvPr id="278" name="Google Shape;278;p18"/>
          <p:cNvSpPr/>
          <p:nvPr/>
        </p:nvSpPr>
        <p:spPr>
          <a:xfrm>
            <a:off x="2544000" y="1906286"/>
            <a:ext cx="1692193" cy="150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5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Giovani fuori da lavoro e studio.</a:t>
            </a:r>
            <a:endParaRPr/>
          </a:p>
        </p:txBody>
      </p:sp>
      <p:sp>
        <p:nvSpPr>
          <p:cNvPr id="279" name="Google Shape;279;p18"/>
          <p:cNvSpPr/>
          <p:nvPr/>
        </p:nvSpPr>
        <p:spPr>
          <a:xfrm>
            <a:off x="6277714" y="1968000"/>
            <a:ext cx="279621" cy="104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7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carico</a:t>
            </a:r>
            <a:endParaRPr/>
          </a:p>
        </p:txBody>
      </p:sp>
      <p:sp>
        <p:nvSpPr>
          <p:cNvPr id="280" name="Google Shape;280;p18"/>
          <p:cNvSpPr/>
          <p:nvPr/>
        </p:nvSpPr>
        <p:spPr>
          <a:xfrm>
            <a:off x="7512000" y="1968000"/>
            <a:ext cx="639621" cy="1059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5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studenti 15-24</a:t>
            </a:r>
            <a:endParaRPr/>
          </a:p>
        </p:txBody>
      </p:sp>
      <p:sp>
        <p:nvSpPr>
          <p:cNvPr id="281" name="Google Shape;281;p18"/>
          <p:cNvSpPr/>
          <p:nvPr/>
        </p:nvSpPr>
        <p:spPr>
          <a:xfrm>
            <a:off x="486857" y="2057143"/>
            <a:ext cx="1668193" cy="150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7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giorni dall’interruzione. Serve a</a:t>
            </a:r>
            <a:endParaRPr/>
          </a:p>
        </p:txBody>
      </p:sp>
      <p:sp>
        <p:nvSpPr>
          <p:cNvPr id="282" name="Google Shape;282;p18"/>
          <p:cNvSpPr/>
          <p:nvPr/>
        </p:nvSpPr>
        <p:spPr>
          <a:xfrm>
            <a:off x="2547429" y="2053714"/>
            <a:ext cx="1493336" cy="150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5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È la finestra di riattivazione,</a:t>
            </a:r>
            <a:endParaRPr/>
          </a:p>
        </p:txBody>
      </p:sp>
      <p:sp>
        <p:nvSpPr>
          <p:cNvPr id="283" name="Google Shape;283;p18"/>
          <p:cNvSpPr/>
          <p:nvPr/>
        </p:nvSpPr>
        <p:spPr>
          <a:xfrm>
            <a:off x="490286" y="2208000"/>
            <a:ext cx="1273907" cy="1494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1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intervenire prima che la</a:t>
            </a:r>
            <a:endParaRPr/>
          </a:p>
        </p:txBody>
      </p:sp>
      <p:sp>
        <p:nvSpPr>
          <p:cNvPr id="284" name="Google Shape;284;p18"/>
          <p:cNvSpPr/>
          <p:nvPr/>
        </p:nvSpPr>
        <p:spPr>
          <a:xfrm>
            <a:off x="2544000" y="2208000"/>
            <a:ext cx="1369907" cy="150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7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coerente con la perdita di</a:t>
            </a:r>
            <a:endParaRPr/>
          </a:p>
        </p:txBody>
      </p:sp>
      <p:sp>
        <p:nvSpPr>
          <p:cNvPr id="285" name="Google Shape;285;p18"/>
          <p:cNvSpPr/>
          <p:nvPr/>
        </p:nvSpPr>
        <p:spPr>
          <a:xfrm>
            <a:off x="486857" y="2358857"/>
            <a:ext cx="1465907" cy="150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5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disconnessione si consolidi.</a:t>
            </a:r>
            <a:endParaRPr/>
          </a:p>
        </p:txBody>
      </p:sp>
      <p:sp>
        <p:nvSpPr>
          <p:cNvPr id="286" name="Google Shape;286;p18"/>
          <p:cNvSpPr/>
          <p:nvPr/>
        </p:nvSpPr>
        <p:spPr>
          <a:xfrm>
            <a:off x="2547429" y="2358857"/>
            <a:ext cx="1126479" cy="1487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8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ritenzione femminile.</a:t>
            </a:r>
            <a:endParaRPr/>
          </a:p>
        </p:txBody>
      </p:sp>
      <p:sp>
        <p:nvSpPr>
          <p:cNvPr id="287" name="Google Shape;287;p18"/>
          <p:cNvSpPr/>
          <p:nvPr/>
        </p:nvSpPr>
        <p:spPr>
          <a:xfrm>
            <a:off x="5084571" y="2845714"/>
            <a:ext cx="1760764" cy="186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1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Perimetro da dichiarare</a:t>
            </a:r>
            <a:endParaRPr/>
          </a:p>
        </p:txBody>
      </p:sp>
      <p:sp>
        <p:nvSpPr>
          <p:cNvPr id="288" name="Google Shape;288;p18"/>
          <p:cNvSpPr/>
          <p:nvPr/>
        </p:nvSpPr>
        <p:spPr>
          <a:xfrm>
            <a:off x="5084575" y="3089150"/>
            <a:ext cx="3564600" cy="1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1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I dati principali osservano soprattutto il 15-24; la policy opera</a:t>
            </a:r>
            <a:endParaRPr/>
          </a:p>
        </p:txBody>
      </p:sp>
      <p:sp>
        <p:nvSpPr>
          <p:cNvPr id="289" name="Google Shape;289;p18"/>
          <p:cNvSpPr/>
          <p:nvPr/>
        </p:nvSpPr>
        <p:spPr>
          <a:xfrm>
            <a:off x="5081143" y="3243429"/>
            <a:ext cx="3224764" cy="151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2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sui 18-25. La sovrapposizione è parziale e va esplicitata, non</a:t>
            </a:r>
            <a:endParaRPr/>
          </a:p>
        </p:txBody>
      </p:sp>
      <p:sp>
        <p:nvSpPr>
          <p:cNvPr id="290" name="Google Shape;290;p18"/>
          <p:cNvSpPr/>
          <p:nvPr/>
        </p:nvSpPr>
        <p:spPr>
          <a:xfrm>
            <a:off x="5084571" y="3401143"/>
            <a:ext cx="512764" cy="144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87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nascosta.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9"/>
          <p:cNvSpPr/>
          <p:nvPr/>
        </p:nvSpPr>
        <p:spPr>
          <a:xfrm>
            <a:off x="229714" y="120000"/>
            <a:ext cx="900193" cy="96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6">
                <a:solidFill>
                  <a:srgbClr val="4B5052"/>
                </a:solidFill>
                <a:latin typeface="Verdana"/>
                <a:ea typeface="Verdana"/>
                <a:cs typeface="Verdana"/>
                <a:sym typeface="Verdana"/>
              </a:rPr>
              <a:t>DataPolis 2026 · Bagheria</a:t>
            </a:r>
            <a:endParaRPr/>
          </a:p>
        </p:txBody>
      </p:sp>
      <p:sp>
        <p:nvSpPr>
          <p:cNvPr id="298" name="Google Shape;298;p19"/>
          <p:cNvSpPr/>
          <p:nvPr/>
        </p:nvSpPr>
        <p:spPr>
          <a:xfrm>
            <a:off x="4193143" y="120000"/>
            <a:ext cx="800764" cy="105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5">
                <a:solidFill>
                  <a:srgbClr val="4B5052"/>
                </a:solidFill>
                <a:latin typeface="Verdana"/>
                <a:ea typeface="Verdana"/>
                <a:cs typeface="Verdana"/>
                <a:sym typeface="Verdana"/>
              </a:rPr>
              <a:t>POLICY PROPOSAL</a:t>
            </a:r>
            <a:endParaRPr/>
          </a:p>
        </p:txBody>
      </p:sp>
      <p:sp>
        <p:nvSpPr>
          <p:cNvPr id="299" name="Google Shape;299;p19"/>
          <p:cNvSpPr/>
          <p:nvPr/>
        </p:nvSpPr>
        <p:spPr>
          <a:xfrm>
            <a:off x="8790857" y="123429"/>
            <a:ext cx="111621" cy="86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68">
                <a:solidFill>
                  <a:srgbClr val="4B5052"/>
                </a:solidFill>
                <a:latin typeface="Verdana"/>
                <a:ea typeface="Verdana"/>
                <a:cs typeface="Verdana"/>
                <a:sym typeface="Verdana"/>
              </a:rPr>
              <a:t>17</a:t>
            </a:r>
            <a:endParaRPr/>
          </a:p>
        </p:txBody>
      </p:sp>
      <p:sp>
        <p:nvSpPr>
          <p:cNvPr id="300" name="Google Shape;300;p19"/>
          <p:cNvSpPr/>
          <p:nvPr/>
        </p:nvSpPr>
        <p:spPr>
          <a:xfrm>
            <a:off x="291429" y="500571"/>
            <a:ext cx="6814479" cy="2582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2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Dal contatto all’esito: il servizio deve produrre passaggi verificabili</a:t>
            </a:r>
            <a:endParaRPr/>
          </a:p>
        </p:txBody>
      </p:sp>
      <p:sp>
        <p:nvSpPr>
          <p:cNvPr id="301" name="Google Shape;301;p19"/>
          <p:cNvSpPr/>
          <p:nvPr/>
        </p:nvSpPr>
        <p:spPr>
          <a:xfrm>
            <a:off x="281152" y="774850"/>
            <a:ext cx="55698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3">
                <a:solidFill>
                  <a:srgbClr val="697078"/>
                </a:solidFill>
                <a:latin typeface="Verdana"/>
                <a:ea typeface="Verdana"/>
                <a:cs typeface="Verdana"/>
                <a:sym typeface="Verdana"/>
              </a:rPr>
              <a:t>Ogni presa in carico ha un output: contatto, piano entro 15 giorni, opportunità</a:t>
            </a:r>
            <a:endParaRPr/>
          </a:p>
        </p:txBody>
      </p:sp>
      <p:sp>
        <p:nvSpPr>
          <p:cNvPr id="302" name="Google Shape;302;p19"/>
          <p:cNvSpPr/>
          <p:nvPr/>
        </p:nvSpPr>
        <p:spPr>
          <a:xfrm>
            <a:off x="284571" y="929143"/>
            <a:ext cx="1150479" cy="149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0">
                <a:solidFill>
                  <a:srgbClr val="697078"/>
                </a:solidFill>
                <a:latin typeface="Verdana"/>
                <a:ea typeface="Verdana"/>
                <a:cs typeface="Verdana"/>
                <a:sym typeface="Verdana"/>
              </a:rPr>
              <a:t>praticabile, follow-up.</a:t>
            </a:r>
            <a:endParaRPr/>
          </a:p>
        </p:txBody>
      </p:sp>
      <p:sp>
        <p:nvSpPr>
          <p:cNvPr id="303" name="Google Shape;303;p19"/>
          <p:cNvSpPr/>
          <p:nvPr/>
        </p:nvSpPr>
        <p:spPr>
          <a:xfrm>
            <a:off x="593143" y="1837714"/>
            <a:ext cx="1167621" cy="149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2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nei luoghi e canali già</a:t>
            </a:r>
            <a:endParaRPr/>
          </a:p>
        </p:txBody>
      </p:sp>
      <p:sp>
        <p:nvSpPr>
          <p:cNvPr id="304" name="Google Shape;304;p19"/>
          <p:cNvSpPr/>
          <p:nvPr/>
        </p:nvSpPr>
        <p:spPr>
          <a:xfrm>
            <a:off x="2787429" y="1837714"/>
            <a:ext cx="1345907" cy="1496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3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prossima azione entro 15</a:t>
            </a:r>
            <a:endParaRPr/>
          </a:p>
        </p:txBody>
      </p:sp>
      <p:sp>
        <p:nvSpPr>
          <p:cNvPr id="305" name="Google Shape;305;p19"/>
          <p:cNvSpPr/>
          <p:nvPr/>
        </p:nvSpPr>
        <p:spPr>
          <a:xfrm>
            <a:off x="4978286" y="1837714"/>
            <a:ext cx="872764" cy="1490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9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attività, mentor,</a:t>
            </a:r>
            <a:endParaRPr/>
          </a:p>
        </p:txBody>
      </p:sp>
      <p:sp>
        <p:nvSpPr>
          <p:cNvPr id="306" name="Google Shape;306;p19"/>
          <p:cNvSpPr/>
          <p:nvPr/>
        </p:nvSpPr>
        <p:spPr>
          <a:xfrm>
            <a:off x="7169143" y="1837714"/>
            <a:ext cx="1383621" cy="1507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9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follow-up a 3, 6 e 12 mesi</a:t>
            </a:r>
            <a:endParaRPr/>
          </a:p>
        </p:txBody>
      </p:sp>
      <p:sp>
        <p:nvSpPr>
          <p:cNvPr id="307" name="Google Shape;307;p19"/>
          <p:cNvSpPr/>
          <p:nvPr/>
        </p:nvSpPr>
        <p:spPr>
          <a:xfrm>
            <a:off x="586286" y="1992000"/>
            <a:ext cx="605336" cy="148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7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frequentati</a:t>
            </a:r>
            <a:endParaRPr/>
          </a:p>
        </p:txBody>
      </p:sp>
      <p:sp>
        <p:nvSpPr>
          <p:cNvPr id="308" name="Google Shape;308;p19"/>
          <p:cNvSpPr/>
          <p:nvPr/>
        </p:nvSpPr>
        <p:spPr>
          <a:xfrm>
            <a:off x="2784000" y="1992000"/>
            <a:ext cx="317336" cy="144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82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giorni</a:t>
            </a:r>
            <a:endParaRPr/>
          </a:p>
        </p:txBody>
      </p:sp>
      <p:sp>
        <p:nvSpPr>
          <p:cNvPr id="309" name="Google Shape;309;p19"/>
          <p:cNvSpPr/>
          <p:nvPr/>
        </p:nvSpPr>
        <p:spPr>
          <a:xfrm>
            <a:off x="4978286" y="1992000"/>
            <a:ext cx="1188193" cy="150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5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compenso, sede, orari</a:t>
            </a:r>
            <a:endParaRPr/>
          </a:p>
        </p:txBody>
      </p:sp>
      <p:sp>
        <p:nvSpPr>
          <p:cNvPr id="310" name="Google Shape;310;p19"/>
          <p:cNvSpPr/>
          <p:nvPr/>
        </p:nvSpPr>
        <p:spPr>
          <a:xfrm>
            <a:off x="593143" y="3082286"/>
            <a:ext cx="2710479" cy="186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3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Perché outreach e non solo sportello</a:t>
            </a:r>
            <a:endParaRPr/>
          </a:p>
        </p:txBody>
      </p:sp>
      <p:sp>
        <p:nvSpPr>
          <p:cNvPr id="311" name="Google Shape;311;p19"/>
          <p:cNvSpPr/>
          <p:nvPr/>
        </p:nvSpPr>
        <p:spPr>
          <a:xfrm>
            <a:off x="593143" y="3329143"/>
            <a:ext cx="3313907" cy="151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1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La componente “in cerca” scende di 10,2 punti; gli inattivi non</a:t>
            </a:r>
            <a:endParaRPr/>
          </a:p>
        </p:txBody>
      </p:sp>
      <p:sp>
        <p:nvSpPr>
          <p:cNvPr id="312" name="Google Shape;312;p19"/>
          <p:cNvSpPr/>
          <p:nvPr/>
        </p:nvSpPr>
        <p:spPr>
          <a:xfrm>
            <a:off x="4638857" y="3329143"/>
            <a:ext cx="3557336" cy="1511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1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L’outreach apre il primo contatto: scuole secondarie, servizi sociali,</a:t>
            </a:r>
            <a:endParaRPr/>
          </a:p>
        </p:txBody>
      </p:sp>
      <p:sp>
        <p:nvSpPr>
          <p:cNvPr id="313" name="Google Shape;313;p19"/>
          <p:cNvSpPr/>
          <p:nvPr/>
        </p:nvSpPr>
        <p:spPr>
          <a:xfrm>
            <a:off x="589714" y="3480000"/>
            <a:ext cx="3475050" cy="1513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2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studenti solo di 0,6. Uno sportello intercetta chi è già più vicino al</a:t>
            </a:r>
            <a:endParaRPr/>
          </a:p>
        </p:txBody>
      </p:sp>
      <p:sp>
        <p:nvSpPr>
          <p:cNvPr id="314" name="Google Shape;314;p19"/>
          <p:cNvSpPr/>
          <p:nvPr/>
        </p:nvSpPr>
        <p:spPr>
          <a:xfrm>
            <a:off x="4635429" y="3466286"/>
            <a:ext cx="3557336" cy="151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2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consultori, associazioni e partner territoriali. I dati indicano i canali,</a:t>
            </a:r>
            <a:endParaRPr/>
          </a:p>
        </p:txBody>
      </p:sp>
      <p:sp>
        <p:nvSpPr>
          <p:cNvPr id="315" name="Google Shape;315;p19"/>
          <p:cNvSpPr/>
          <p:nvPr/>
        </p:nvSpPr>
        <p:spPr>
          <a:xfrm>
            <a:off x="593143" y="3634286"/>
            <a:ext cx="478479" cy="144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83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mercato.</a:t>
            </a:r>
            <a:endParaRPr/>
          </a:p>
        </p:txBody>
      </p:sp>
      <p:sp>
        <p:nvSpPr>
          <p:cNvPr id="316" name="Google Shape;316;p19"/>
          <p:cNvSpPr/>
          <p:nvPr/>
        </p:nvSpPr>
        <p:spPr>
          <a:xfrm>
            <a:off x="4638857" y="3630857"/>
            <a:ext cx="1119621" cy="149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9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non liste nominative.</a:t>
            </a:r>
            <a:endParaRPr/>
          </a:p>
        </p:txBody>
      </p:sp>
      <p:sp>
        <p:nvSpPr>
          <p:cNvPr id="317" name="Google Shape;317;p19"/>
          <p:cNvSpPr/>
          <p:nvPr/>
        </p:nvSpPr>
        <p:spPr>
          <a:xfrm>
            <a:off x="864000" y="1481143"/>
            <a:ext cx="1136764" cy="185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9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Contatto attivo</a:t>
            </a:r>
            <a:endParaRPr/>
          </a:p>
        </p:txBody>
      </p:sp>
      <p:sp>
        <p:nvSpPr>
          <p:cNvPr id="318" name="Google Shape;318;p19"/>
          <p:cNvSpPr/>
          <p:nvPr/>
        </p:nvSpPr>
        <p:spPr>
          <a:xfrm>
            <a:off x="3061725" y="1481150"/>
            <a:ext cx="1233300" cy="1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7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Piano individuale</a:t>
            </a:r>
            <a:endParaRPr sz="1300"/>
          </a:p>
        </p:txBody>
      </p:sp>
      <p:sp>
        <p:nvSpPr>
          <p:cNvPr id="319" name="Google Shape;319;p19"/>
          <p:cNvSpPr/>
          <p:nvPr/>
        </p:nvSpPr>
        <p:spPr>
          <a:xfrm>
            <a:off x="5252574" y="1481150"/>
            <a:ext cx="11883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0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Opportunità verificata</a:t>
            </a:r>
            <a:endParaRPr/>
          </a:p>
        </p:txBody>
      </p:sp>
      <p:sp>
        <p:nvSpPr>
          <p:cNvPr id="320" name="Google Shape;320;p19"/>
          <p:cNvSpPr/>
          <p:nvPr/>
        </p:nvSpPr>
        <p:spPr>
          <a:xfrm>
            <a:off x="7450286" y="1481143"/>
            <a:ext cx="982479" cy="1836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97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Esiti misurati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20"/>
          <p:cNvSpPr/>
          <p:nvPr/>
        </p:nvSpPr>
        <p:spPr>
          <a:xfrm>
            <a:off x="4193143" y="120000"/>
            <a:ext cx="800764" cy="105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5">
                <a:solidFill>
                  <a:srgbClr val="4D4F4D"/>
                </a:solidFill>
                <a:latin typeface="Verdana"/>
                <a:ea typeface="Verdana"/>
                <a:cs typeface="Verdana"/>
                <a:sym typeface="Verdana"/>
              </a:rPr>
              <a:t>POLICY PROPOSAL</a:t>
            </a:r>
            <a:endParaRPr/>
          </a:p>
        </p:txBody>
      </p:sp>
      <p:sp>
        <p:nvSpPr>
          <p:cNvPr id="328" name="Google Shape;328;p20"/>
          <p:cNvSpPr/>
          <p:nvPr/>
        </p:nvSpPr>
        <p:spPr>
          <a:xfrm>
            <a:off x="8790857" y="123429"/>
            <a:ext cx="111621" cy="86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68">
                <a:solidFill>
                  <a:srgbClr val="50504A"/>
                </a:solidFill>
                <a:latin typeface="Verdana"/>
                <a:ea typeface="Verdana"/>
                <a:cs typeface="Verdana"/>
                <a:sym typeface="Verdana"/>
              </a:rPr>
              <a:t>18</a:t>
            </a:r>
            <a:endParaRPr/>
          </a:p>
        </p:txBody>
      </p:sp>
      <p:sp>
        <p:nvSpPr>
          <p:cNvPr id="329" name="Google Shape;329;p20"/>
          <p:cNvSpPr/>
          <p:nvPr/>
        </p:nvSpPr>
        <p:spPr>
          <a:xfrm>
            <a:off x="229714" y="120000"/>
            <a:ext cx="900193" cy="96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6">
                <a:solidFill>
                  <a:srgbClr val="51504A"/>
                </a:solidFill>
                <a:latin typeface="Verdana"/>
                <a:ea typeface="Verdana"/>
                <a:cs typeface="Verdana"/>
                <a:sym typeface="Verdana"/>
              </a:rPr>
              <a:t>DataPolis 2026 · Bagheria</a:t>
            </a:r>
            <a:endParaRPr/>
          </a:p>
        </p:txBody>
      </p:sp>
      <p:sp>
        <p:nvSpPr>
          <p:cNvPr id="330" name="Google Shape;330;p20"/>
          <p:cNvSpPr/>
          <p:nvPr/>
        </p:nvSpPr>
        <p:spPr>
          <a:xfrm>
            <a:off x="291429" y="497143"/>
            <a:ext cx="5669336" cy="258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1">
                <a:solidFill>
                  <a:srgbClr val="102236"/>
                </a:solidFill>
                <a:latin typeface="Verdana"/>
                <a:ea typeface="Verdana"/>
                <a:cs typeface="Verdana"/>
                <a:sym typeface="Verdana"/>
              </a:rPr>
              <a:t>Mobilità: non infrastruttura, ma vincolo di ammissibilità</a:t>
            </a:r>
            <a:endParaRPr/>
          </a:p>
        </p:txBody>
      </p:sp>
      <p:sp>
        <p:nvSpPr>
          <p:cNvPr id="331" name="Google Shape;331;p20"/>
          <p:cNvSpPr/>
          <p:nvPr/>
        </p:nvSpPr>
        <p:spPr>
          <a:xfrm>
            <a:off x="284575" y="761150"/>
            <a:ext cx="45276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3">
                <a:solidFill>
                  <a:srgbClr val="6E7072"/>
                </a:solidFill>
                <a:latin typeface="Verdana"/>
                <a:ea typeface="Verdana"/>
                <a:cs typeface="Verdana"/>
                <a:sym typeface="Verdana"/>
              </a:rPr>
              <a:t>Il problema non è “portare il treno”: è non progettare opportunità dando per</a:t>
            </a:r>
            <a:endParaRPr/>
          </a:p>
        </p:txBody>
      </p:sp>
      <p:sp>
        <p:nvSpPr>
          <p:cNvPr id="332" name="Google Shape;332;p20"/>
          <p:cNvSpPr/>
          <p:nvPr/>
        </p:nvSpPr>
        <p:spPr>
          <a:xfrm>
            <a:off x="281143" y="929143"/>
            <a:ext cx="831621" cy="148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4">
                <a:solidFill>
                  <a:srgbClr val="6D6F6F"/>
                </a:solidFill>
                <a:latin typeface="Verdana"/>
                <a:ea typeface="Verdana"/>
                <a:cs typeface="Verdana"/>
                <a:sym typeface="Verdana"/>
              </a:rPr>
              <a:t>scontata l’auto.</a:t>
            </a:r>
            <a:endParaRPr/>
          </a:p>
        </p:txBody>
      </p:sp>
      <p:sp>
        <p:nvSpPr>
          <p:cNvPr id="333" name="Google Shape;333;p20"/>
          <p:cNvSpPr/>
          <p:nvPr/>
        </p:nvSpPr>
        <p:spPr>
          <a:xfrm>
            <a:off x="5355429" y="1268571"/>
            <a:ext cx="1318479" cy="185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7">
                <a:solidFill>
                  <a:srgbClr val="102234"/>
                </a:solidFill>
                <a:latin typeface="Verdana"/>
                <a:ea typeface="Verdana"/>
                <a:cs typeface="Verdana"/>
                <a:sym typeface="Verdana"/>
              </a:rPr>
              <a:t>Cosa dicono i dati</a:t>
            </a:r>
            <a:endParaRPr/>
          </a:p>
        </p:txBody>
      </p:sp>
      <p:sp>
        <p:nvSpPr>
          <p:cNvPr id="334" name="Google Shape;334;p20"/>
          <p:cNvSpPr/>
          <p:nvPr/>
        </p:nvSpPr>
        <p:spPr>
          <a:xfrm>
            <a:off x="5362269" y="1553150"/>
            <a:ext cx="2755200" cy="2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38">
                <a:solidFill>
                  <a:srgbClr val="C05F9E"/>
                </a:solidFill>
                <a:latin typeface="Verdana"/>
                <a:ea typeface="Verdana"/>
                <a:cs typeface="Verdana"/>
                <a:sym typeface="Verdana"/>
              </a:rPr>
              <a:t>31,5% vs 16,4%</a:t>
            </a:r>
            <a:endParaRPr/>
          </a:p>
        </p:txBody>
      </p:sp>
      <p:sp>
        <p:nvSpPr>
          <p:cNvPr id="335" name="Google Shape;335;p20"/>
          <p:cNvSpPr/>
          <p:nvPr/>
        </p:nvSpPr>
        <p:spPr>
          <a:xfrm>
            <a:off x="5355429" y="1803429"/>
            <a:ext cx="2953907" cy="1512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1">
                <a:solidFill>
                  <a:srgbClr val="15212E"/>
                </a:solidFill>
                <a:latin typeface="Verdana"/>
                <a:ea typeface="Verdana"/>
                <a:cs typeface="Verdana"/>
                <a:sym typeface="Verdana"/>
              </a:rPr>
              <a:t>uso del treno: donne vs uomini fra chi esce da Bagheria</a:t>
            </a:r>
            <a:endParaRPr/>
          </a:p>
        </p:txBody>
      </p:sp>
      <p:sp>
        <p:nvSpPr>
          <p:cNvPr id="336" name="Google Shape;336;p20"/>
          <p:cNvSpPr/>
          <p:nvPr/>
        </p:nvSpPr>
        <p:spPr>
          <a:xfrm>
            <a:off x="5358857" y="2043429"/>
            <a:ext cx="1585907" cy="2826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35">
                <a:solidFill>
                  <a:srgbClr val="DA6917"/>
                </a:solidFill>
                <a:latin typeface="Verdana"/>
                <a:ea typeface="Verdana"/>
                <a:cs typeface="Verdana"/>
                <a:sym typeface="Verdana"/>
              </a:rPr>
              <a:t>98° percentile</a:t>
            </a:r>
            <a:endParaRPr/>
          </a:p>
        </p:txBody>
      </p:sp>
      <p:sp>
        <p:nvSpPr>
          <p:cNvPr id="337" name="Google Shape;337;p20"/>
          <p:cNvSpPr/>
          <p:nvPr/>
        </p:nvSpPr>
        <p:spPr>
          <a:xfrm>
            <a:off x="5358857" y="2300571"/>
            <a:ext cx="2545907" cy="150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0">
                <a:solidFill>
                  <a:srgbClr val="15212E"/>
                </a:solidFill>
                <a:latin typeface="Verdana"/>
                <a:ea typeface="Verdana"/>
                <a:cs typeface="Verdana"/>
                <a:sym typeface="Verdana"/>
              </a:rPr>
              <a:t>il treno è già l’asset di mobilità più distintivo del</a:t>
            </a:r>
            <a:endParaRPr/>
          </a:p>
        </p:txBody>
      </p:sp>
      <p:sp>
        <p:nvSpPr>
          <p:cNvPr id="338" name="Google Shape;338;p20"/>
          <p:cNvSpPr/>
          <p:nvPr/>
        </p:nvSpPr>
        <p:spPr>
          <a:xfrm>
            <a:off x="5355429" y="2454857"/>
            <a:ext cx="444193" cy="147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99">
                <a:solidFill>
                  <a:srgbClr val="15222E"/>
                </a:solidFill>
                <a:latin typeface="Verdana"/>
                <a:ea typeface="Verdana"/>
                <a:cs typeface="Verdana"/>
                <a:sym typeface="Verdana"/>
              </a:rPr>
              <a:t>comune</a:t>
            </a:r>
            <a:endParaRPr/>
          </a:p>
        </p:txBody>
      </p:sp>
      <p:sp>
        <p:nvSpPr>
          <p:cNvPr id="339" name="Google Shape;339;p20"/>
          <p:cNvSpPr/>
          <p:nvPr/>
        </p:nvSpPr>
        <p:spPr>
          <a:xfrm>
            <a:off x="5365714" y="2694857"/>
            <a:ext cx="2696764" cy="283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39">
                <a:solidFill>
                  <a:srgbClr val="2070B4"/>
                </a:solidFill>
                <a:latin typeface="Verdana"/>
                <a:ea typeface="Verdana"/>
                <a:cs typeface="Verdana"/>
                <a:sym typeface="Verdana"/>
              </a:rPr>
              <a:t>Nessun effetto generale</a:t>
            </a:r>
            <a:endParaRPr/>
          </a:p>
        </p:txBody>
      </p:sp>
      <p:sp>
        <p:nvSpPr>
          <p:cNvPr id="340" name="Google Shape;340;p20"/>
          <p:cNvSpPr/>
          <p:nvPr/>
        </p:nvSpPr>
        <p:spPr>
          <a:xfrm>
            <a:off x="5358857" y="2952000"/>
            <a:ext cx="2583621" cy="1511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1">
                <a:solidFill>
                  <a:srgbClr val="16212E"/>
                </a:solidFill>
                <a:latin typeface="Verdana"/>
                <a:ea typeface="Verdana"/>
                <a:cs typeface="Verdana"/>
                <a:sym typeface="Verdana"/>
              </a:rPr>
              <a:t>mezzo collettivo e treno non spiegano un divario</a:t>
            </a:r>
            <a:endParaRPr/>
          </a:p>
        </p:txBody>
      </p:sp>
      <p:sp>
        <p:nvSpPr>
          <p:cNvPr id="341" name="Google Shape;341;p20"/>
          <p:cNvSpPr/>
          <p:nvPr/>
        </p:nvSpPr>
        <p:spPr>
          <a:xfrm>
            <a:off x="5358857" y="3106286"/>
            <a:ext cx="1219050" cy="14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1">
                <a:solidFill>
                  <a:srgbClr val="15212E"/>
                </a:solidFill>
                <a:latin typeface="Verdana"/>
                <a:ea typeface="Verdana"/>
                <a:cs typeface="Verdana"/>
                <a:sym typeface="Verdana"/>
              </a:rPr>
              <a:t>minore sui 390 comuni</a:t>
            </a:r>
            <a:endParaRPr/>
          </a:p>
        </p:txBody>
      </p:sp>
      <p:sp>
        <p:nvSpPr>
          <p:cNvPr id="342" name="Google Shape;342;p20"/>
          <p:cNvSpPr/>
          <p:nvPr/>
        </p:nvSpPr>
        <p:spPr>
          <a:xfrm>
            <a:off x="5496000" y="3414857"/>
            <a:ext cx="2672764" cy="15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1">
                <a:solidFill>
                  <a:srgbClr val="102333"/>
                </a:solidFill>
                <a:latin typeface="Verdana"/>
                <a:ea typeface="Verdana"/>
                <a:cs typeface="Verdana"/>
                <a:sym typeface="Verdana"/>
              </a:rPr>
              <a:t>Regola: nessuna opportunità entra nel piano</a:t>
            </a:r>
            <a:endParaRPr/>
          </a:p>
        </p:txBody>
      </p:sp>
      <p:sp>
        <p:nvSpPr>
          <p:cNvPr id="343" name="Google Shape;343;p20"/>
          <p:cNvSpPr/>
          <p:nvPr/>
        </p:nvSpPr>
        <p:spPr>
          <a:xfrm>
            <a:off x="5489143" y="3562286"/>
            <a:ext cx="2755050" cy="1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2">
                <a:solidFill>
                  <a:srgbClr val="102233"/>
                </a:solidFill>
                <a:latin typeface="Verdana"/>
                <a:ea typeface="Verdana"/>
                <a:cs typeface="Verdana"/>
                <a:sym typeface="Verdana"/>
              </a:rPr>
              <a:t>senza verifica di mezzo collettivo e orari reali.</a:t>
            </a:r>
            <a:endParaRPr/>
          </a:p>
        </p:txBody>
      </p:sp>
      <p:pic>
        <p:nvPicPr>
          <p:cNvPr id="344" name="Google Shape;344;p20" title="Screenshot from 2026-09-23 22-38-3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425" y="1129200"/>
            <a:ext cx="4626950" cy="294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21"/>
          <p:cNvSpPr/>
          <p:nvPr/>
        </p:nvSpPr>
        <p:spPr>
          <a:xfrm>
            <a:off x="4193143" y="120000"/>
            <a:ext cx="800764" cy="105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5">
                <a:solidFill>
                  <a:srgbClr val="4D4F4D"/>
                </a:solidFill>
                <a:latin typeface="Verdana"/>
                <a:ea typeface="Verdana"/>
                <a:cs typeface="Verdana"/>
                <a:sym typeface="Verdana"/>
              </a:rPr>
              <a:t>POLICY PROPOSAL</a:t>
            </a:r>
            <a:endParaRPr/>
          </a:p>
        </p:txBody>
      </p:sp>
      <p:sp>
        <p:nvSpPr>
          <p:cNvPr id="352" name="Google Shape;352;p21"/>
          <p:cNvSpPr/>
          <p:nvPr/>
        </p:nvSpPr>
        <p:spPr>
          <a:xfrm>
            <a:off x="8790857" y="123429"/>
            <a:ext cx="111621" cy="86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68">
                <a:solidFill>
                  <a:srgbClr val="50504A"/>
                </a:solidFill>
                <a:latin typeface="Verdana"/>
                <a:ea typeface="Verdana"/>
                <a:cs typeface="Verdana"/>
                <a:sym typeface="Verdana"/>
              </a:rPr>
              <a:t>19</a:t>
            </a:r>
            <a:endParaRPr/>
          </a:p>
        </p:txBody>
      </p:sp>
      <p:sp>
        <p:nvSpPr>
          <p:cNvPr id="353" name="Google Shape;353;p21"/>
          <p:cNvSpPr/>
          <p:nvPr/>
        </p:nvSpPr>
        <p:spPr>
          <a:xfrm>
            <a:off x="229714" y="120000"/>
            <a:ext cx="900193" cy="96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6">
                <a:solidFill>
                  <a:srgbClr val="51504A"/>
                </a:solidFill>
                <a:latin typeface="Verdana"/>
                <a:ea typeface="Verdana"/>
                <a:cs typeface="Verdana"/>
                <a:sym typeface="Verdana"/>
              </a:rPr>
              <a:t>DataPolis 2026 · Bagheria</a:t>
            </a:r>
            <a:endParaRPr/>
          </a:p>
        </p:txBody>
      </p:sp>
      <p:sp>
        <p:nvSpPr>
          <p:cNvPr id="354" name="Google Shape;354;p21"/>
          <p:cNvSpPr/>
          <p:nvPr/>
        </p:nvSpPr>
        <p:spPr>
          <a:xfrm>
            <a:off x="291429" y="500571"/>
            <a:ext cx="5617907" cy="258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2">
                <a:solidFill>
                  <a:srgbClr val="102235"/>
                </a:solidFill>
                <a:latin typeface="Verdana"/>
                <a:ea typeface="Verdana"/>
                <a:cs typeface="Verdana"/>
                <a:sym typeface="Verdana"/>
              </a:rPr>
              <a:t>KPI territoriali: il target va scritto in tasso, non in teste</a:t>
            </a:r>
            <a:endParaRPr/>
          </a:p>
        </p:txBody>
      </p:sp>
      <p:sp>
        <p:nvSpPr>
          <p:cNvPr id="355" name="Google Shape;355;p21"/>
          <p:cNvSpPr/>
          <p:nvPr/>
        </p:nvSpPr>
        <p:spPr>
          <a:xfrm>
            <a:off x="284571" y="774857"/>
            <a:ext cx="3529907" cy="1512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1">
                <a:solidFill>
                  <a:srgbClr val="6D6F71"/>
                </a:solidFill>
                <a:latin typeface="Verdana"/>
                <a:ea typeface="Verdana"/>
                <a:cs typeface="Verdana"/>
                <a:sym typeface="Verdana"/>
              </a:rPr>
              <a:t>Il denominatore femminile 15-24 si restringe: “+40 occupate” vale</a:t>
            </a:r>
            <a:endParaRPr/>
          </a:p>
        </p:txBody>
      </p:sp>
      <p:sp>
        <p:nvSpPr>
          <p:cNvPr id="356" name="Google Shape;356;p21"/>
          <p:cNvSpPr/>
          <p:nvPr/>
        </p:nvSpPr>
        <p:spPr>
          <a:xfrm>
            <a:off x="281143" y="929143"/>
            <a:ext cx="1856764" cy="150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6">
                <a:solidFill>
                  <a:srgbClr val="6D6E6F"/>
                </a:solidFill>
                <a:latin typeface="Verdana"/>
                <a:ea typeface="Verdana"/>
                <a:cs typeface="Verdana"/>
                <a:sym typeface="Verdana"/>
              </a:rPr>
              <a:t>diversamente a seconda dell’anno.</a:t>
            </a:r>
            <a:endParaRPr/>
          </a:p>
        </p:txBody>
      </p:sp>
      <p:sp>
        <p:nvSpPr>
          <p:cNvPr id="357" name="Google Shape;357;p21"/>
          <p:cNvSpPr/>
          <p:nvPr/>
        </p:nvSpPr>
        <p:spPr>
          <a:xfrm>
            <a:off x="5701714" y="1268571"/>
            <a:ext cx="835050" cy="1829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94">
                <a:solidFill>
                  <a:srgbClr val="102235"/>
                </a:solidFill>
                <a:latin typeface="Verdana"/>
                <a:ea typeface="Verdana"/>
                <a:cs typeface="Verdana"/>
                <a:sym typeface="Verdana"/>
              </a:rPr>
              <a:t>KPI primari</a:t>
            </a:r>
            <a:endParaRPr/>
          </a:p>
        </p:txBody>
      </p:sp>
      <p:sp>
        <p:nvSpPr>
          <p:cNvPr id="358" name="Google Shape;358;p21"/>
          <p:cNvSpPr/>
          <p:nvPr/>
        </p:nvSpPr>
        <p:spPr>
          <a:xfrm>
            <a:off x="5705155" y="1566850"/>
            <a:ext cx="2017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7">
                <a:solidFill>
                  <a:srgbClr val="E43A32"/>
                </a:solidFill>
                <a:latin typeface="Verdana"/>
                <a:ea typeface="Verdana"/>
                <a:cs typeface="Verdana"/>
                <a:sym typeface="Verdana"/>
              </a:rPr>
              <a:t>8,2 → 9,6%</a:t>
            </a:r>
            <a:endParaRPr/>
          </a:p>
        </p:txBody>
      </p:sp>
      <p:sp>
        <p:nvSpPr>
          <p:cNvPr id="359" name="Google Shape;359;p21"/>
          <p:cNvSpPr/>
          <p:nvPr/>
        </p:nvSpPr>
        <p:spPr>
          <a:xfrm>
            <a:off x="5694834" y="1830850"/>
            <a:ext cx="1797900" cy="1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6">
                <a:solidFill>
                  <a:srgbClr val="132231"/>
                </a:solidFill>
                <a:latin typeface="Verdana"/>
                <a:ea typeface="Verdana"/>
                <a:cs typeface="Verdana"/>
                <a:sym typeface="Verdana"/>
              </a:rPr>
              <a:t>occupazione </a:t>
            </a:r>
            <a:r>
              <a:rPr b="1" lang="en-US" sz="577">
                <a:solidFill>
                  <a:srgbClr val="132231"/>
                </a:solidFill>
                <a:latin typeface="Verdana"/>
                <a:ea typeface="Verdana"/>
                <a:cs typeface="Verdana"/>
                <a:sym typeface="Verdana"/>
              </a:rPr>
              <a:t>femminile 15-24,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76">
              <a:solidFill>
                <a:srgbClr val="13223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0" name="Google Shape;360;p21"/>
          <p:cNvSpPr/>
          <p:nvPr/>
        </p:nvSpPr>
        <p:spPr>
          <a:xfrm>
            <a:off x="5712000" y="2458275"/>
            <a:ext cx="1935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DA6918"/>
                </a:solidFill>
                <a:latin typeface="Verdana"/>
                <a:ea typeface="Verdana"/>
                <a:cs typeface="Verdana"/>
                <a:sym typeface="Verdana"/>
              </a:rPr>
              <a:t>13,4 → 11,3%</a:t>
            </a:r>
            <a:endParaRPr/>
          </a:p>
        </p:txBody>
      </p:sp>
      <p:sp>
        <p:nvSpPr>
          <p:cNvPr id="361" name="Google Shape;361;p21"/>
          <p:cNvSpPr/>
          <p:nvPr/>
        </p:nvSpPr>
        <p:spPr>
          <a:xfrm>
            <a:off x="5694844" y="2722275"/>
            <a:ext cx="1563900" cy="1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6">
                <a:solidFill>
                  <a:srgbClr val="132232"/>
                </a:solidFill>
                <a:latin typeface="Verdana"/>
                <a:ea typeface="Verdana"/>
                <a:cs typeface="Verdana"/>
                <a:sym typeface="Verdana"/>
              </a:rPr>
              <a:t>quota “casalinghe” </a:t>
            </a:r>
            <a:r>
              <a:rPr b="1" lang="en-US" sz="573">
                <a:solidFill>
                  <a:srgbClr val="132230"/>
                </a:solidFill>
                <a:latin typeface="Verdana"/>
                <a:ea typeface="Verdana"/>
                <a:cs typeface="Verdana"/>
                <a:sym typeface="Verdana"/>
              </a:rPr>
              <a:t>15-24, lettura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76">
              <a:solidFill>
                <a:srgbClr val="13223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2" name="Google Shape;362;p21"/>
          <p:cNvSpPr/>
          <p:nvPr/>
        </p:nvSpPr>
        <p:spPr>
          <a:xfrm>
            <a:off x="5698286" y="2842286"/>
            <a:ext cx="601907" cy="105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1"/>
          <p:cNvSpPr/>
          <p:nvPr/>
        </p:nvSpPr>
        <p:spPr>
          <a:xfrm>
            <a:off x="5712011" y="2852811"/>
            <a:ext cx="694500" cy="1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6">
                <a:solidFill>
                  <a:srgbClr val="142230"/>
                </a:solidFill>
                <a:latin typeface="Verdana"/>
                <a:ea typeface="Verdana"/>
                <a:cs typeface="Verdana"/>
                <a:sym typeface="Verdana"/>
              </a:rPr>
              <a:t>biennio/triennio</a:t>
            </a:r>
            <a:endParaRPr/>
          </a:p>
        </p:txBody>
      </p:sp>
      <p:sp>
        <p:nvSpPr>
          <p:cNvPr id="364" name="Google Shape;364;p21"/>
          <p:cNvSpPr/>
          <p:nvPr/>
        </p:nvSpPr>
        <p:spPr>
          <a:xfrm>
            <a:off x="5694814" y="3214364"/>
            <a:ext cx="1246500" cy="1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5">
                <a:solidFill>
                  <a:srgbClr val="102235"/>
                </a:solidFill>
                <a:latin typeface="Verdana"/>
                <a:ea typeface="Verdana"/>
                <a:cs typeface="Verdana"/>
                <a:sym typeface="Verdana"/>
              </a:rPr>
              <a:t>Regola di lettura</a:t>
            </a:r>
            <a:endParaRPr/>
          </a:p>
        </p:txBody>
      </p:sp>
      <p:sp>
        <p:nvSpPr>
          <p:cNvPr id="365" name="Google Shape;365;p21"/>
          <p:cNvSpPr/>
          <p:nvPr/>
        </p:nvSpPr>
        <p:spPr>
          <a:xfrm>
            <a:off x="5701725" y="3466000"/>
            <a:ext cx="29571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0">
                <a:solidFill>
                  <a:srgbClr val="16212E"/>
                </a:solidFill>
                <a:latin typeface="Verdana"/>
                <a:ea typeface="Verdana"/>
                <a:cs typeface="Verdana"/>
                <a:sym typeface="Verdana"/>
              </a:rPr>
              <a:t>Il numero di persone serve per comunicare l’ordine </a:t>
            </a:r>
            <a:r>
              <a:rPr lang="en-US" sz="819">
                <a:solidFill>
                  <a:srgbClr val="162230"/>
                </a:solidFill>
                <a:latin typeface="Verdana"/>
                <a:ea typeface="Verdana"/>
                <a:cs typeface="Verdana"/>
                <a:sym typeface="Verdana"/>
              </a:rPr>
              <a:t>di grandezza; la misura formale è il tasso, </a:t>
            </a:r>
            <a:r>
              <a:rPr lang="en-US" sz="817">
                <a:solidFill>
                  <a:srgbClr val="15212E"/>
                </a:solidFill>
                <a:latin typeface="Verdana"/>
                <a:ea typeface="Verdana"/>
                <a:cs typeface="Verdana"/>
                <a:sym typeface="Verdana"/>
              </a:rPr>
              <a:t>riparametrato sulla platea dell’anno.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19">
              <a:solidFill>
                <a:srgbClr val="16223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20">
              <a:solidFill>
                <a:srgbClr val="16212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6" name="Google Shape;366;p21"/>
          <p:cNvSpPr/>
          <p:nvPr/>
        </p:nvSpPr>
        <p:spPr>
          <a:xfrm>
            <a:off x="5698286" y="3795429"/>
            <a:ext cx="2220193" cy="150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1"/>
          <p:cNvSpPr/>
          <p:nvPr/>
        </p:nvSpPr>
        <p:spPr>
          <a:xfrm>
            <a:off x="5701714" y="3963429"/>
            <a:ext cx="1935621" cy="150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8" name="Google Shape;368;p21" title="Screenshot from 2026-09-23 22-48-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150" y="1082500"/>
            <a:ext cx="5001775" cy="2984749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1"/>
          <p:cNvSpPr/>
          <p:nvPr/>
        </p:nvSpPr>
        <p:spPr>
          <a:xfrm>
            <a:off x="2477125" y="1171225"/>
            <a:ext cx="2220300" cy="281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2"/>
          <p:cNvSpPr/>
          <p:nvPr/>
        </p:nvSpPr>
        <p:spPr>
          <a:xfrm>
            <a:off x="229714" y="120000"/>
            <a:ext cx="900193" cy="96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6">
                <a:solidFill>
                  <a:srgbClr val="51504A"/>
                </a:solidFill>
                <a:latin typeface="Verdana"/>
                <a:ea typeface="Verdana"/>
                <a:cs typeface="Verdana"/>
                <a:sym typeface="Verdana"/>
              </a:rPr>
              <a:t>DataPolis 2026 · Bagheria</a:t>
            </a:r>
            <a:endParaRPr/>
          </a:p>
        </p:txBody>
      </p:sp>
      <p:sp>
        <p:nvSpPr>
          <p:cNvPr id="377" name="Google Shape;377;p22"/>
          <p:cNvSpPr/>
          <p:nvPr/>
        </p:nvSpPr>
        <p:spPr>
          <a:xfrm>
            <a:off x="4193143" y="120000"/>
            <a:ext cx="800764" cy="105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5">
                <a:solidFill>
                  <a:srgbClr val="4D4F4D"/>
                </a:solidFill>
                <a:latin typeface="Verdana"/>
                <a:ea typeface="Verdana"/>
                <a:cs typeface="Verdana"/>
                <a:sym typeface="Verdana"/>
              </a:rPr>
              <a:t>POLICY PROPOSAL</a:t>
            </a:r>
            <a:endParaRPr/>
          </a:p>
        </p:txBody>
      </p:sp>
      <p:sp>
        <p:nvSpPr>
          <p:cNvPr id="378" name="Google Shape;378;p22"/>
          <p:cNvSpPr/>
          <p:nvPr/>
        </p:nvSpPr>
        <p:spPr>
          <a:xfrm>
            <a:off x="8787429" y="123429"/>
            <a:ext cx="115050" cy="9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89">
                <a:solidFill>
                  <a:srgbClr val="53514A"/>
                </a:solidFill>
                <a:latin typeface="Verdana"/>
                <a:ea typeface="Verdana"/>
                <a:cs typeface="Verdana"/>
                <a:sym typeface="Verdana"/>
              </a:rPr>
              <a:t>20</a:t>
            </a:r>
            <a:endParaRPr/>
          </a:p>
        </p:txBody>
      </p:sp>
      <p:sp>
        <p:nvSpPr>
          <p:cNvPr id="379" name="Google Shape;379;p22"/>
          <p:cNvSpPr/>
          <p:nvPr/>
        </p:nvSpPr>
        <p:spPr>
          <a:xfrm>
            <a:off x="291429" y="500571"/>
            <a:ext cx="5741336" cy="257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1">
                <a:solidFill>
                  <a:srgbClr val="102236"/>
                </a:solidFill>
                <a:latin typeface="Verdana"/>
                <a:ea typeface="Verdana"/>
                <a:cs typeface="Verdana"/>
                <a:sym typeface="Verdana"/>
              </a:rPr>
              <a:t>Misurazione: annuale per il processo, triennale per il KPI</a:t>
            </a:r>
            <a:endParaRPr/>
          </a:p>
        </p:txBody>
      </p:sp>
      <p:sp>
        <p:nvSpPr>
          <p:cNvPr id="380" name="Google Shape;380;p22"/>
          <p:cNvSpPr/>
          <p:nvPr/>
        </p:nvSpPr>
        <p:spPr>
          <a:xfrm>
            <a:off x="284571" y="774857"/>
            <a:ext cx="3512700" cy="1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2">
                <a:solidFill>
                  <a:srgbClr val="6D6F70"/>
                </a:solidFill>
                <a:latin typeface="Verdana"/>
                <a:ea typeface="Verdana"/>
                <a:cs typeface="Verdana"/>
                <a:sym typeface="Verdana"/>
              </a:rPr>
              <a:t>Non si valuta un effetto sotto la soglia statistica: tempi di lettura e</a:t>
            </a:r>
            <a:endParaRPr/>
          </a:p>
        </p:txBody>
      </p:sp>
      <p:sp>
        <p:nvSpPr>
          <p:cNvPr id="381" name="Google Shape;381;p22"/>
          <p:cNvSpPr/>
          <p:nvPr/>
        </p:nvSpPr>
        <p:spPr>
          <a:xfrm>
            <a:off x="281143" y="929143"/>
            <a:ext cx="2011050" cy="150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8">
                <a:solidFill>
                  <a:srgbClr val="6E6F70"/>
                </a:solidFill>
                <a:latin typeface="Verdana"/>
                <a:ea typeface="Verdana"/>
                <a:cs typeface="Verdana"/>
                <a:sym typeface="Verdana"/>
              </a:rPr>
              <a:t>controfattuale vanno dichiarati prima.</a:t>
            </a:r>
            <a:endParaRPr/>
          </a:p>
        </p:txBody>
      </p:sp>
      <p:sp>
        <p:nvSpPr>
          <p:cNvPr id="382" name="Google Shape;382;p22"/>
          <p:cNvSpPr/>
          <p:nvPr/>
        </p:nvSpPr>
        <p:spPr>
          <a:xfrm>
            <a:off x="5598857" y="1285714"/>
            <a:ext cx="1928764" cy="186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1">
                <a:solidFill>
                  <a:srgbClr val="102235"/>
                </a:solidFill>
                <a:latin typeface="Verdana"/>
                <a:ea typeface="Verdana"/>
                <a:cs typeface="Verdana"/>
                <a:sym typeface="Verdana"/>
              </a:rPr>
              <a:t>Perché non basta un anno</a:t>
            </a:r>
            <a:endParaRPr/>
          </a:p>
        </p:txBody>
      </p:sp>
      <p:sp>
        <p:nvSpPr>
          <p:cNvPr id="383" name="Google Shape;383;p22"/>
          <p:cNvSpPr/>
          <p:nvPr/>
        </p:nvSpPr>
        <p:spPr>
          <a:xfrm>
            <a:off x="5598857" y="1546286"/>
            <a:ext cx="2724193" cy="151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0">
                <a:solidFill>
                  <a:srgbClr val="14222F"/>
                </a:solidFill>
                <a:latin typeface="Verdana"/>
                <a:ea typeface="Verdana"/>
                <a:cs typeface="Verdana"/>
                <a:sym typeface="Verdana"/>
              </a:rPr>
              <a:t>Il delta occupazionale promesso è +1,4 punti; in un</a:t>
            </a:r>
            <a:endParaRPr/>
          </a:p>
        </p:txBody>
      </p:sp>
      <p:sp>
        <p:nvSpPr>
          <p:cNvPr id="384" name="Google Shape;384;p22"/>
          <p:cNvSpPr/>
          <p:nvPr/>
        </p:nvSpPr>
        <p:spPr>
          <a:xfrm>
            <a:off x="5595425" y="1686850"/>
            <a:ext cx="2970600" cy="1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1">
                <a:solidFill>
                  <a:srgbClr val="162230"/>
                </a:solidFill>
                <a:latin typeface="Verdana"/>
                <a:ea typeface="Verdana"/>
                <a:cs typeface="Verdana"/>
                <a:sym typeface="Verdana"/>
              </a:rPr>
              <a:t>anno il MDE è 2,14 punti e la potenza è circa 46%.</a:t>
            </a:r>
            <a:endParaRPr/>
          </a:p>
        </p:txBody>
      </p:sp>
      <p:sp>
        <p:nvSpPr>
          <p:cNvPr id="385" name="Google Shape;385;p22"/>
          <p:cNvSpPr/>
          <p:nvPr/>
        </p:nvSpPr>
        <p:spPr>
          <a:xfrm>
            <a:off x="5595425" y="2094850"/>
            <a:ext cx="2970600" cy="1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1">
                <a:solidFill>
                  <a:srgbClr val="14222F"/>
                </a:solidFill>
                <a:latin typeface="Verdana"/>
                <a:ea typeface="Verdana"/>
                <a:cs typeface="Verdana"/>
                <a:sym typeface="Verdana"/>
              </a:rPr>
              <a:t>Sul triennio pooled la potenza arriva circa al 90%; la</a:t>
            </a:r>
            <a:endParaRPr/>
          </a:p>
        </p:txBody>
      </p:sp>
      <p:sp>
        <p:nvSpPr>
          <p:cNvPr id="386" name="Google Shape;386;p22"/>
          <p:cNvSpPr/>
          <p:nvPr/>
        </p:nvSpPr>
        <p:spPr>
          <a:xfrm>
            <a:off x="5595429" y="2249143"/>
            <a:ext cx="2600764" cy="151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1">
                <a:solidFill>
                  <a:srgbClr val="15212E"/>
                </a:solidFill>
                <a:latin typeface="Verdana"/>
                <a:ea typeface="Verdana"/>
                <a:cs typeface="Verdana"/>
                <a:sym typeface="Verdana"/>
              </a:rPr>
              <a:t>quota casalinghe si legge già su biennio/triennio.</a:t>
            </a:r>
            <a:endParaRPr/>
          </a:p>
        </p:txBody>
      </p:sp>
      <p:sp>
        <p:nvSpPr>
          <p:cNvPr id="387" name="Google Shape;387;p22"/>
          <p:cNvSpPr/>
          <p:nvPr/>
        </p:nvSpPr>
        <p:spPr>
          <a:xfrm>
            <a:off x="524571" y="3205714"/>
            <a:ext cx="1599621" cy="185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8">
                <a:solidFill>
                  <a:srgbClr val="102235"/>
                </a:solidFill>
                <a:latin typeface="Verdana"/>
                <a:ea typeface="Verdana"/>
                <a:cs typeface="Verdana"/>
                <a:sym typeface="Verdana"/>
              </a:rPr>
              <a:t>Indicatori di processo</a:t>
            </a:r>
            <a:endParaRPr/>
          </a:p>
        </p:txBody>
      </p:sp>
      <p:sp>
        <p:nvSpPr>
          <p:cNvPr id="388" name="Google Shape;388;p22"/>
          <p:cNvSpPr/>
          <p:nvPr/>
        </p:nvSpPr>
        <p:spPr>
          <a:xfrm>
            <a:off x="4536000" y="3205714"/>
            <a:ext cx="1685336" cy="186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1">
                <a:solidFill>
                  <a:srgbClr val="102235"/>
                </a:solidFill>
                <a:latin typeface="Verdana"/>
                <a:ea typeface="Verdana"/>
                <a:cs typeface="Verdana"/>
                <a:sym typeface="Verdana"/>
              </a:rPr>
              <a:t>Disegno di valutazione</a:t>
            </a:r>
            <a:endParaRPr/>
          </a:p>
        </p:txBody>
      </p:sp>
      <p:sp>
        <p:nvSpPr>
          <p:cNvPr id="389" name="Google Shape;389;p22"/>
          <p:cNvSpPr/>
          <p:nvPr/>
        </p:nvSpPr>
        <p:spPr>
          <a:xfrm>
            <a:off x="521143" y="3432000"/>
            <a:ext cx="3053336" cy="1513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2">
                <a:solidFill>
                  <a:srgbClr val="16222E"/>
                </a:solidFill>
                <a:latin typeface="Verdana"/>
                <a:ea typeface="Verdana"/>
                <a:cs typeface="Verdana"/>
                <a:sym typeface="Verdana"/>
              </a:rPr>
              <a:t>Contatto entro 30 giorni, piano entro 15, utenza per età e</a:t>
            </a:r>
            <a:endParaRPr/>
          </a:p>
        </p:txBody>
      </p:sp>
      <p:sp>
        <p:nvSpPr>
          <p:cNvPr id="390" name="Google Shape;390;p22"/>
          <p:cNvSpPr/>
          <p:nvPr/>
        </p:nvSpPr>
        <p:spPr>
          <a:xfrm>
            <a:off x="4536000" y="3432000"/>
            <a:ext cx="3577907" cy="1511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1">
                <a:solidFill>
                  <a:srgbClr val="15212E"/>
                </a:solidFill>
                <a:latin typeface="Verdana"/>
                <a:ea typeface="Verdana"/>
                <a:cs typeface="Verdana"/>
                <a:sym typeface="Verdana"/>
              </a:rPr>
              <a:t>Rollout scaglionato: a parità di priorità, un gruppo avvia e uno resta</a:t>
            </a:r>
            <a:endParaRPr/>
          </a:p>
        </p:txBody>
      </p:sp>
      <p:sp>
        <p:nvSpPr>
          <p:cNvPr id="391" name="Google Shape;391;p22"/>
          <p:cNvSpPr/>
          <p:nvPr/>
        </p:nvSpPr>
        <p:spPr>
          <a:xfrm>
            <a:off x="521143" y="3586286"/>
            <a:ext cx="3156193" cy="151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2">
                <a:solidFill>
                  <a:srgbClr val="16212E"/>
                </a:solidFill>
                <a:latin typeface="Verdana"/>
                <a:ea typeface="Verdana"/>
                <a:cs typeface="Verdana"/>
                <a:sym typeface="Verdana"/>
              </a:rPr>
              <a:t>genere. Sono letti annualmente perché il servizio li produce</a:t>
            </a:r>
            <a:endParaRPr/>
          </a:p>
        </p:txBody>
      </p:sp>
      <p:sp>
        <p:nvSpPr>
          <p:cNvPr id="392" name="Google Shape;392;p22"/>
          <p:cNvSpPr/>
          <p:nvPr/>
        </p:nvSpPr>
        <p:spPr>
          <a:xfrm>
            <a:off x="4529151" y="3572575"/>
            <a:ext cx="41721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3">
                <a:solidFill>
                  <a:srgbClr val="16222F"/>
                </a:solidFill>
                <a:latin typeface="Verdana"/>
                <a:ea typeface="Verdana"/>
                <a:cs typeface="Verdana"/>
                <a:sym typeface="Verdana"/>
              </a:rPr>
              <a:t>temporaneamente in attesa. Per i KPI territoriali, Palermo è il confronto</a:t>
            </a:r>
            <a:endParaRPr/>
          </a:p>
        </p:txBody>
      </p:sp>
      <p:sp>
        <p:nvSpPr>
          <p:cNvPr id="393" name="Google Shape;393;p22"/>
          <p:cNvSpPr/>
          <p:nvPr/>
        </p:nvSpPr>
        <p:spPr>
          <a:xfrm>
            <a:off x="521143" y="3740571"/>
            <a:ext cx="739050" cy="1485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7">
                <a:solidFill>
                  <a:srgbClr val="15222F"/>
                </a:solidFill>
                <a:latin typeface="Verdana"/>
                <a:ea typeface="Verdana"/>
                <a:cs typeface="Verdana"/>
                <a:sym typeface="Verdana"/>
              </a:rPr>
              <a:t>direttamente.</a:t>
            </a:r>
            <a:endParaRPr/>
          </a:p>
        </p:txBody>
      </p:sp>
      <p:sp>
        <p:nvSpPr>
          <p:cNvPr id="394" name="Google Shape;394;p22"/>
          <p:cNvSpPr/>
          <p:nvPr/>
        </p:nvSpPr>
        <p:spPr>
          <a:xfrm>
            <a:off x="4532571" y="3740571"/>
            <a:ext cx="1006479" cy="149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1">
                <a:solidFill>
                  <a:srgbClr val="15212F"/>
                </a:solidFill>
                <a:latin typeface="Verdana"/>
                <a:ea typeface="Verdana"/>
                <a:cs typeface="Verdana"/>
                <a:sym typeface="Verdana"/>
              </a:rPr>
              <a:t>esterno dichiarato.</a:t>
            </a:r>
            <a:endParaRPr/>
          </a:p>
        </p:txBody>
      </p:sp>
      <p:pic>
        <p:nvPicPr>
          <p:cNvPr id="395" name="Google Shape;395;p22" title="Screenshot from 2026-09-23 22-40-3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225" y="1131675"/>
            <a:ext cx="4778649" cy="171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3"/>
          <p:cNvSpPr/>
          <p:nvPr/>
        </p:nvSpPr>
        <p:spPr>
          <a:xfrm>
            <a:off x="4193143" y="120000"/>
            <a:ext cx="800764" cy="105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75">
                <a:solidFill>
                  <a:srgbClr val="4B5052"/>
                </a:solidFill>
                <a:latin typeface="Verdana"/>
                <a:ea typeface="Verdana"/>
                <a:cs typeface="Verdana"/>
                <a:sym typeface="Verdana"/>
              </a:rPr>
              <a:t>POLICY PROPOSAL</a:t>
            </a:r>
            <a:endParaRPr/>
          </a:p>
        </p:txBody>
      </p:sp>
      <p:sp>
        <p:nvSpPr>
          <p:cNvPr id="403" name="Google Shape;403;p23"/>
          <p:cNvSpPr/>
          <p:nvPr/>
        </p:nvSpPr>
        <p:spPr>
          <a:xfrm>
            <a:off x="8787429" y="123429"/>
            <a:ext cx="115050" cy="900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89">
                <a:solidFill>
                  <a:srgbClr val="4B5052"/>
                </a:solidFill>
                <a:latin typeface="Verdana"/>
                <a:ea typeface="Verdana"/>
                <a:cs typeface="Verdana"/>
                <a:sym typeface="Verdana"/>
              </a:rPr>
              <a:t>21</a:t>
            </a:r>
            <a:endParaRPr/>
          </a:p>
        </p:txBody>
      </p:sp>
      <p:sp>
        <p:nvSpPr>
          <p:cNvPr id="404" name="Google Shape;404;p23"/>
          <p:cNvSpPr/>
          <p:nvPr/>
        </p:nvSpPr>
        <p:spPr>
          <a:xfrm>
            <a:off x="229714" y="120000"/>
            <a:ext cx="900193" cy="968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526">
                <a:solidFill>
                  <a:srgbClr val="4B5052"/>
                </a:solidFill>
                <a:latin typeface="Verdana"/>
                <a:ea typeface="Verdana"/>
                <a:cs typeface="Verdana"/>
                <a:sym typeface="Verdana"/>
              </a:rPr>
              <a:t>DataPolis 2026 · Bagheria</a:t>
            </a:r>
            <a:endParaRPr/>
          </a:p>
        </p:txBody>
      </p:sp>
      <p:sp>
        <p:nvSpPr>
          <p:cNvPr id="405" name="Google Shape;405;p23"/>
          <p:cNvSpPr/>
          <p:nvPr/>
        </p:nvSpPr>
        <p:spPr>
          <a:xfrm>
            <a:off x="291429" y="500571"/>
            <a:ext cx="2923050" cy="25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97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Il dato che Ponte 19 produce</a:t>
            </a:r>
            <a:endParaRPr/>
          </a:p>
        </p:txBody>
      </p:sp>
      <p:sp>
        <p:nvSpPr>
          <p:cNvPr id="406" name="Google Shape;406;p23"/>
          <p:cNvSpPr/>
          <p:nvPr/>
        </p:nvSpPr>
        <p:spPr>
          <a:xfrm>
            <a:off x="284571" y="761143"/>
            <a:ext cx="3797336" cy="151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2">
                <a:solidFill>
                  <a:srgbClr val="697078"/>
                </a:solidFill>
                <a:latin typeface="Verdana"/>
                <a:ea typeface="Verdana"/>
                <a:cs typeface="Verdana"/>
                <a:sym typeface="Verdana"/>
              </a:rPr>
              <a:t>La proposta chiude il limite iniziale: registra titolo → azione → esito sulla</a:t>
            </a:r>
            <a:endParaRPr/>
          </a:p>
        </p:txBody>
      </p:sp>
      <p:sp>
        <p:nvSpPr>
          <p:cNvPr id="407" name="Google Shape;407;p23"/>
          <p:cNvSpPr/>
          <p:nvPr/>
        </p:nvSpPr>
        <p:spPr>
          <a:xfrm>
            <a:off x="281143" y="929143"/>
            <a:ext cx="2309336" cy="150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9">
                <a:solidFill>
                  <a:srgbClr val="697078"/>
                </a:solidFill>
                <a:latin typeface="Verdana"/>
                <a:ea typeface="Verdana"/>
                <a:cs typeface="Verdana"/>
                <a:sym typeface="Verdana"/>
              </a:rPr>
              <a:t>singola persona, in forma pseudonimizzata.</a:t>
            </a:r>
            <a:endParaRPr/>
          </a:p>
        </p:txBody>
      </p:sp>
      <p:sp>
        <p:nvSpPr>
          <p:cNvPr id="408" name="Google Shape;408;p23"/>
          <p:cNvSpPr/>
          <p:nvPr/>
        </p:nvSpPr>
        <p:spPr>
          <a:xfrm>
            <a:off x="421714" y="1426286"/>
            <a:ext cx="447621" cy="1514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2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Titolo /</a:t>
            </a:r>
            <a:endParaRPr/>
          </a:p>
        </p:txBody>
      </p:sp>
      <p:sp>
        <p:nvSpPr>
          <p:cNvPr id="409" name="Google Shape;409;p23"/>
          <p:cNvSpPr/>
          <p:nvPr/>
        </p:nvSpPr>
        <p:spPr>
          <a:xfrm>
            <a:off x="1632000" y="1426286"/>
            <a:ext cx="687621" cy="1475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1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Data uscita</a:t>
            </a:r>
            <a:endParaRPr/>
          </a:p>
        </p:txBody>
      </p:sp>
      <p:sp>
        <p:nvSpPr>
          <p:cNvPr id="410" name="Google Shape;410;p23"/>
          <p:cNvSpPr/>
          <p:nvPr/>
        </p:nvSpPr>
        <p:spPr>
          <a:xfrm>
            <a:off x="2828571" y="1426286"/>
            <a:ext cx="673907" cy="149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11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Condizione</a:t>
            </a:r>
            <a:endParaRPr/>
          </a:p>
        </p:txBody>
      </p:sp>
      <p:sp>
        <p:nvSpPr>
          <p:cNvPr id="411" name="Google Shape;411;p23"/>
          <p:cNvSpPr/>
          <p:nvPr/>
        </p:nvSpPr>
        <p:spPr>
          <a:xfrm>
            <a:off x="5232000" y="1426286"/>
            <a:ext cx="499050" cy="145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91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Barriera</a:t>
            </a:r>
            <a:endParaRPr/>
          </a:p>
        </p:txBody>
      </p:sp>
      <p:sp>
        <p:nvSpPr>
          <p:cNvPr id="412" name="Google Shape;412;p23"/>
          <p:cNvSpPr/>
          <p:nvPr/>
        </p:nvSpPr>
        <p:spPr>
          <a:xfrm>
            <a:off x="6421714" y="1426286"/>
            <a:ext cx="427050" cy="1499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14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Azione</a:t>
            </a:r>
            <a:endParaRPr/>
          </a:p>
        </p:txBody>
      </p:sp>
      <p:sp>
        <p:nvSpPr>
          <p:cNvPr id="413" name="Google Shape;413;p23"/>
          <p:cNvSpPr/>
          <p:nvPr/>
        </p:nvSpPr>
        <p:spPr>
          <a:xfrm>
            <a:off x="7632000" y="1426286"/>
            <a:ext cx="718479" cy="1481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4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Esito 3·6·12</a:t>
            </a:r>
            <a:endParaRPr/>
          </a:p>
        </p:txBody>
      </p:sp>
      <p:sp>
        <p:nvSpPr>
          <p:cNvPr id="414" name="Google Shape;414;p23"/>
          <p:cNvSpPr/>
          <p:nvPr/>
        </p:nvSpPr>
        <p:spPr>
          <a:xfrm>
            <a:off x="4032000" y="1426286"/>
            <a:ext cx="769907" cy="148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6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Età e genere</a:t>
            </a:r>
            <a:endParaRPr/>
          </a:p>
        </p:txBody>
      </p:sp>
      <p:sp>
        <p:nvSpPr>
          <p:cNvPr id="415" name="Google Shape;415;p23"/>
          <p:cNvSpPr/>
          <p:nvPr/>
        </p:nvSpPr>
        <p:spPr>
          <a:xfrm>
            <a:off x="432000" y="1566857"/>
            <a:ext cx="526479" cy="1481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4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indirizzo</a:t>
            </a:r>
            <a:endParaRPr/>
          </a:p>
        </p:txBody>
      </p:sp>
      <p:sp>
        <p:nvSpPr>
          <p:cNvPr id="416" name="Google Shape;416;p23"/>
          <p:cNvSpPr/>
          <p:nvPr/>
        </p:nvSpPr>
        <p:spPr>
          <a:xfrm>
            <a:off x="2832000" y="1566857"/>
            <a:ext cx="440764" cy="145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92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iniziale</a:t>
            </a:r>
            <a:endParaRPr/>
          </a:p>
        </p:txBody>
      </p:sp>
      <p:sp>
        <p:nvSpPr>
          <p:cNvPr id="417" name="Google Shape;417;p23"/>
          <p:cNvSpPr/>
          <p:nvPr/>
        </p:nvSpPr>
        <p:spPr>
          <a:xfrm>
            <a:off x="5225143" y="1566857"/>
            <a:ext cx="622479" cy="1491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10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dichiarata</a:t>
            </a: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6425143" y="1566857"/>
            <a:ext cx="619050" cy="149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11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effettuata</a:t>
            </a:r>
            <a:endParaRPr/>
          </a:p>
        </p:txBody>
      </p:sp>
      <p:sp>
        <p:nvSpPr>
          <p:cNvPr id="419" name="Google Shape;419;p23"/>
          <p:cNvSpPr/>
          <p:nvPr/>
        </p:nvSpPr>
        <p:spPr>
          <a:xfrm>
            <a:off x="7628571" y="1566857"/>
            <a:ext cx="300193" cy="143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81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mesi</a:t>
            </a:r>
            <a:endParaRPr/>
          </a:p>
        </p:txBody>
      </p:sp>
      <p:sp>
        <p:nvSpPr>
          <p:cNvPr id="420" name="Google Shape;420;p23"/>
          <p:cNvSpPr/>
          <p:nvPr/>
        </p:nvSpPr>
        <p:spPr>
          <a:xfrm>
            <a:off x="593143" y="2520000"/>
            <a:ext cx="2467050" cy="186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2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Dashboard trimestrale aggregata</a:t>
            </a:r>
            <a:endParaRPr/>
          </a:p>
        </p:txBody>
      </p:sp>
      <p:sp>
        <p:nvSpPr>
          <p:cNvPr id="421" name="Google Shape;421;p23"/>
          <p:cNvSpPr/>
          <p:nvPr/>
        </p:nvSpPr>
        <p:spPr>
          <a:xfrm>
            <a:off x="4841143" y="2520000"/>
            <a:ext cx="1417907" cy="186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2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Cosa non promette</a:t>
            </a:r>
            <a:endParaRPr/>
          </a:p>
        </p:txBody>
      </p:sp>
      <p:sp>
        <p:nvSpPr>
          <p:cNvPr id="422" name="Google Shape;422;p23"/>
          <p:cNvSpPr/>
          <p:nvPr/>
        </p:nvSpPr>
        <p:spPr>
          <a:xfrm>
            <a:off x="589714" y="2780571"/>
            <a:ext cx="3293336" cy="1515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3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Serve a distinguere quante persone vengono raggiunte, quale</a:t>
            </a:r>
            <a:endParaRPr/>
          </a:p>
        </p:txBody>
      </p:sp>
      <p:sp>
        <p:nvSpPr>
          <p:cNvPr id="423" name="Google Shape;423;p23"/>
          <p:cNvSpPr/>
          <p:nvPr/>
        </p:nvSpPr>
        <p:spPr>
          <a:xfrm>
            <a:off x="4844571" y="2780571"/>
            <a:ext cx="3296764" cy="151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1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Non stima causalmente tutta la fuga giovanile e non inventa il</a:t>
            </a:r>
            <a:endParaRPr/>
          </a:p>
        </p:txBody>
      </p:sp>
      <p:sp>
        <p:nvSpPr>
          <p:cNvPr id="424" name="Google Shape;424;p23"/>
          <p:cNvSpPr/>
          <p:nvPr/>
        </p:nvSpPr>
        <p:spPr>
          <a:xfrm>
            <a:off x="589714" y="2934857"/>
            <a:ext cx="2823621" cy="1510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0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azione viene attivata e quali esiti reggono nel tempo.</a:t>
            </a:r>
            <a:endParaRPr/>
          </a:p>
        </p:txBody>
      </p:sp>
      <p:sp>
        <p:nvSpPr>
          <p:cNvPr id="425" name="Google Shape;425;p23"/>
          <p:cNvSpPr/>
          <p:nvPr/>
        </p:nvSpPr>
        <p:spPr>
          <a:xfrm>
            <a:off x="4837714" y="2934857"/>
            <a:ext cx="3519621" cy="151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23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tasso di occupazione dei diplomati. Produce il dato individuale che</a:t>
            </a:r>
            <a:endParaRPr/>
          </a:p>
        </p:txBody>
      </p:sp>
      <p:sp>
        <p:nvSpPr>
          <p:cNvPr id="426" name="Google Shape;426;p23"/>
          <p:cNvSpPr/>
          <p:nvPr/>
        </p:nvSpPr>
        <p:spPr>
          <a:xfrm>
            <a:off x="4841143" y="3089143"/>
            <a:ext cx="2364193" cy="150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18">
                <a:solidFill>
                  <a:srgbClr val="0E2238"/>
                </a:solidFill>
                <a:latin typeface="Verdana"/>
                <a:ea typeface="Verdana"/>
                <a:cs typeface="Verdana"/>
                <a:sym typeface="Verdana"/>
              </a:rPr>
              <a:t>oggi le statistiche pubbliche non pubblicano.</a:t>
            </a:r>
            <a:endParaRPr/>
          </a:p>
        </p:txBody>
      </p:sp>
      <p:sp>
        <p:nvSpPr>
          <p:cNvPr id="427" name="Google Shape;427;p23"/>
          <p:cNvSpPr/>
          <p:nvPr/>
        </p:nvSpPr>
        <p:spPr>
          <a:xfrm>
            <a:off x="1134857" y="3661714"/>
            <a:ext cx="968764" cy="1078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86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titolo → azione → esito</a:t>
            </a:r>
            <a:endParaRPr/>
          </a:p>
        </p:txBody>
      </p:sp>
      <p:sp>
        <p:nvSpPr>
          <p:cNvPr id="428" name="Google Shape;428;p23"/>
          <p:cNvSpPr/>
          <p:nvPr/>
        </p:nvSpPr>
        <p:spPr>
          <a:xfrm>
            <a:off x="5420571" y="3661714"/>
            <a:ext cx="1349336" cy="107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83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valutare, fermare o ridisegnare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24"/>
          <p:cNvSpPr/>
          <p:nvPr/>
        </p:nvSpPr>
        <p:spPr>
          <a:xfrm>
            <a:off x="541714" y="514286"/>
            <a:ext cx="1445336" cy="340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47">
                <a:solidFill>
                  <a:srgbClr val="E33D30"/>
                </a:solidFill>
                <a:latin typeface="Arial"/>
                <a:ea typeface="Arial"/>
                <a:cs typeface="Arial"/>
                <a:sym typeface="Arial"/>
              </a:rPr>
              <a:t>Conclusione</a:t>
            </a:r>
            <a:endParaRPr/>
          </a:p>
        </p:txBody>
      </p:sp>
      <p:sp>
        <p:nvSpPr>
          <p:cNvPr id="436" name="Google Shape;436;p24"/>
          <p:cNvSpPr/>
          <p:nvPr/>
        </p:nvSpPr>
        <p:spPr>
          <a:xfrm>
            <a:off x="545143" y="1560000"/>
            <a:ext cx="3632764" cy="258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4">
                <a:solidFill>
                  <a:srgbClr val="111725"/>
                </a:solidFill>
                <a:latin typeface="Verdana"/>
                <a:ea typeface="Verdana"/>
                <a:cs typeface="Verdana"/>
                <a:sym typeface="Verdana"/>
              </a:rPr>
              <a:t>Un servizio che cerca chi non cerca,</a:t>
            </a:r>
            <a:endParaRPr/>
          </a:p>
        </p:txBody>
      </p:sp>
      <p:sp>
        <p:nvSpPr>
          <p:cNvPr id="437" name="Google Shape;437;p24"/>
          <p:cNvSpPr/>
          <p:nvPr/>
        </p:nvSpPr>
        <p:spPr>
          <a:xfrm>
            <a:off x="541714" y="1817143"/>
            <a:ext cx="2158479" cy="2627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7">
                <a:solidFill>
                  <a:srgbClr val="111725"/>
                </a:solidFill>
                <a:latin typeface="Verdana"/>
                <a:ea typeface="Verdana"/>
                <a:cs typeface="Verdana"/>
                <a:sym typeface="Verdana"/>
              </a:rPr>
              <a:t>e misura se funziona</a:t>
            </a:r>
            <a:endParaRPr/>
          </a:p>
        </p:txBody>
      </p:sp>
      <p:sp>
        <p:nvSpPr>
          <p:cNvPr id="438" name="Google Shape;438;p24"/>
          <p:cNvSpPr/>
          <p:nvPr/>
        </p:nvSpPr>
        <p:spPr>
          <a:xfrm>
            <a:off x="744000" y="2890286"/>
            <a:ext cx="3577907" cy="1657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171F"/>
                </a:solidFill>
                <a:latin typeface="Arial"/>
                <a:ea typeface="Arial"/>
                <a:cs typeface="Arial"/>
                <a:sym typeface="Arial"/>
              </a:rPr>
              <a:t>Il perimetro è dichiarato: 15-24 osservabile, 18-25 target del servizio.</a:t>
            </a:r>
            <a:endParaRPr/>
          </a:p>
        </p:txBody>
      </p:sp>
      <p:sp>
        <p:nvSpPr>
          <p:cNvPr id="439" name="Google Shape;439;p24"/>
          <p:cNvSpPr/>
          <p:nvPr/>
        </p:nvSpPr>
        <p:spPr>
          <a:xfrm>
            <a:off x="744000" y="3346286"/>
            <a:ext cx="3495621" cy="167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9">
                <a:solidFill>
                  <a:srgbClr val="15171E"/>
                </a:solidFill>
                <a:latin typeface="Arial"/>
                <a:ea typeface="Arial"/>
                <a:cs typeface="Arial"/>
                <a:sym typeface="Arial"/>
              </a:rPr>
              <a:t>Il nodo studio-lavoro guida la transizione: dati mancanti raccolti dal</a:t>
            </a:r>
            <a:endParaRPr/>
          </a:p>
        </p:txBody>
      </p:sp>
      <p:sp>
        <p:nvSpPr>
          <p:cNvPr id="440" name="Google Shape;440;p24"/>
          <p:cNvSpPr/>
          <p:nvPr/>
        </p:nvSpPr>
        <p:spPr>
          <a:xfrm>
            <a:off x="737143" y="3486857"/>
            <a:ext cx="454479" cy="1657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5181F"/>
                </a:solidFill>
                <a:latin typeface="Arial"/>
                <a:ea typeface="Arial"/>
                <a:cs typeface="Arial"/>
                <a:sym typeface="Arial"/>
              </a:rPr>
              <a:t>servizio.</a:t>
            </a:r>
            <a:endParaRPr/>
          </a:p>
        </p:txBody>
      </p:sp>
      <p:sp>
        <p:nvSpPr>
          <p:cNvPr id="441" name="Google Shape;441;p24"/>
          <p:cNvSpPr/>
          <p:nvPr/>
        </p:nvSpPr>
        <p:spPr>
          <a:xfrm>
            <a:off x="744000" y="3870857"/>
            <a:ext cx="3156193" cy="1657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14171F"/>
                </a:solidFill>
                <a:latin typeface="Arial"/>
                <a:ea typeface="Arial"/>
                <a:cs typeface="Arial"/>
                <a:sym typeface="Arial"/>
              </a:rPr>
              <a:t>Il focus femminile richiede quota e outreach, non un servizio</a:t>
            </a:r>
            <a:endParaRPr/>
          </a:p>
        </p:txBody>
      </p:sp>
      <p:sp>
        <p:nvSpPr>
          <p:cNvPr id="442" name="Google Shape;442;p24"/>
          <p:cNvSpPr/>
          <p:nvPr/>
        </p:nvSpPr>
        <p:spPr>
          <a:xfrm>
            <a:off x="737143" y="4014857"/>
            <a:ext cx="1407621" cy="163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88">
                <a:solidFill>
                  <a:srgbClr val="15171F"/>
                </a:solidFill>
                <a:latin typeface="Arial"/>
                <a:ea typeface="Arial"/>
                <a:cs typeface="Arial"/>
                <a:sym typeface="Arial"/>
              </a:rPr>
              <a:t>esclusivamente femminile.</a:t>
            </a:r>
            <a:endParaRPr/>
          </a:p>
        </p:txBody>
      </p:sp>
      <p:sp>
        <p:nvSpPr>
          <p:cNvPr id="443" name="Google Shape;443;p24"/>
          <p:cNvSpPr/>
          <p:nvPr/>
        </p:nvSpPr>
        <p:spPr>
          <a:xfrm>
            <a:off x="596571" y="4515429"/>
            <a:ext cx="3766479" cy="117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35">
                <a:solidFill>
                  <a:srgbClr val="131721"/>
                </a:solidFill>
                <a:latin typeface="Verdana"/>
                <a:ea typeface="Verdana"/>
                <a:cs typeface="Verdana"/>
                <a:sym typeface="Verdana"/>
              </a:rPr>
              <a:t>Non pretendiamo di spiegare la fuga. Proponiamo un pilota che produce evidenza</a:t>
            </a:r>
            <a:endParaRPr/>
          </a:p>
        </p:txBody>
      </p:sp>
      <p:sp>
        <p:nvSpPr>
          <p:cNvPr id="444" name="Google Shape;444;p24"/>
          <p:cNvSpPr/>
          <p:nvPr/>
        </p:nvSpPr>
        <p:spPr>
          <a:xfrm>
            <a:off x="593143" y="4632000"/>
            <a:ext cx="495621" cy="113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16">
                <a:solidFill>
                  <a:srgbClr val="131722"/>
                </a:solidFill>
                <a:latin typeface="Verdana"/>
                <a:ea typeface="Verdana"/>
                <a:cs typeface="Verdana"/>
                <a:sym typeface="Verdana"/>
              </a:rPr>
              <a:t>sugli esiti.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