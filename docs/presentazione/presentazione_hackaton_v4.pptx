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move the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edit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77532C7-5BF8-49C9-9A5C-1C6C5F2C20A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6;p3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Google Shape;17;p3"/>
          <p:cNvSpPr/>
          <p:nvPr/>
        </p:nvSpPr>
        <p:spPr>
          <a:xfrm>
            <a:off x="510840" y="576000"/>
            <a:ext cx="107820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33D30"/>
                </a:solidFill>
                <a:effectLst/>
                <a:uFillTx/>
                <a:latin typeface="Arial"/>
                <a:ea typeface="Arial"/>
              </a:rPr>
              <a:t>PONTE </a:t>
            </a:r>
            <a:r>
              <a:rPr lang="en-US" sz="1600" b="1" u="none" strike="noStrike">
                <a:solidFill>
                  <a:srgbClr val="E33D30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18;p3"/>
          <p:cNvSpPr/>
          <p:nvPr/>
        </p:nvSpPr>
        <p:spPr>
          <a:xfrm>
            <a:off x="510840" y="1556640"/>
            <a:ext cx="419796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101725"/>
                </a:solidFill>
                <a:effectLst/>
                <a:uFillTx/>
                <a:latin typeface="Verdana"/>
                <a:ea typeface="Verdana"/>
              </a:rPr>
              <a:t>Un </a:t>
            </a:r>
            <a:r>
              <a:rPr lang="en-US" sz="1620" b="1" u="none" strike="noStrike">
                <a:solidFill>
                  <a:srgbClr val="101725"/>
                </a:solidFill>
                <a:effectLst/>
                <a:uFillTx/>
                <a:latin typeface="Verdana"/>
                <a:ea typeface="Verdana"/>
              </a:rPr>
              <a:t>servizio </a:t>
            </a:r>
            <a:r>
              <a:rPr lang="en-US" sz="1620" b="1" u="none" strike="noStrike">
                <a:solidFill>
                  <a:srgbClr val="101725"/>
                </a:solidFill>
                <a:effectLst/>
                <a:uFillTx/>
                <a:latin typeface="Verdana"/>
                <a:ea typeface="Verdana"/>
              </a:rPr>
              <a:t>che va a </a:t>
            </a:r>
            <a:r>
              <a:rPr lang="en-US" sz="1620" b="1" u="none" strike="noStrike">
                <a:solidFill>
                  <a:srgbClr val="101725"/>
                </a:solidFill>
                <a:effectLst/>
                <a:uFillTx/>
                <a:latin typeface="Verdana"/>
                <a:ea typeface="Verdana"/>
              </a:rPr>
              <a:t>cercare </a:t>
            </a:r>
            <a:r>
              <a:rPr lang="en-US" sz="1620" b="1" u="none" strike="noStrike">
                <a:solidFill>
                  <a:srgbClr val="101725"/>
                </a:solidFill>
                <a:effectLst/>
                <a:uFillTx/>
                <a:latin typeface="Verdana"/>
                <a:ea typeface="Verdana"/>
              </a:rPr>
              <a:t>chi non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19;p3"/>
          <p:cNvSpPr/>
          <p:nvPr/>
        </p:nvSpPr>
        <p:spPr>
          <a:xfrm>
            <a:off x="507600" y="1875600"/>
            <a:ext cx="63936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70" b="1" u="none" strike="noStrike">
                <a:solidFill>
                  <a:srgbClr val="111725"/>
                </a:solidFill>
                <a:effectLst/>
                <a:uFillTx/>
                <a:latin typeface="Verdana"/>
                <a:ea typeface="Verdana"/>
              </a:rPr>
              <a:t>cerca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20;p3"/>
          <p:cNvSpPr/>
          <p:nvPr/>
        </p:nvSpPr>
        <p:spPr>
          <a:xfrm>
            <a:off x="507600" y="2163600"/>
            <a:ext cx="296028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40" b="1" u="none" strike="noStrike">
                <a:solidFill>
                  <a:srgbClr val="111725"/>
                </a:solidFill>
                <a:effectLst/>
                <a:uFillTx/>
                <a:latin typeface="Verdana"/>
                <a:ea typeface="Verdana"/>
              </a:rPr>
              <a:t>e che </a:t>
            </a:r>
            <a:r>
              <a:rPr lang="en-US" sz="1640" b="1" u="none" strike="noStrike">
                <a:solidFill>
                  <a:srgbClr val="111725"/>
                </a:solidFill>
                <a:effectLst/>
                <a:uFillTx/>
                <a:latin typeface="Verdana"/>
                <a:ea typeface="Verdana"/>
              </a:rPr>
              <a:t>misura </a:t>
            </a:r>
            <a:r>
              <a:rPr lang="en-US" sz="1640" b="1" u="none" strike="noStrike">
                <a:solidFill>
                  <a:srgbClr val="111725"/>
                </a:solidFill>
                <a:effectLst/>
                <a:uFillTx/>
                <a:latin typeface="Verdana"/>
                <a:ea typeface="Verdana"/>
              </a:rPr>
              <a:t>se </a:t>
            </a:r>
            <a:r>
              <a:rPr lang="en-US" sz="1640" b="1" u="none" strike="noStrike">
                <a:solidFill>
                  <a:srgbClr val="111725"/>
                </a:solidFill>
                <a:effectLst/>
                <a:uFillTx/>
                <a:latin typeface="Verdana"/>
                <a:ea typeface="Verdana"/>
              </a:rPr>
              <a:t>funzio</a:t>
            </a:r>
            <a:r>
              <a:rPr lang="en-US" sz="1640" b="1" u="none" strike="noStrike">
                <a:solidFill>
                  <a:srgbClr val="111725"/>
                </a:solidFill>
                <a:effectLst/>
                <a:uFillTx/>
                <a:latin typeface="Verdana"/>
                <a:ea typeface="Verdana"/>
              </a:rPr>
              <a:t>na</a:t>
            </a:r>
            <a:endParaRPr lang="en-US" sz="1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21;p3"/>
          <p:cNvSpPr/>
          <p:nvPr/>
        </p:nvSpPr>
        <p:spPr>
          <a:xfrm>
            <a:off x="524520" y="3867480"/>
            <a:ext cx="160596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5E6369"/>
                </a:solidFill>
                <a:effectLst/>
                <a:uFillTx/>
                <a:latin typeface="Arial"/>
                <a:ea typeface="Arial"/>
              </a:rPr>
              <a:t>DataPolis 2026 · Bagheria (PA)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22;p3"/>
          <p:cNvSpPr/>
          <p:nvPr/>
        </p:nvSpPr>
        <p:spPr>
          <a:xfrm>
            <a:off x="514440" y="4004640"/>
            <a:ext cx="208944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Alessandro Carosia e Saverio Randazzo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8;p4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Google Shape;29;p4"/>
          <p:cNvSpPr/>
          <p:nvPr/>
        </p:nvSpPr>
        <p:spPr>
          <a:xfrm>
            <a:off x="384120" y="171360"/>
            <a:ext cx="858600" cy="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0" u="none" strike="noStrike">
                <a:solidFill>
                  <a:srgbClr val="636466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30;p4"/>
          <p:cNvSpPr/>
          <p:nvPr/>
        </p:nvSpPr>
        <p:spPr>
          <a:xfrm>
            <a:off x="2060640" y="171360"/>
            <a:ext cx="570600" cy="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1" u="none" strike="noStrike">
                <a:solidFill>
                  <a:srgbClr val="5E636A"/>
                </a:solidFill>
                <a:effectLst/>
                <a:uFillTx/>
                <a:latin typeface="Arial"/>
                <a:ea typeface="Arial"/>
              </a:rPr>
              <a:t>INTRODUZIONE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31;p4"/>
          <p:cNvSpPr/>
          <p:nvPr/>
        </p:nvSpPr>
        <p:spPr>
          <a:xfrm>
            <a:off x="459360" y="651600"/>
            <a:ext cx="533628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724"/>
                </a:solidFill>
                <a:effectLst/>
                <a:uFillTx/>
                <a:latin typeface="Arial"/>
                <a:ea typeface="Arial"/>
              </a:rPr>
              <a:t>Introduzione: il problema è una </a:t>
            </a:r>
            <a:r>
              <a:rPr lang="en-US" sz="1350" b="1" u="none" strike="noStrike">
                <a:solidFill>
                  <a:srgbClr val="111724"/>
                </a:solidFill>
                <a:effectLst/>
                <a:uFillTx/>
                <a:latin typeface="Arial"/>
                <a:ea typeface="Arial"/>
              </a:rPr>
              <a:t>catena, non un singolo numero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32;p4"/>
          <p:cNvSpPr/>
          <p:nvPr/>
        </p:nvSpPr>
        <p:spPr>
          <a:xfrm>
            <a:off x="476640" y="1038960"/>
            <a:ext cx="379368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Il brief parla di giovani, lavoro, studio e fuga di talenti; i dati </a:t>
            </a:r>
            <a:r>
              <a:rPr lang="en-US" sz="86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mostrano tre punti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33;p4"/>
          <p:cNvSpPr/>
          <p:nvPr/>
        </p:nvSpPr>
        <p:spPr>
          <a:xfrm>
            <a:off x="469800" y="1172520"/>
            <a:ext cx="48852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di rottura.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34;p4"/>
          <p:cNvSpPr/>
          <p:nvPr/>
        </p:nvSpPr>
        <p:spPr>
          <a:xfrm>
            <a:off x="709560" y="1398960"/>
            <a:ext cx="376956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131720"/>
                </a:solidFill>
                <a:effectLst/>
                <a:uFillTx/>
                <a:latin typeface="Arial"/>
                <a:ea typeface="Arial"/>
              </a:rPr>
              <a:t>Molti giovani sono fuori da lavoro e </a:t>
            </a:r>
            <a:r>
              <a:rPr lang="en-US" sz="1010" b="0" u="none" strike="noStrike">
                <a:solidFill>
                  <a:srgbClr val="131720"/>
                </a:solidFill>
                <a:effectLst/>
                <a:uFillTx/>
                <a:latin typeface="Arial"/>
                <a:ea typeface="Arial"/>
              </a:rPr>
              <a:t>studio; tra questi prevale chi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35;p4"/>
          <p:cNvSpPr/>
          <p:nvPr/>
        </p:nvSpPr>
        <p:spPr>
          <a:xfrm>
            <a:off x="706320" y="1559880"/>
            <a:ext cx="124596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141720"/>
                </a:solidFill>
                <a:effectLst/>
                <a:uFillTx/>
                <a:latin typeface="Arial"/>
                <a:ea typeface="Arial"/>
              </a:rPr>
              <a:t>non risulta in ricerca.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36;p4"/>
          <p:cNvSpPr/>
          <p:nvPr/>
        </p:nvSpPr>
        <p:spPr>
          <a:xfrm>
            <a:off x="713160" y="1998720"/>
            <a:ext cx="379692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41720"/>
                </a:solidFill>
                <a:effectLst/>
                <a:uFillTx/>
                <a:latin typeface="Arial"/>
                <a:ea typeface="Arial"/>
              </a:rPr>
              <a:t>Il legame tra capitale umano e ingresso nel lavoro è debole: non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37;p4"/>
          <p:cNvSpPr/>
          <p:nvPr/>
        </p:nvSpPr>
        <p:spPr>
          <a:xfrm>
            <a:off x="706320" y="2177280"/>
            <a:ext cx="23673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141720"/>
                </a:solidFill>
                <a:effectLst/>
                <a:uFillTx/>
                <a:latin typeface="Arial"/>
                <a:ea typeface="Arial"/>
              </a:rPr>
              <a:t>basta </a:t>
            </a:r>
            <a:r>
              <a:rPr lang="en-US" sz="1030" b="0" u="none" strike="noStrike">
                <a:solidFill>
                  <a:srgbClr val="141720"/>
                </a:solidFill>
                <a:effectLst/>
                <a:uFillTx/>
                <a:latin typeface="Arial"/>
                <a:ea typeface="Arial"/>
              </a:rPr>
              <a:t>leggere il </a:t>
            </a:r>
            <a:r>
              <a:rPr lang="en-US" sz="1030" b="0" u="none" strike="noStrike">
                <a:solidFill>
                  <a:srgbClr val="141720"/>
                </a:solidFill>
                <a:effectLst/>
                <a:uFillTx/>
                <a:latin typeface="Arial"/>
                <a:ea typeface="Arial"/>
              </a:rPr>
              <a:t>migliorament</a:t>
            </a:r>
            <a:r>
              <a:rPr lang="en-US" sz="1030" b="0" u="none" strike="noStrike">
                <a:solidFill>
                  <a:srgbClr val="141720"/>
                </a:solidFill>
                <a:effectLst/>
                <a:uFillTx/>
                <a:latin typeface="Arial"/>
                <a:ea typeface="Arial"/>
              </a:rPr>
              <a:t>o assoluto.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38;p4"/>
          <p:cNvSpPr/>
          <p:nvPr/>
        </p:nvSpPr>
        <p:spPr>
          <a:xfrm>
            <a:off x="713160" y="2633040"/>
            <a:ext cx="374544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Il divario </a:t>
            </a:r>
            <a:r>
              <a:rPr lang="en-US" sz="103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femminile non </a:t>
            </a:r>
            <a:r>
              <a:rPr lang="en-US" sz="103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nasce da </a:t>
            </a:r>
            <a:r>
              <a:rPr lang="en-US" sz="103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minore </a:t>
            </a:r>
            <a:r>
              <a:rPr lang="en-US" sz="103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istruzione: </a:t>
            </a:r>
            <a:r>
              <a:rPr lang="en-US" sz="103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emerge nel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39;p4"/>
          <p:cNvSpPr/>
          <p:nvPr/>
        </p:nvSpPr>
        <p:spPr>
          <a:xfrm>
            <a:off x="706320" y="2794320"/>
            <a:ext cx="20311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passaggio verso lavoro e mobilità.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40;p4"/>
          <p:cNvSpPr/>
          <p:nvPr/>
        </p:nvSpPr>
        <p:spPr>
          <a:xfrm>
            <a:off x="569160" y="3696120"/>
            <a:ext cx="34815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21723"/>
                </a:solidFill>
                <a:effectLst/>
                <a:uFillTx/>
                <a:latin typeface="Arial"/>
                <a:ea typeface="Arial"/>
              </a:rPr>
              <a:t>Serve un servizio attivo, non solo uno sportello.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41;p4"/>
          <p:cNvSpPr/>
          <p:nvPr/>
        </p:nvSpPr>
        <p:spPr>
          <a:xfrm>
            <a:off x="366840" y="4902840"/>
            <a:ext cx="3985560" cy="9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00" b="0" u="none" strike="noStrike">
                <a:solidFill>
                  <a:srgbClr val="74757B"/>
                </a:solidFill>
                <a:effectLst/>
                <a:uFillTx/>
                <a:latin typeface="Arial"/>
                <a:ea typeface="Arial"/>
              </a:rPr>
              <a:t>Brief del contest: profiling, </a:t>
            </a:r>
            <a:r>
              <a:rPr lang="en-US" sz="500" b="0" u="none" strike="noStrike">
                <a:solidFill>
                  <a:srgbClr val="74757B"/>
                </a:solidFill>
                <a:effectLst/>
                <a:uFillTx/>
                <a:latin typeface="Arial"/>
                <a:ea typeface="Arial"/>
              </a:rPr>
              <a:t>focus tematico, proposta </a:t>
            </a:r>
            <a:r>
              <a:rPr lang="en-US" sz="500" b="0" u="none" strike="noStrike">
                <a:solidFill>
                  <a:srgbClr val="74757B"/>
                </a:solidFill>
                <a:effectLst/>
                <a:uFillTx/>
                <a:latin typeface="Arial"/>
                <a:ea typeface="Arial"/>
              </a:rPr>
              <a:t>data-driven. Fonti del </a:t>
            </a:r>
            <a:r>
              <a:rPr lang="en-US" sz="500" b="0" u="none" strike="noStrike">
                <a:solidFill>
                  <a:srgbClr val="74757B"/>
                </a:solidFill>
                <a:effectLst/>
                <a:uFillTx/>
                <a:latin typeface="Arial"/>
                <a:ea typeface="Arial"/>
              </a:rPr>
              <a:t>progetto: ISTAT, matrici </a:t>
            </a:r>
            <a:r>
              <a:rPr lang="en-US" sz="500" b="0" u="none" strike="noStrike">
                <a:solidFill>
                  <a:srgbClr val="74757B"/>
                </a:solidFill>
                <a:effectLst/>
                <a:uFillTx/>
                <a:latin typeface="Arial"/>
                <a:ea typeface="Arial"/>
              </a:rPr>
              <a:t>pendolarismo, MIUR, </a:t>
            </a:r>
            <a:r>
              <a:rPr lang="en-US" sz="500" b="0" u="none" strike="noStrike">
                <a:solidFill>
                  <a:srgbClr val="74757B"/>
                </a:solidFill>
                <a:effectLst/>
                <a:uFillTx/>
                <a:latin typeface="Arial"/>
                <a:ea typeface="Arial"/>
              </a:rPr>
              <a:t>pipeline del repository.</a:t>
            </a:r>
            <a:endParaRPr lang="en-US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47;p5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Google Shape;48;p5"/>
          <p:cNvSpPr/>
          <p:nvPr/>
        </p:nvSpPr>
        <p:spPr>
          <a:xfrm>
            <a:off x="384120" y="171360"/>
            <a:ext cx="858600" cy="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0" u="none" strike="noStrike">
                <a:solidFill>
                  <a:srgbClr val="636466"/>
                </a:solidFill>
                <a:effectLst/>
                <a:uFillTx/>
                <a:latin typeface="Arial"/>
                <a:ea typeface="Arial"/>
              </a:rPr>
              <a:t>DataPolis 2026 · </a:t>
            </a:r>
            <a:r>
              <a:rPr lang="en-US" sz="540" b="0" u="none" strike="noStrike">
                <a:solidFill>
                  <a:srgbClr val="636466"/>
                </a:solidFill>
                <a:effectLst/>
                <a:uFillTx/>
                <a:latin typeface="Arial"/>
                <a:ea typeface="Arial"/>
              </a:rPr>
              <a:t>Bagheria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Google Shape;49;p5"/>
          <p:cNvSpPr/>
          <p:nvPr/>
        </p:nvSpPr>
        <p:spPr>
          <a:xfrm>
            <a:off x="2060640" y="171360"/>
            <a:ext cx="570600" cy="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1" u="none" strike="noStrike">
                <a:solidFill>
                  <a:srgbClr val="5E636A"/>
                </a:solidFill>
                <a:effectLst/>
                <a:uFillTx/>
                <a:latin typeface="Arial"/>
                <a:ea typeface="Arial"/>
              </a:rPr>
              <a:t>INTRODUZIONE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Google Shape;50;p5"/>
          <p:cNvSpPr/>
          <p:nvPr/>
        </p:nvSpPr>
        <p:spPr>
          <a:xfrm>
            <a:off x="456120" y="644400"/>
            <a:ext cx="316260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724"/>
                </a:solidFill>
                <a:effectLst/>
                <a:uFillTx/>
                <a:latin typeface="Arial"/>
                <a:ea typeface="Arial"/>
              </a:rPr>
              <a:t>Fonti trattate: cosa entra nella pipeline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51;p5"/>
          <p:cNvSpPr/>
          <p:nvPr/>
        </p:nvSpPr>
        <p:spPr>
          <a:xfrm>
            <a:off x="476640" y="1021680"/>
            <a:ext cx="372492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E6369"/>
                </a:solidFill>
                <a:effectLst/>
                <a:uFillTx/>
                <a:latin typeface="Arial"/>
                <a:ea typeface="Arial"/>
              </a:rPr>
              <a:t>Fonti ufficiali, ruoli </a:t>
            </a:r>
            <a:r>
              <a:rPr lang="en-US" sz="910" b="0" u="none" strike="noStrike">
                <a:solidFill>
                  <a:srgbClr val="5E6369"/>
                </a:solidFill>
                <a:effectLst/>
                <a:uFillTx/>
                <a:latin typeface="Arial"/>
                <a:ea typeface="Arial"/>
              </a:rPr>
              <a:t>separati e controlli </a:t>
            </a:r>
            <a:r>
              <a:rPr lang="en-US" sz="910" b="0" u="none" strike="noStrike">
                <a:solidFill>
                  <a:srgbClr val="5E6369"/>
                </a:solidFill>
                <a:effectLst/>
                <a:uFillTx/>
                <a:latin typeface="Arial"/>
                <a:ea typeface="Arial"/>
              </a:rPr>
              <a:t>automatici prima della </a:t>
            </a:r>
            <a:r>
              <a:rPr lang="en-US" sz="910" b="0" u="none" strike="noStrike">
                <a:solidFill>
                  <a:srgbClr val="5E6369"/>
                </a:solidFill>
                <a:effectLst/>
                <a:uFillTx/>
                <a:latin typeface="Arial"/>
                <a:ea typeface="Arial"/>
              </a:rPr>
              <a:t>narrazione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52;p5"/>
          <p:cNvSpPr/>
          <p:nvPr/>
        </p:nvSpPr>
        <p:spPr>
          <a:xfrm>
            <a:off x="1306440" y="1666440"/>
            <a:ext cx="37188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21723"/>
                </a:solidFill>
                <a:effectLst/>
                <a:uFillTx/>
                <a:latin typeface="Arial"/>
                <a:ea typeface="Arial"/>
              </a:rPr>
              <a:t>ISTAT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53;p5"/>
          <p:cNvSpPr/>
          <p:nvPr/>
        </p:nvSpPr>
        <p:spPr>
          <a:xfrm>
            <a:off x="2369160" y="1762200"/>
            <a:ext cx="156852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z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e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e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l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e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5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-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4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,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Google Shape;54;p5"/>
          <p:cNvSpPr/>
          <p:nvPr/>
        </p:nvSpPr>
        <p:spPr>
          <a:xfrm>
            <a:off x="5252400" y="1741680"/>
            <a:ext cx="3888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111723"/>
                </a:solidFill>
                <a:effectLst/>
                <a:uFillTx/>
                <a:latin typeface="Arial"/>
                <a:ea typeface="Arial"/>
              </a:rPr>
              <a:t>ISTAT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Google Shape;55;p5"/>
          <p:cNvSpPr/>
          <p:nvPr/>
        </p:nvSpPr>
        <p:spPr>
          <a:xfrm>
            <a:off x="6311880" y="1762200"/>
            <a:ext cx="18529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storico 1991-</a:t>
            </a:r>
            <a:r>
              <a:rPr lang="en-US" sz="83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2011, NEET 15-</a:t>
            </a:r>
            <a:r>
              <a:rPr lang="en-US" sz="83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29 come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56;p5"/>
          <p:cNvSpPr/>
          <p:nvPr/>
        </p:nvSpPr>
        <p:spPr>
          <a:xfrm>
            <a:off x="1306440" y="1817280"/>
            <a:ext cx="73872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121722"/>
                </a:solidFill>
                <a:effectLst/>
                <a:uFillTx/>
                <a:latin typeface="Arial"/>
                <a:ea typeface="Arial"/>
              </a:rPr>
              <a:t>Censimento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57;p5"/>
          <p:cNvSpPr/>
          <p:nvPr/>
        </p:nvSpPr>
        <p:spPr>
          <a:xfrm>
            <a:off x="2372400" y="1896120"/>
            <a:ext cx="151344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5F636A"/>
                </a:solidFill>
                <a:effectLst/>
                <a:uFillTx/>
                <a:latin typeface="Arial"/>
                <a:ea typeface="Arial"/>
              </a:rPr>
              <a:t>istruzione, popolazione per età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58;p5"/>
          <p:cNvSpPr/>
          <p:nvPr/>
        </p:nvSpPr>
        <p:spPr>
          <a:xfrm>
            <a:off x="5245560" y="1899360"/>
            <a:ext cx="85176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121723"/>
                </a:solidFill>
                <a:effectLst/>
                <a:uFillTx/>
                <a:latin typeface="Arial"/>
                <a:ea typeface="Arial"/>
              </a:rPr>
              <a:t>8milaCensus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Google Shape;59;p5"/>
          <p:cNvSpPr/>
          <p:nvPr/>
        </p:nvSpPr>
        <p:spPr>
          <a:xfrm>
            <a:off x="6311880" y="1896120"/>
            <a:ext cx="697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5E626A"/>
                </a:solidFill>
                <a:effectLst/>
                <a:uFillTx/>
                <a:latin typeface="Arial"/>
                <a:ea typeface="Arial"/>
              </a:rPr>
              <a:t>dato separato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60;p5"/>
          <p:cNvSpPr/>
          <p:nvPr/>
        </p:nvSpPr>
        <p:spPr>
          <a:xfrm>
            <a:off x="1306440" y="1974960"/>
            <a:ext cx="73188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131723"/>
                </a:solidFill>
                <a:effectLst/>
                <a:uFillTx/>
                <a:latin typeface="Arial"/>
                <a:ea typeface="Arial"/>
              </a:rPr>
              <a:t>permanente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61;p5"/>
          <p:cNvSpPr/>
          <p:nvPr/>
        </p:nvSpPr>
        <p:spPr>
          <a:xfrm>
            <a:off x="1309680" y="2897280"/>
            <a:ext cx="36828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121723"/>
                </a:solidFill>
                <a:effectLst/>
                <a:uFillTx/>
                <a:latin typeface="Arial"/>
                <a:ea typeface="Arial"/>
              </a:rPr>
              <a:t>MIUR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62;p5"/>
          <p:cNvSpPr/>
          <p:nvPr/>
        </p:nvSpPr>
        <p:spPr>
          <a:xfrm>
            <a:off x="2369160" y="2921040"/>
            <a:ext cx="142776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canali operativi per il servizio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63;p5"/>
          <p:cNvSpPr/>
          <p:nvPr/>
        </p:nvSpPr>
        <p:spPr>
          <a:xfrm>
            <a:off x="1302840" y="3054960"/>
            <a:ext cx="10267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121722"/>
                </a:solidFill>
                <a:effectLst/>
                <a:uFillTx/>
                <a:latin typeface="Arial"/>
                <a:ea typeface="Arial"/>
              </a:rPr>
              <a:t>scuole tecniche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69;p6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Google Shape;70;p6"/>
          <p:cNvSpPr/>
          <p:nvPr/>
        </p:nvSpPr>
        <p:spPr>
          <a:xfrm>
            <a:off x="514440" y="579600"/>
            <a:ext cx="430200" cy="15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1A64A5"/>
                </a:solidFill>
                <a:effectLst/>
                <a:uFillTx/>
                <a:latin typeface="Arial"/>
                <a:ea typeface="Arial"/>
              </a:rPr>
              <a:t>AREA 1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71;p6"/>
          <p:cNvSpPr/>
          <p:nvPr/>
        </p:nvSpPr>
        <p:spPr>
          <a:xfrm>
            <a:off x="521280" y="1601280"/>
            <a:ext cx="27169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80" b="1" u="none" strike="noStrike">
                <a:solidFill>
                  <a:srgbClr val="101727"/>
                </a:solidFill>
                <a:effectLst/>
                <a:uFillTx/>
                <a:latin typeface="Verdana"/>
                <a:ea typeface="Verdana"/>
              </a:rPr>
              <a:t>Titolo di studio</a:t>
            </a:r>
            <a:endParaRPr lang="en-US" sz="2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72;p6"/>
          <p:cNvSpPr/>
          <p:nvPr/>
        </p:nvSpPr>
        <p:spPr>
          <a:xfrm>
            <a:off x="531360" y="2060640"/>
            <a:ext cx="141768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380" b="1" u="none" strike="noStrike">
                <a:solidFill>
                  <a:srgbClr val="101727"/>
                </a:solidFill>
                <a:effectLst/>
                <a:uFillTx/>
                <a:latin typeface="Verdana"/>
                <a:ea typeface="Verdana"/>
              </a:rPr>
              <a:t>e lavoro</a:t>
            </a:r>
            <a:endParaRPr lang="en-US" sz="2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73;p6"/>
          <p:cNvSpPr/>
          <p:nvPr/>
        </p:nvSpPr>
        <p:spPr>
          <a:xfrm>
            <a:off x="558720" y="3003480"/>
            <a:ext cx="333396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F6269"/>
                </a:solidFill>
                <a:effectLst/>
                <a:uFillTx/>
                <a:latin typeface="Arial"/>
                <a:ea typeface="Arial"/>
              </a:rPr>
              <a:t>La relazione non è osservabile come incrocio individuale; va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74;p6"/>
          <p:cNvSpPr/>
          <p:nvPr/>
        </p:nvSpPr>
        <p:spPr>
          <a:xfrm>
            <a:off x="555480" y="3137040"/>
            <a:ext cx="212724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C636C"/>
                </a:solidFill>
                <a:effectLst/>
                <a:uFillTx/>
                <a:latin typeface="Arial"/>
                <a:ea typeface="Arial"/>
              </a:rPr>
              <a:t>letta come doppia misura sul territorio.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80;p7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Google Shape;81;p7"/>
          <p:cNvSpPr/>
          <p:nvPr/>
        </p:nvSpPr>
        <p:spPr>
          <a:xfrm>
            <a:off x="384120" y="171360"/>
            <a:ext cx="858600" cy="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0" u="none" strike="noStrike">
                <a:solidFill>
                  <a:srgbClr val="636466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Google Shape;82;p7"/>
          <p:cNvSpPr/>
          <p:nvPr/>
        </p:nvSpPr>
        <p:spPr>
          <a:xfrm>
            <a:off x="2060640" y="171360"/>
            <a:ext cx="570600" cy="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1" u="none" strike="noStrike">
                <a:solidFill>
                  <a:srgbClr val="5E636A"/>
                </a:solidFill>
                <a:effectLst/>
                <a:uFillTx/>
                <a:latin typeface="Arial"/>
                <a:ea typeface="Arial"/>
              </a:rPr>
              <a:t>INTRODUZIONE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83;p7"/>
          <p:cNvSpPr/>
          <p:nvPr/>
        </p:nvSpPr>
        <p:spPr>
          <a:xfrm>
            <a:off x="456120" y="627480"/>
            <a:ext cx="494568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60" b="1" u="none" strike="noStrike">
                <a:solidFill>
                  <a:srgbClr val="111725"/>
                </a:solidFill>
                <a:effectLst/>
                <a:uFillTx/>
                <a:latin typeface="Arial"/>
                <a:ea typeface="Arial"/>
              </a:rPr>
              <a:t>Quadro iniziale: tre cifre che guidano la proposta</a:t>
            </a:r>
            <a:endParaRPr lang="en-US" sz="1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84;p7"/>
          <p:cNvSpPr/>
          <p:nvPr/>
        </p:nvSpPr>
        <p:spPr>
          <a:xfrm>
            <a:off x="473040" y="1021680"/>
            <a:ext cx="311472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E6369"/>
                </a:solidFill>
                <a:effectLst/>
                <a:uFillTx/>
                <a:latin typeface="Arial"/>
                <a:ea typeface="Arial"/>
              </a:rPr>
              <a:t>Non sono slogan: sono vincoli di progettazione del servizio.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5;p7"/>
          <p:cNvSpPr/>
          <p:nvPr/>
        </p:nvSpPr>
        <p:spPr>
          <a:xfrm>
            <a:off x="596520" y="1340640"/>
            <a:ext cx="7729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33D30"/>
                </a:solidFill>
                <a:effectLst/>
                <a:uFillTx/>
                <a:latin typeface="Arial"/>
                <a:ea typeface="Arial"/>
              </a:rPr>
              <a:t>26,9%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6;p7"/>
          <p:cNvSpPr/>
          <p:nvPr/>
        </p:nvSpPr>
        <p:spPr>
          <a:xfrm>
            <a:off x="3404520" y="1340640"/>
            <a:ext cx="7765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86B20"/>
                </a:solidFill>
                <a:effectLst/>
                <a:uFillTx/>
                <a:latin typeface="Arial"/>
                <a:ea typeface="Arial"/>
              </a:rPr>
              <a:t>70,6%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87;p7"/>
          <p:cNvSpPr/>
          <p:nvPr/>
        </p:nvSpPr>
        <p:spPr>
          <a:xfrm>
            <a:off x="6195600" y="1340640"/>
            <a:ext cx="7628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66AF"/>
                </a:solidFill>
                <a:effectLst/>
                <a:uFillTx/>
                <a:latin typeface="Arial"/>
                <a:ea typeface="Arial"/>
              </a:rPr>
              <a:t>12,4%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88;p7"/>
          <p:cNvSpPr/>
          <p:nvPr/>
        </p:nvSpPr>
        <p:spPr>
          <a:xfrm>
            <a:off x="593280" y="1800000"/>
            <a:ext cx="212400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1" u="none" strike="noStrike">
                <a:solidFill>
                  <a:srgbClr val="131722"/>
                </a:solidFill>
                <a:effectLst/>
                <a:uFillTx/>
                <a:latin typeface="Arial"/>
                <a:ea typeface="Arial"/>
              </a:rPr>
              <a:t>15-24 fuori da lavoro e studio nel 2024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89;p7"/>
          <p:cNvSpPr/>
          <p:nvPr/>
        </p:nvSpPr>
        <p:spPr>
          <a:xfrm>
            <a:off x="3394440" y="1800000"/>
            <a:ext cx="200376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1" u="none" strike="noStrike">
                <a:solidFill>
                  <a:srgbClr val="131722"/>
                </a:solidFill>
                <a:effectLst/>
                <a:uFillTx/>
                <a:latin typeface="Arial"/>
                <a:ea typeface="Arial"/>
              </a:rPr>
              <a:t>fra questi, non classificati in ricerca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0;p7"/>
          <p:cNvSpPr/>
          <p:nvPr/>
        </p:nvSpPr>
        <p:spPr>
          <a:xfrm>
            <a:off x="6171480" y="1800000"/>
            <a:ext cx="207252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1" u="none" strike="noStrike">
                <a:solidFill>
                  <a:srgbClr val="131722"/>
                </a:solidFill>
                <a:effectLst/>
                <a:uFillTx/>
                <a:latin typeface="Arial"/>
                <a:ea typeface="Arial"/>
              </a:rPr>
              <a:t>tasso di occupazione giovanile 15-24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1;p7"/>
          <p:cNvSpPr/>
          <p:nvPr/>
        </p:nvSpPr>
        <p:spPr>
          <a:xfrm>
            <a:off x="380520" y="4920120"/>
            <a:ext cx="376272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" b="0" u="none" strike="noStrike">
                <a:solidFill>
                  <a:srgbClr val="717277"/>
                </a:solidFill>
                <a:effectLst/>
                <a:uFillTx/>
                <a:latin typeface="Arial"/>
                <a:ea typeface="Arial"/>
              </a:rPr>
              <a:t>Dati: ISTAT, Censimento permanente 2018-2024; elaborazioni da edu_youth_states_2018_2024.csv e edu_recent_analysis_panel.csv.</a:t>
            </a:r>
            <a:endParaRPr lang="en-US" sz="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Google Shape;92;p7"/>
          <p:cNvPicPr/>
          <p:nvPr/>
        </p:nvPicPr>
        <p:blipFill>
          <a:blip r:embed="rId2"/>
          <a:stretch/>
        </p:blipFill>
        <p:spPr>
          <a:xfrm>
            <a:off x="2149920" y="2080440"/>
            <a:ext cx="4844160" cy="272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Google Shape;93;p7"/>
          <p:cNvSpPr/>
          <p:nvPr/>
        </p:nvSpPr>
        <p:spPr>
          <a:xfrm>
            <a:off x="552600" y="2108160"/>
            <a:ext cx="1695240" cy="2304720"/>
          </a:xfrm>
          <a:prstGeom prst="rect">
            <a:avLst/>
          </a:prstGeom>
          <a:solidFill>
            <a:srgbClr val="FBF8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94;p7"/>
          <p:cNvSpPr/>
          <p:nvPr/>
        </p:nvSpPr>
        <p:spPr>
          <a:xfrm>
            <a:off x="6958440" y="2171880"/>
            <a:ext cx="1695240" cy="2304720"/>
          </a:xfrm>
          <a:prstGeom prst="rect">
            <a:avLst/>
          </a:prstGeom>
          <a:solidFill>
            <a:srgbClr val="FBF8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100;p8"/>
          <p:cNvPicPr/>
          <p:nvPr/>
        </p:nvPicPr>
        <p:blipFill>
          <a:blip r:embed="rId1"/>
          <a:stretch/>
        </p:blipFill>
        <p:spPr>
          <a:xfrm>
            <a:off x="0" y="684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Google Shape;101;p8"/>
          <p:cNvSpPr/>
          <p:nvPr/>
        </p:nvSpPr>
        <p:spPr>
          <a:xfrm>
            <a:off x="384120" y="157680"/>
            <a:ext cx="858600" cy="1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60" b="0" u="none" strike="noStrike">
                <a:solidFill>
                  <a:srgbClr val="656669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102;p8"/>
          <p:cNvSpPr/>
          <p:nvPr/>
        </p:nvSpPr>
        <p:spPr>
          <a:xfrm>
            <a:off x="2060640" y="171360"/>
            <a:ext cx="1081440" cy="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1" u="none" strike="noStrike">
                <a:solidFill>
                  <a:srgbClr val="5F626A"/>
                </a:solidFill>
                <a:effectLst/>
                <a:uFillTx/>
                <a:latin typeface="Arial"/>
                <a:ea typeface="Arial"/>
              </a:rPr>
              <a:t>TITOLO DI STUDIO — LAVORO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03;p8"/>
          <p:cNvSpPr/>
          <p:nvPr/>
        </p:nvSpPr>
        <p:spPr>
          <a:xfrm>
            <a:off x="459360" y="630720"/>
            <a:ext cx="486324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111725"/>
                </a:solidFill>
                <a:effectLst/>
                <a:uFillTx/>
                <a:latin typeface="Arial"/>
                <a:ea typeface="Arial"/>
              </a:rPr>
              <a:t>Il recupero recente non riattiva il nucleo inattivo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04;p8"/>
          <p:cNvSpPr/>
          <p:nvPr/>
        </p:nvSpPr>
        <p:spPr>
          <a:xfrm>
            <a:off x="473040" y="1018440"/>
            <a:ext cx="419112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E636A"/>
                </a:solidFill>
                <a:effectLst/>
                <a:uFillTx/>
                <a:latin typeface="Arial"/>
                <a:ea typeface="Arial"/>
              </a:rPr>
              <a:t>La componente in cerca cala; quella inattiva non studentesca resta quasi ferma.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05;p8"/>
          <p:cNvSpPr/>
          <p:nvPr/>
        </p:nvSpPr>
        <p:spPr>
          <a:xfrm>
            <a:off x="5873040" y="1271880"/>
            <a:ext cx="17877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121723"/>
                </a:solidFill>
                <a:effectLst/>
                <a:uFillTx/>
                <a:latin typeface="Arial"/>
                <a:ea typeface="Arial"/>
              </a:rPr>
              <a:t>Perché conta per la policy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6;p8"/>
          <p:cNvSpPr/>
          <p:nvPr/>
        </p:nvSpPr>
        <p:spPr>
          <a:xfrm>
            <a:off x="5886720" y="1717560"/>
            <a:ext cx="7628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33D2F"/>
                </a:solidFill>
                <a:effectLst/>
                <a:uFillTx/>
                <a:latin typeface="Arial"/>
                <a:ea typeface="Arial"/>
              </a:rPr>
              <a:t>19,0%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7;p8"/>
          <p:cNvSpPr/>
          <p:nvPr/>
        </p:nvSpPr>
        <p:spPr>
          <a:xfrm>
            <a:off x="5869800" y="2177280"/>
            <a:ext cx="194904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21722"/>
                </a:solidFill>
                <a:effectLst/>
                <a:uFillTx/>
                <a:latin typeface="Arial"/>
                <a:ea typeface="Arial"/>
              </a:rPr>
              <a:t>inattivi non studenti 15-24 nel 2024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8;p8"/>
          <p:cNvSpPr/>
          <p:nvPr/>
        </p:nvSpPr>
        <p:spPr>
          <a:xfrm>
            <a:off x="5873040" y="2742840"/>
            <a:ext cx="6220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60" b="0" u="none" strike="noStrike">
                <a:solidFill>
                  <a:srgbClr val="EFB427"/>
                </a:solidFill>
                <a:effectLst/>
                <a:uFillTx/>
                <a:latin typeface="Arial"/>
                <a:ea typeface="Arial"/>
              </a:rPr>
              <a:t>7,9%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9;p8"/>
          <p:cNvSpPr/>
          <p:nvPr/>
        </p:nvSpPr>
        <p:spPr>
          <a:xfrm>
            <a:off x="5869800" y="3205800"/>
            <a:ext cx="147240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21723"/>
                </a:solidFill>
                <a:effectLst/>
                <a:uFillTx/>
                <a:latin typeface="Arial"/>
                <a:ea typeface="Arial"/>
              </a:rPr>
              <a:t>in cerca di lavoro nel 2024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10;p8"/>
          <p:cNvSpPr/>
          <p:nvPr/>
        </p:nvSpPr>
        <p:spPr>
          <a:xfrm>
            <a:off x="5869800" y="3768120"/>
            <a:ext cx="235368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121722"/>
                </a:solidFill>
                <a:effectLst/>
                <a:uFillTx/>
                <a:latin typeface="Arial"/>
                <a:ea typeface="Arial"/>
              </a:rPr>
              <a:t>Uno sportello intercetta chi si presenta.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11;p8"/>
          <p:cNvSpPr/>
          <p:nvPr/>
        </p:nvSpPr>
        <p:spPr>
          <a:xfrm>
            <a:off x="5873040" y="3884400"/>
            <a:ext cx="25113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121722"/>
                </a:solidFill>
                <a:effectLst/>
                <a:uFillTx/>
                <a:latin typeface="Arial"/>
                <a:ea typeface="Arial"/>
              </a:rPr>
              <a:t>Ponte 19 nasce per raggiungere anche chi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12;p8"/>
          <p:cNvSpPr/>
          <p:nvPr/>
        </p:nvSpPr>
        <p:spPr>
          <a:xfrm>
            <a:off x="5869800" y="4007880"/>
            <a:ext cx="97200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trike="noStrike">
                <a:solidFill>
                  <a:srgbClr val="131722"/>
                </a:solidFill>
                <a:effectLst/>
                <a:uFillTx/>
                <a:latin typeface="Arial"/>
                <a:ea typeface="Arial"/>
              </a:rPr>
              <a:t>non si presenta.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13;p8"/>
          <p:cNvSpPr/>
          <p:nvPr/>
        </p:nvSpPr>
        <p:spPr>
          <a:xfrm>
            <a:off x="384120" y="4906440"/>
            <a:ext cx="2946600" cy="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90" b="0" u="none" strike="noStrike">
                <a:solidFill>
                  <a:srgbClr val="76777C"/>
                </a:solidFill>
                <a:effectLst/>
                <a:uFillTx/>
                <a:latin typeface="Arial"/>
                <a:ea typeface="Arial"/>
              </a:rPr>
              <a:t>Dati: edu_youth_states_2018_2024.csv. Il 2020 manca nella fonte per la classe 15-24 e non è interpolato.</a:t>
            </a:r>
            <a:endParaRPr lang="en-US" sz="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119;p9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Google Shape;120;p9"/>
          <p:cNvSpPr/>
          <p:nvPr/>
        </p:nvSpPr>
        <p:spPr>
          <a:xfrm>
            <a:off x="384120" y="171360"/>
            <a:ext cx="858600" cy="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0" u="none" strike="noStrike">
                <a:solidFill>
                  <a:srgbClr val="636466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21;p9"/>
          <p:cNvSpPr/>
          <p:nvPr/>
        </p:nvSpPr>
        <p:spPr>
          <a:xfrm>
            <a:off x="2060640" y="171360"/>
            <a:ext cx="1081440" cy="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1" u="none" strike="noStrike">
                <a:solidFill>
                  <a:srgbClr val="5F626A"/>
                </a:solidFill>
                <a:effectLst/>
                <a:uFillTx/>
                <a:latin typeface="Arial"/>
                <a:ea typeface="Arial"/>
              </a:rPr>
              <a:t>TITOLO DI STUDIO — LAVORO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22;p9"/>
          <p:cNvSpPr/>
          <p:nvPr/>
        </p:nvSpPr>
        <p:spPr>
          <a:xfrm>
            <a:off x="449280" y="610200"/>
            <a:ext cx="53262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60" b="1" u="none" strike="noStrike">
                <a:solidFill>
                  <a:srgbClr val="111725"/>
                </a:solidFill>
                <a:effectLst/>
                <a:uFillTx/>
                <a:latin typeface="Arial"/>
                <a:ea typeface="Arial"/>
              </a:rPr>
              <a:t>Titolo di studio e lavoro: il deficit resta nel confronto</a:t>
            </a:r>
            <a:endParaRPr lang="en-US" sz="1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23;p9"/>
          <p:cNvSpPr/>
          <p:nvPr/>
        </p:nvSpPr>
        <p:spPr>
          <a:xfrm>
            <a:off x="473040" y="1021680"/>
            <a:ext cx="451692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E6369"/>
                </a:solidFill>
                <a:effectLst/>
                <a:uFillTx/>
                <a:latin typeface="Arial"/>
                <a:ea typeface="Arial"/>
              </a:rPr>
              <a:t>Nel 2024 Bagheria è sotto la Sicilia sia sul capitale umano adulto sia sull’occupazione.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24;p9"/>
          <p:cNvSpPr/>
          <p:nvPr/>
        </p:nvSpPr>
        <p:spPr>
          <a:xfrm>
            <a:off x="5667480" y="1189800"/>
            <a:ext cx="1002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121722"/>
                </a:solidFill>
                <a:effectLst/>
                <a:uFillTx/>
                <a:latin typeface="Arial"/>
                <a:ea typeface="Arial"/>
              </a:rPr>
              <a:t>Lettura corretta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25;p9"/>
          <p:cNvSpPr/>
          <p:nvPr/>
        </p:nvSpPr>
        <p:spPr>
          <a:xfrm>
            <a:off x="5818320" y="1587600"/>
            <a:ext cx="232956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Il confronto è descrittivo: non isola causalità.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26;p9"/>
          <p:cNvSpPr/>
          <p:nvPr/>
        </p:nvSpPr>
        <p:spPr>
          <a:xfrm>
            <a:off x="5814720" y="2026440"/>
            <a:ext cx="274788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5171E"/>
                </a:solidFill>
                <a:effectLst/>
                <a:uFillTx/>
                <a:latin typeface="Arial"/>
                <a:ea typeface="Arial"/>
              </a:rPr>
              <a:t>La quota di diplomati cresce, ma il lavoro resta sotto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27;p9"/>
          <p:cNvSpPr/>
          <p:nvPr/>
        </p:nvSpPr>
        <p:spPr>
          <a:xfrm>
            <a:off x="5814720" y="2170440"/>
            <a:ext cx="63576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4181E"/>
                </a:solidFill>
                <a:effectLst/>
                <a:uFillTx/>
                <a:latin typeface="Arial"/>
                <a:ea typeface="Arial"/>
              </a:rPr>
              <a:t>benchmark.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28;p9"/>
          <p:cNvSpPr/>
          <p:nvPr/>
        </p:nvSpPr>
        <p:spPr>
          <a:xfrm>
            <a:off x="5818320" y="2544120"/>
            <a:ext cx="279576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Per il 15-24 la distanza occupazionale con la Sicilia è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29;p9"/>
          <p:cNvSpPr/>
          <p:nvPr/>
        </p:nvSpPr>
        <p:spPr>
          <a:xfrm>
            <a:off x="5811480" y="2688120"/>
            <a:ext cx="82800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circa -3,1 punti.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30;p9"/>
          <p:cNvSpPr/>
          <p:nvPr/>
        </p:nvSpPr>
        <p:spPr>
          <a:xfrm>
            <a:off x="5663880" y="3579480"/>
            <a:ext cx="272736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121723"/>
                </a:solidFill>
                <a:effectLst/>
                <a:uFillTx/>
                <a:latin typeface="Arial"/>
                <a:ea typeface="Arial"/>
              </a:rPr>
              <a:t>Questo giustifica una policy di transizione,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31;p9"/>
          <p:cNvSpPr/>
          <p:nvPr/>
        </p:nvSpPr>
        <p:spPr>
          <a:xfrm>
            <a:off x="5667480" y="3740400"/>
            <a:ext cx="230220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121722"/>
                </a:solidFill>
                <a:effectLst/>
                <a:uFillTx/>
                <a:latin typeface="Arial"/>
                <a:ea typeface="Arial"/>
              </a:rPr>
              <a:t>non soltanto formazione aggiuntiva.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32;p9"/>
          <p:cNvSpPr/>
          <p:nvPr/>
        </p:nvSpPr>
        <p:spPr>
          <a:xfrm>
            <a:off x="380520" y="4916520"/>
            <a:ext cx="3783240" cy="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" b="0" u="none" strike="noStrike">
                <a:solidFill>
                  <a:srgbClr val="707177"/>
                </a:solidFill>
                <a:effectLst/>
                <a:uFillTx/>
                <a:latin typeface="Arial"/>
                <a:ea typeface="Arial"/>
              </a:rPr>
              <a:t>Dati: edu_kpi_dashboard.csv, anno 2024. Misure aggregate separate; non osservano l'incrocio individuale titolo x condizione lavorativa.</a:t>
            </a:r>
            <a:endParaRPr lang="en-US" sz="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38;p10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Google Shape;139;p10"/>
          <p:cNvSpPr/>
          <p:nvPr/>
        </p:nvSpPr>
        <p:spPr>
          <a:xfrm>
            <a:off x="229680" y="130320"/>
            <a:ext cx="900000" cy="10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90" b="0" u="none" strike="noStrike">
                <a:solidFill>
                  <a:srgbClr val="51504A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40;p10"/>
          <p:cNvSpPr/>
          <p:nvPr/>
        </p:nvSpPr>
        <p:spPr>
          <a:xfrm>
            <a:off x="3970440" y="137160"/>
            <a:ext cx="123588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4D4F4D"/>
                </a:solidFill>
                <a:effectLst/>
                <a:uFillTx/>
                <a:latin typeface="Arial"/>
                <a:ea typeface="Arial"/>
              </a:rPr>
              <a:t>TITOLO DI STUDIO → LAVORO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41;p10"/>
          <p:cNvSpPr/>
          <p:nvPr/>
        </p:nvSpPr>
        <p:spPr>
          <a:xfrm>
            <a:off x="291600" y="531360"/>
            <a:ext cx="476028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102236"/>
                </a:solidFill>
                <a:effectLst/>
                <a:uFillTx/>
                <a:latin typeface="Arial"/>
                <a:ea typeface="Arial"/>
              </a:rPr>
              <a:t>Il collo di bottiglia viene dopo la scuola di base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42;p10"/>
          <p:cNvSpPr/>
          <p:nvPr/>
        </p:nvSpPr>
        <p:spPr>
          <a:xfrm>
            <a:off x="284400" y="792000"/>
            <a:ext cx="39650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6D6F70"/>
                </a:solidFill>
                <a:effectLst/>
                <a:uFillTx/>
                <a:latin typeface="Arial"/>
                <a:ea typeface="Arial"/>
              </a:rPr>
              <a:t>La relazione titolo → lavoro non va forzata sulla persona: la leggiamo come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43;p10"/>
          <p:cNvSpPr/>
          <p:nvPr/>
        </p:nvSpPr>
        <p:spPr>
          <a:xfrm>
            <a:off x="284400" y="946440"/>
            <a:ext cx="27889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6E6F70"/>
                </a:solidFill>
                <a:effectLst/>
                <a:uFillTx/>
                <a:latin typeface="Arial"/>
                <a:ea typeface="Arial"/>
              </a:rPr>
              <a:t>progressione territoriale e come esigenza di servizio.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44;p10"/>
          <p:cNvSpPr/>
          <p:nvPr/>
        </p:nvSpPr>
        <p:spPr>
          <a:xfrm>
            <a:off x="4981680" y="1258200"/>
            <a:ext cx="119124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45;p10"/>
          <p:cNvSpPr/>
          <p:nvPr/>
        </p:nvSpPr>
        <p:spPr>
          <a:xfrm>
            <a:off x="5149800" y="1523880"/>
            <a:ext cx="85536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trike="noStrike">
                <a:solidFill>
                  <a:srgbClr val="112233"/>
                </a:solidFill>
                <a:effectLst/>
                <a:uFillTx/>
                <a:latin typeface="Arial"/>
                <a:ea typeface="Arial"/>
              </a:rPr>
              <a:t>La base regge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46;p10"/>
          <p:cNvSpPr/>
          <p:nvPr/>
        </p:nvSpPr>
        <p:spPr>
          <a:xfrm>
            <a:off x="5132520" y="1690200"/>
            <a:ext cx="310788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6C6F72"/>
                </a:solidFill>
                <a:effectLst/>
                <a:uFillTx/>
                <a:latin typeface="Arial"/>
                <a:ea typeface="Arial"/>
              </a:rPr>
              <a:t>96,7% dei 15-19enni ha almeno la licenza media nel 2011.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47;p10"/>
          <p:cNvSpPr/>
          <p:nvPr/>
        </p:nvSpPr>
        <p:spPr>
          <a:xfrm>
            <a:off x="5149800" y="1910160"/>
            <a:ext cx="144144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trike="noStrike">
                <a:solidFill>
                  <a:srgbClr val="122233"/>
                </a:solidFill>
                <a:effectLst/>
                <a:uFillTx/>
                <a:latin typeface="Arial"/>
                <a:ea typeface="Arial"/>
              </a:rPr>
              <a:t>Il gradino successivo no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48;p10"/>
          <p:cNvSpPr/>
          <p:nvPr/>
        </p:nvSpPr>
        <p:spPr>
          <a:xfrm>
            <a:off x="5136120" y="2053800"/>
            <a:ext cx="312480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6D7072"/>
                </a:solidFill>
                <a:effectLst/>
                <a:uFillTx/>
                <a:latin typeface="Arial"/>
                <a:ea typeface="Arial"/>
              </a:rPr>
              <a:t>Diploma/laurea e titolo universitario restano sotto Palermo,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49;p10"/>
          <p:cNvSpPr/>
          <p:nvPr/>
        </p:nvSpPr>
        <p:spPr>
          <a:xfrm>
            <a:off x="5132520" y="2214720"/>
            <a:ext cx="7455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6C6F72"/>
                </a:solidFill>
                <a:effectLst/>
                <a:uFillTx/>
                <a:latin typeface="Arial"/>
                <a:ea typeface="Arial"/>
              </a:rPr>
              <a:t>Sicilia e Italia.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50;p10"/>
          <p:cNvSpPr/>
          <p:nvPr/>
        </p:nvSpPr>
        <p:spPr>
          <a:xfrm>
            <a:off x="5132520" y="2435040"/>
            <a:ext cx="174312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122233"/>
                </a:solidFill>
                <a:effectLst/>
                <a:uFillTx/>
                <a:latin typeface="Arial"/>
                <a:ea typeface="Arial"/>
              </a:rPr>
              <a:t>Non è una catena individuale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51;p10"/>
          <p:cNvSpPr/>
          <p:nvPr/>
        </p:nvSpPr>
        <p:spPr>
          <a:xfrm>
            <a:off x="5136120" y="2592000"/>
            <a:ext cx="32245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6D6F72"/>
                </a:solidFill>
                <a:effectLst/>
                <a:uFillTx/>
                <a:latin typeface="Arial"/>
                <a:ea typeface="Arial"/>
              </a:rPr>
              <a:t>Le tavole comunali non osservano chi, tra i diplomati, lavora.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52;p10"/>
          <p:cNvSpPr/>
          <p:nvPr/>
        </p:nvSpPr>
        <p:spPr>
          <a:xfrm>
            <a:off x="5112000" y="2810160"/>
            <a:ext cx="930960" cy="17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112234"/>
                </a:solidFill>
                <a:effectLst/>
                <a:uFillTx/>
                <a:latin typeface="Arial"/>
                <a:ea typeface="Arial"/>
              </a:rPr>
              <a:t>Da qui la policy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53;p10"/>
          <p:cNvSpPr/>
          <p:nvPr/>
        </p:nvSpPr>
        <p:spPr>
          <a:xfrm>
            <a:off x="5132520" y="2965680"/>
            <a:ext cx="326196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6D6F72"/>
                </a:solidFill>
                <a:effectLst/>
                <a:uFillTx/>
                <a:latin typeface="Arial"/>
                <a:ea typeface="Arial"/>
              </a:rPr>
              <a:t>Serve transizione: azione ravvicinata, opportunità praticabile,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54;p10"/>
          <p:cNvSpPr/>
          <p:nvPr/>
        </p:nvSpPr>
        <p:spPr>
          <a:xfrm>
            <a:off x="5132520" y="3116520"/>
            <a:ext cx="8002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6D6F71"/>
                </a:solidFill>
                <a:effectLst/>
                <a:uFillTx/>
                <a:latin typeface="Arial"/>
                <a:ea typeface="Arial"/>
              </a:rPr>
              <a:t>esito misurato.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Google Shape;155;p10"/>
          <p:cNvPicPr/>
          <p:nvPr/>
        </p:nvPicPr>
        <p:blipFill>
          <a:blip r:embed="rId2"/>
          <a:stretch/>
        </p:blipFill>
        <p:spPr>
          <a:xfrm>
            <a:off x="291600" y="1106280"/>
            <a:ext cx="4433040" cy="3017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61;p11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Google Shape;162;p11"/>
          <p:cNvSpPr/>
          <p:nvPr/>
        </p:nvSpPr>
        <p:spPr>
          <a:xfrm>
            <a:off x="514440" y="576000"/>
            <a:ext cx="44388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BD739B"/>
                </a:solidFill>
                <a:effectLst/>
                <a:uFillTx/>
                <a:latin typeface="Arial"/>
                <a:ea typeface="Arial"/>
              </a:rPr>
              <a:t>AREA 2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63;p11"/>
          <p:cNvSpPr/>
          <p:nvPr/>
        </p:nvSpPr>
        <p:spPr>
          <a:xfrm>
            <a:off x="538200" y="1728000"/>
            <a:ext cx="293976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90" b="1" u="none" strike="noStrike">
                <a:solidFill>
                  <a:srgbClr val="101726"/>
                </a:solidFill>
                <a:effectLst/>
                <a:uFillTx/>
                <a:latin typeface="Verdana"/>
                <a:ea typeface="Verdana"/>
              </a:rPr>
              <a:t>Focus femminile</a:t>
            </a:r>
            <a:endParaRPr lang="en-US" sz="2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64;p11"/>
          <p:cNvSpPr/>
          <p:nvPr/>
        </p:nvSpPr>
        <p:spPr>
          <a:xfrm>
            <a:off x="555480" y="2904120"/>
            <a:ext cx="368028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D636B"/>
                </a:solidFill>
                <a:effectLst/>
                <a:uFillTx/>
                <a:latin typeface="Arial"/>
                <a:ea typeface="Arial"/>
              </a:rPr>
              <a:t>Qui non cerchiamo una causa unica. Individuiamo il punto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65;p11"/>
          <p:cNvSpPr/>
          <p:nvPr/>
        </p:nvSpPr>
        <p:spPr>
          <a:xfrm>
            <a:off x="551880" y="3075480"/>
            <a:ext cx="17398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5C626A"/>
                </a:solidFill>
                <a:effectLst/>
                <a:uFillTx/>
                <a:latin typeface="Arial"/>
                <a:ea typeface="Arial"/>
              </a:rPr>
              <a:t>dove il divario si concentra.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71;p12"/>
          <p:cNvPicPr/>
          <p:nvPr/>
        </p:nvPicPr>
        <p:blipFill>
          <a:blip r:embed="rId1"/>
          <a:stretch/>
        </p:blipFill>
        <p:spPr>
          <a:xfrm>
            <a:off x="0" y="3600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Google Shape;172;p12"/>
          <p:cNvSpPr/>
          <p:nvPr/>
        </p:nvSpPr>
        <p:spPr>
          <a:xfrm>
            <a:off x="380520" y="171360"/>
            <a:ext cx="862200" cy="1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60" b="0" u="none" strike="noStrike">
                <a:solidFill>
                  <a:srgbClr val="636466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73;p12"/>
          <p:cNvSpPr/>
          <p:nvPr/>
        </p:nvSpPr>
        <p:spPr>
          <a:xfrm>
            <a:off x="2060640" y="171360"/>
            <a:ext cx="690840" cy="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1" u="none" strike="noStrike">
                <a:solidFill>
                  <a:srgbClr val="5E646B"/>
                </a:solidFill>
                <a:effectLst/>
                <a:uFillTx/>
                <a:latin typeface="Arial"/>
                <a:ea typeface="Arial"/>
              </a:rPr>
              <a:t>FOCUS FEMMINILE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74;p12"/>
          <p:cNvSpPr/>
          <p:nvPr/>
        </p:nvSpPr>
        <p:spPr>
          <a:xfrm>
            <a:off x="462960" y="627480"/>
            <a:ext cx="499356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20" b="1" u="none" strike="noStrike">
                <a:solidFill>
                  <a:srgbClr val="111725"/>
                </a:solidFill>
                <a:effectLst/>
                <a:uFillTx/>
                <a:latin typeface="Arial"/>
                <a:ea typeface="Arial"/>
              </a:rPr>
              <a:t>Il rovesciamento: più diploma, meno lavoro</a:t>
            </a:r>
            <a:endParaRPr lang="en-US" sz="1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175;p12"/>
          <p:cNvSpPr/>
          <p:nvPr/>
        </p:nvSpPr>
        <p:spPr>
          <a:xfrm>
            <a:off x="466200" y="1018440"/>
            <a:ext cx="422892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E6369"/>
                </a:solidFill>
                <a:effectLst/>
                <a:uFillTx/>
                <a:latin typeface="Arial"/>
                <a:ea typeface="Arial"/>
              </a:rPr>
              <a:t>A Bagheria le ragazze hanno più diploma dei ragazzi, ma lavorano circa la metà.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76;p12"/>
          <p:cNvSpPr/>
          <p:nvPr/>
        </p:nvSpPr>
        <p:spPr>
          <a:xfrm>
            <a:off x="5910840" y="2026440"/>
            <a:ext cx="13248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C370A0"/>
                </a:solidFill>
                <a:effectLst/>
                <a:uFillTx/>
                <a:latin typeface="Arial"/>
                <a:ea typeface="Arial"/>
              </a:rPr>
              <a:t>510 </a:t>
            </a:r>
            <a:r>
              <a:rPr lang="en-US" sz="1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vs</a:t>
            </a:r>
            <a:r>
              <a:rPr lang="en-US" sz="1900" b="1" u="none" strike="noStrike">
                <a:solidFill>
                  <a:srgbClr val="C370A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900" b="1" u="none" strike="noStrik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462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77;p12"/>
          <p:cNvSpPr/>
          <p:nvPr/>
        </p:nvSpPr>
        <p:spPr>
          <a:xfrm>
            <a:off x="5897160" y="2489040"/>
            <a:ext cx="185652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1" u="none" strike="noStrike">
                <a:solidFill>
                  <a:srgbClr val="121722"/>
                </a:solidFill>
                <a:effectLst/>
                <a:uFillTx/>
                <a:latin typeface="Arial"/>
                <a:ea typeface="Arial"/>
              </a:rPr>
              <a:t>diploma per 1.000 residenti 15-24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78;p12"/>
          <p:cNvSpPr/>
          <p:nvPr/>
        </p:nvSpPr>
        <p:spPr>
          <a:xfrm>
            <a:off x="5904000" y="3157560"/>
            <a:ext cx="1173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C370A0"/>
                </a:solidFill>
                <a:effectLst/>
                <a:uFillTx/>
                <a:latin typeface="Arial"/>
                <a:ea typeface="Arial"/>
              </a:rPr>
              <a:t>82</a:t>
            </a:r>
            <a:r>
              <a:rPr lang="en-US" sz="1900" b="1" u="none" strike="noStrike">
                <a:solidFill>
                  <a:srgbClr val="1366B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vs</a:t>
            </a:r>
            <a:r>
              <a:rPr lang="en-US" sz="1900" b="1" u="none" strike="noStrike">
                <a:solidFill>
                  <a:srgbClr val="1366B0"/>
                </a:solidFill>
                <a:effectLst/>
                <a:uFillTx/>
                <a:latin typeface="Arial"/>
                <a:ea typeface="Arial"/>
              </a:rPr>
              <a:t> 165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79;p12"/>
          <p:cNvSpPr/>
          <p:nvPr/>
        </p:nvSpPr>
        <p:spPr>
          <a:xfrm>
            <a:off x="5897160" y="3620520"/>
            <a:ext cx="189072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1" u="none" strike="noStrike">
                <a:solidFill>
                  <a:srgbClr val="131722"/>
                </a:solidFill>
                <a:effectLst/>
                <a:uFillTx/>
                <a:latin typeface="Arial"/>
                <a:ea typeface="Arial"/>
              </a:rPr>
              <a:t>occupati per 1.000 residenti 15-24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80;p12"/>
          <p:cNvSpPr/>
          <p:nvPr/>
        </p:nvSpPr>
        <p:spPr>
          <a:xfrm>
            <a:off x="380520" y="4920120"/>
            <a:ext cx="2847240" cy="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" b="0" u="none" strike="noStrike">
                <a:solidFill>
                  <a:srgbClr val="707277"/>
                </a:solidFill>
                <a:effectLst/>
                <a:uFillTx/>
                <a:latin typeface="Arial"/>
                <a:ea typeface="Arial"/>
              </a:rPr>
              <a:t>Dati: genere_per_1000.csv, Bagheria 2024. Diploma e occupazione sono misure aggregate separate.</a:t>
            </a:r>
            <a:endParaRPr lang="en-US" sz="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86;p13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Google Shape;187;p13"/>
          <p:cNvSpPr/>
          <p:nvPr/>
        </p:nvSpPr>
        <p:spPr>
          <a:xfrm>
            <a:off x="384120" y="157680"/>
            <a:ext cx="858600" cy="1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60" b="0" u="none" strike="noStrike">
                <a:solidFill>
                  <a:srgbClr val="656669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88;p13"/>
          <p:cNvSpPr/>
          <p:nvPr/>
        </p:nvSpPr>
        <p:spPr>
          <a:xfrm>
            <a:off x="2063880" y="171360"/>
            <a:ext cx="687240" cy="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1" u="none" strike="noStrike">
                <a:solidFill>
                  <a:srgbClr val="5E646B"/>
                </a:solidFill>
                <a:effectLst/>
                <a:uFillTx/>
                <a:latin typeface="Arial"/>
                <a:ea typeface="Arial"/>
              </a:rPr>
              <a:t>FOCUS FEMMINILE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189;p13"/>
          <p:cNvSpPr/>
          <p:nvPr/>
        </p:nvSpPr>
        <p:spPr>
          <a:xfrm>
            <a:off x="459360" y="613800"/>
            <a:ext cx="523692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40" b="1" u="none" strike="noStrike">
                <a:solidFill>
                  <a:srgbClr val="111725"/>
                </a:solidFill>
                <a:effectLst/>
                <a:uFillTx/>
                <a:latin typeface="Arial"/>
                <a:ea typeface="Arial"/>
              </a:rPr>
              <a:t>Il tasso femminile cresce, ma il divario non si chiude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190;p13"/>
          <p:cNvSpPr/>
          <p:nvPr/>
        </p:nvSpPr>
        <p:spPr>
          <a:xfrm>
            <a:off x="473040" y="1018440"/>
            <a:ext cx="453744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E6369"/>
                </a:solidFill>
                <a:effectLst/>
                <a:uFillTx/>
                <a:latin typeface="Arial"/>
                <a:ea typeface="Arial"/>
              </a:rPr>
              <a:t>Bagheria migliora in valore assoluto; resta sotto Palermo, Sicilia e Italia in ogni annata.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91;p13"/>
          <p:cNvSpPr/>
          <p:nvPr/>
        </p:nvSpPr>
        <p:spPr>
          <a:xfrm>
            <a:off x="6120000" y="2214720"/>
            <a:ext cx="223704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8,2% nel 2024: valore più alto della serie di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92;p13"/>
          <p:cNvSpPr/>
          <p:nvPr/>
        </p:nvSpPr>
        <p:spPr>
          <a:xfrm>
            <a:off x="6123600" y="2355480"/>
            <a:ext cx="51588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Bagheria.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93;p13"/>
          <p:cNvSpPr/>
          <p:nvPr/>
        </p:nvSpPr>
        <p:spPr>
          <a:xfrm>
            <a:off x="6123600" y="2797560"/>
            <a:ext cx="1715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15171E"/>
                </a:solidFill>
                <a:effectLst/>
                <a:uFillTx/>
                <a:latin typeface="Arial"/>
                <a:ea typeface="Arial"/>
              </a:rPr>
              <a:t>Non è un crollo: cresce ovunque.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94;p13"/>
          <p:cNvSpPr/>
          <p:nvPr/>
        </p:nvSpPr>
        <p:spPr>
          <a:xfrm>
            <a:off x="6126840" y="3315600"/>
            <a:ext cx="26107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41720"/>
                </a:solidFill>
                <a:effectLst/>
                <a:uFillTx/>
                <a:latin typeface="Arial"/>
                <a:ea typeface="Arial"/>
              </a:rPr>
              <a:t>Il punto è la mancata convergenza col benchmark.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200;p14"/>
          <p:cNvSpPr/>
          <p:nvPr/>
        </p:nvSpPr>
        <p:spPr>
          <a:xfrm>
            <a:off x="8773560" y="171360"/>
            <a:ext cx="104400" cy="8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" b="0" u="none" strike="noStrike">
                <a:solidFill>
                  <a:srgbClr val="636466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Google Shape;201;p14" descr="/mnt/data/pt_render/page-12.png"/>
          <p:cNvPicPr/>
          <p:nvPr/>
        </p:nvPicPr>
        <p:blipFill>
          <a:blip r:embed="rId1"/>
          <a:srcRect l="0" t="0" r="0" b="1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207;p15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Google Shape;208;p15"/>
          <p:cNvSpPr/>
          <p:nvPr/>
        </p:nvSpPr>
        <p:spPr>
          <a:xfrm>
            <a:off x="380520" y="171360"/>
            <a:ext cx="862200" cy="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0" u="none" strike="noStrike">
                <a:solidFill>
                  <a:srgbClr val="636466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209;p15"/>
          <p:cNvSpPr/>
          <p:nvPr/>
        </p:nvSpPr>
        <p:spPr>
          <a:xfrm>
            <a:off x="2060640" y="171360"/>
            <a:ext cx="690840" cy="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1" u="none" strike="noStrike">
                <a:solidFill>
                  <a:srgbClr val="5E646B"/>
                </a:solidFill>
                <a:effectLst/>
                <a:uFillTx/>
                <a:latin typeface="Arial"/>
                <a:ea typeface="Arial"/>
              </a:rPr>
              <a:t>FOCUS FEMMINILE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210;p15"/>
          <p:cNvSpPr/>
          <p:nvPr/>
        </p:nvSpPr>
        <p:spPr>
          <a:xfrm>
            <a:off x="462960" y="617040"/>
            <a:ext cx="3965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40" b="1" u="none" strike="noStrike">
                <a:solidFill>
                  <a:srgbClr val="101725"/>
                </a:solidFill>
                <a:effectLst/>
                <a:uFillTx/>
                <a:latin typeface="Arial"/>
                <a:ea typeface="Arial"/>
              </a:rPr>
              <a:t>Mobilità e finestra di intervento</a:t>
            </a:r>
            <a:endParaRPr lang="en-US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211;p15"/>
          <p:cNvSpPr/>
          <p:nvPr/>
        </p:nvSpPr>
        <p:spPr>
          <a:xfrm>
            <a:off x="473040" y="1021680"/>
            <a:ext cx="436968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E6369"/>
                </a:solidFill>
                <a:effectLst/>
                <a:uFillTx/>
                <a:latin typeface="Arial"/>
                <a:ea typeface="Arial"/>
              </a:rPr>
              <a:t>Le ragazze si spostano per studiare; il nodo emerge nel lavoro e nella fascia 22-25.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212;p15"/>
          <p:cNvSpPr/>
          <p:nvPr/>
        </p:nvSpPr>
        <p:spPr>
          <a:xfrm>
            <a:off x="589680" y="4628520"/>
            <a:ext cx="60699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31722"/>
                </a:solidFill>
                <a:effectLst/>
                <a:uFillTx/>
                <a:latin typeface="Arial"/>
                <a:ea typeface="Arial"/>
              </a:rPr>
              <a:t>Uso progettuale: reclutare prima che la finestra 22-25 si chiuda, e verificare la raggiungibilità reale delle opportunità.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218;p16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Google Shape;219;p16"/>
          <p:cNvSpPr/>
          <p:nvPr/>
        </p:nvSpPr>
        <p:spPr>
          <a:xfrm>
            <a:off x="521280" y="576000"/>
            <a:ext cx="111924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2A7F5C"/>
                </a:solidFill>
                <a:effectLst/>
                <a:uFillTx/>
                <a:latin typeface="Arial"/>
                <a:ea typeface="Arial"/>
              </a:rPr>
              <a:t>POLICY PROPOSAL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220;p16"/>
          <p:cNvSpPr/>
          <p:nvPr/>
        </p:nvSpPr>
        <p:spPr>
          <a:xfrm>
            <a:off x="541800" y="1703880"/>
            <a:ext cx="165420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530" b="1" u="none" strike="noStrike">
                <a:solidFill>
                  <a:srgbClr val="101727"/>
                </a:solidFill>
                <a:effectLst/>
                <a:uFillTx/>
                <a:latin typeface="Verdana"/>
                <a:ea typeface="Verdana"/>
              </a:rPr>
              <a:t>Ponte 19</a:t>
            </a:r>
            <a:endParaRPr lang="en-US" sz="2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221;p16"/>
          <p:cNvSpPr/>
          <p:nvPr/>
        </p:nvSpPr>
        <p:spPr>
          <a:xfrm>
            <a:off x="538200" y="2297160"/>
            <a:ext cx="346104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121723"/>
                </a:solidFill>
                <a:effectLst/>
                <a:uFillTx/>
                <a:latin typeface="Verdana"/>
                <a:ea typeface="Verdana"/>
              </a:rPr>
              <a:t>Servizio comunale di transizione e riattivazione per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222;p16"/>
          <p:cNvSpPr/>
          <p:nvPr/>
        </p:nvSpPr>
        <p:spPr>
          <a:xfrm>
            <a:off x="541800" y="2478960"/>
            <a:ext cx="49860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21722"/>
                </a:solidFill>
                <a:effectLst/>
                <a:uFillTx/>
                <a:latin typeface="Verdana"/>
                <a:ea typeface="Verdana"/>
              </a:rPr>
              <a:t>i 18-25.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223;p16"/>
          <p:cNvSpPr/>
          <p:nvPr/>
        </p:nvSpPr>
        <p:spPr>
          <a:xfrm>
            <a:off x="555480" y="2927880"/>
            <a:ext cx="3783240" cy="1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5D636B"/>
                </a:solidFill>
                <a:effectLst/>
                <a:uFillTx/>
                <a:latin typeface="Arial"/>
                <a:ea typeface="Arial"/>
              </a:rPr>
              <a:t>Contatto attivo - quota femminile - opportunità verificate - esiti misurati.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229;p17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Google Shape;230;p17"/>
          <p:cNvSpPr/>
          <p:nvPr/>
        </p:nvSpPr>
        <p:spPr>
          <a:xfrm>
            <a:off x="229680" y="119880"/>
            <a:ext cx="900000" cy="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20" b="0" u="none" strike="noStrike">
                <a:solidFill>
                  <a:srgbClr val="4B5052"/>
                </a:solidFill>
                <a:effectLst/>
                <a:uFillTx/>
                <a:latin typeface="Verdana"/>
                <a:ea typeface="Verdana"/>
              </a:rPr>
              <a:t>DataPolis 2026 · Bagheria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231;p17"/>
          <p:cNvSpPr/>
          <p:nvPr/>
        </p:nvSpPr>
        <p:spPr>
          <a:xfrm>
            <a:off x="4193280" y="119880"/>
            <a:ext cx="800280" cy="1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80" b="1" u="none" strike="noStrike">
                <a:solidFill>
                  <a:srgbClr val="4B5052"/>
                </a:solidFill>
                <a:effectLst/>
                <a:uFillTx/>
                <a:latin typeface="Verdana"/>
                <a:ea typeface="Verdana"/>
              </a:rPr>
              <a:t>POLICY PROPOSAL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232;p17"/>
          <p:cNvSpPr/>
          <p:nvPr/>
        </p:nvSpPr>
        <p:spPr>
          <a:xfrm>
            <a:off x="291600" y="500400"/>
            <a:ext cx="49075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Ponte 19: evidenza → intervento → KPI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233;p17"/>
          <p:cNvSpPr/>
          <p:nvPr/>
        </p:nvSpPr>
        <p:spPr>
          <a:xfrm>
            <a:off x="593280" y="1083600"/>
            <a:ext cx="10335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Evidenza dai dati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234;p17"/>
          <p:cNvSpPr/>
          <p:nvPr/>
        </p:nvSpPr>
        <p:spPr>
          <a:xfrm>
            <a:off x="4601160" y="1083600"/>
            <a:ext cx="154080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Conseguenza progettuale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235;p17"/>
          <p:cNvSpPr/>
          <p:nvPr/>
        </p:nvSpPr>
        <p:spPr>
          <a:xfrm>
            <a:off x="778320" y="1450440"/>
            <a:ext cx="288144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70,6% di chi è fuori da lavoro e studio non cerca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236;p17"/>
          <p:cNvSpPr/>
          <p:nvPr/>
        </p:nvSpPr>
        <p:spPr>
          <a:xfrm>
            <a:off x="4601160" y="1450440"/>
            <a:ext cx="209304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Outreach attivo, non solo sportello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237;p17"/>
          <p:cNvSpPr/>
          <p:nvPr/>
        </p:nvSpPr>
        <p:spPr>
          <a:xfrm>
            <a:off x="4601160" y="1923480"/>
            <a:ext cx="261396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Servizio di transizione, non sola formazione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38;p17"/>
          <p:cNvSpPr/>
          <p:nvPr/>
        </p:nvSpPr>
        <p:spPr>
          <a:xfrm>
            <a:off x="778320" y="1923480"/>
            <a:ext cx="200376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Gap persistente istruzione/lavoro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39;p17"/>
          <p:cNvSpPr/>
          <p:nvPr/>
        </p:nvSpPr>
        <p:spPr>
          <a:xfrm>
            <a:off x="781560" y="2396520"/>
            <a:ext cx="128376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Finestra critica 22-25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240;p17"/>
          <p:cNvSpPr/>
          <p:nvPr/>
        </p:nvSpPr>
        <p:spPr>
          <a:xfrm>
            <a:off x="4601160" y="2396520"/>
            <a:ext cx="214092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Seconda finestra di ingaggio mirata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41;p17"/>
          <p:cNvSpPr/>
          <p:nvPr/>
        </p:nvSpPr>
        <p:spPr>
          <a:xfrm>
            <a:off x="781560" y="2869560"/>
            <a:ext cx="242892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Mobilità studio/lavoro con segno diverso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42;p17"/>
          <p:cNvSpPr/>
          <p:nvPr/>
        </p:nvSpPr>
        <p:spPr>
          <a:xfrm>
            <a:off x="4604400" y="2869560"/>
            <a:ext cx="236052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Raggiungibilità verificata caso per caso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43;p17"/>
          <p:cNvSpPr/>
          <p:nvPr/>
        </p:nvSpPr>
        <p:spPr>
          <a:xfrm>
            <a:off x="781560" y="3342960"/>
            <a:ext cx="184968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Platea giovanile in contrazione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244;p17"/>
          <p:cNvSpPr/>
          <p:nvPr/>
        </p:nvSpPr>
        <p:spPr>
          <a:xfrm>
            <a:off x="4604400" y="3342960"/>
            <a:ext cx="18975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KPI territoriali espressi in tasso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245;p17"/>
          <p:cNvSpPr/>
          <p:nvPr/>
        </p:nvSpPr>
        <p:spPr>
          <a:xfrm>
            <a:off x="340200" y="844920"/>
            <a:ext cx="1217880" cy="151200"/>
          </a:xfrm>
          <a:prstGeom prst="rect">
            <a:avLst/>
          </a:prstGeom>
          <a:solidFill>
            <a:srgbClr val="F7F3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5600" bIns="7560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46;p17"/>
          <p:cNvSpPr/>
          <p:nvPr/>
        </p:nvSpPr>
        <p:spPr>
          <a:xfrm>
            <a:off x="155880" y="932040"/>
            <a:ext cx="218520" cy="151200"/>
          </a:xfrm>
          <a:prstGeom prst="rect">
            <a:avLst/>
          </a:prstGeom>
          <a:solidFill>
            <a:srgbClr val="F7F3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5600" bIns="7560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252;p18"/>
          <p:cNvPicPr/>
          <p:nvPr/>
        </p:nvPicPr>
        <p:blipFill>
          <a:blip r:embed="rId1"/>
          <a:stretch/>
        </p:blipFill>
        <p:spPr>
          <a:xfrm>
            <a:off x="6840" y="-684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Google Shape;253;p18"/>
          <p:cNvSpPr/>
          <p:nvPr/>
        </p:nvSpPr>
        <p:spPr>
          <a:xfrm>
            <a:off x="229680" y="119880"/>
            <a:ext cx="900000" cy="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20" b="0" u="none" strike="noStrike">
                <a:solidFill>
                  <a:srgbClr val="4B5052"/>
                </a:solidFill>
                <a:effectLst/>
                <a:uFillTx/>
                <a:latin typeface="Verdana"/>
                <a:ea typeface="Verdana"/>
              </a:rPr>
              <a:t>DataPolis 2026 · Bagheria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254;p18"/>
          <p:cNvSpPr/>
          <p:nvPr/>
        </p:nvSpPr>
        <p:spPr>
          <a:xfrm>
            <a:off x="4193280" y="119880"/>
            <a:ext cx="800280" cy="1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80" b="1" u="none" strike="noStrike">
                <a:solidFill>
                  <a:srgbClr val="4B5052"/>
                </a:solidFill>
                <a:effectLst/>
                <a:uFillTx/>
                <a:latin typeface="Verdana"/>
                <a:ea typeface="Verdana"/>
              </a:rPr>
              <a:t>POLICY PROPOSAL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255;p18"/>
          <p:cNvSpPr/>
          <p:nvPr/>
        </p:nvSpPr>
        <p:spPr>
          <a:xfrm>
            <a:off x="274320" y="500400"/>
            <a:ext cx="531936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1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Target: due finestre, non un unico contenitore 18-25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256;p18"/>
          <p:cNvSpPr/>
          <p:nvPr/>
        </p:nvSpPr>
        <p:spPr>
          <a:xfrm>
            <a:off x="284400" y="761040"/>
            <a:ext cx="397872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97078"/>
                </a:solidFill>
                <a:effectLst/>
                <a:uFillTx/>
                <a:latin typeface="Verdana"/>
                <a:ea typeface="Verdana"/>
              </a:rPr>
              <a:t>La presa in carico distingue prevenzione e riattivazione. La quota di genere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257;p18"/>
          <p:cNvSpPr/>
          <p:nvPr/>
        </p:nvSpPr>
        <p:spPr>
          <a:xfrm>
            <a:off x="281160" y="929160"/>
            <a:ext cx="316944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97078"/>
                </a:solidFill>
                <a:effectLst/>
                <a:uFillTx/>
                <a:latin typeface="Verdana"/>
                <a:ea typeface="Verdana"/>
              </a:rPr>
              <a:t>obbliga a costruire canali diversi, non a escludere qualcuno.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58;p18"/>
          <p:cNvSpPr/>
          <p:nvPr/>
        </p:nvSpPr>
        <p:spPr>
          <a:xfrm>
            <a:off x="490320" y="1337040"/>
            <a:ext cx="77292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1E71B7"/>
                </a:solidFill>
                <a:effectLst/>
                <a:uFillTx/>
                <a:latin typeface="Verdana"/>
                <a:ea typeface="Verdana"/>
              </a:rPr>
              <a:t>Finestra A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259;p18"/>
          <p:cNvSpPr/>
          <p:nvPr/>
        </p:nvSpPr>
        <p:spPr>
          <a:xfrm>
            <a:off x="2547360" y="1337040"/>
            <a:ext cx="7628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89" b="1" u="none" strike="noStrike">
                <a:solidFill>
                  <a:srgbClr val="E63931"/>
                </a:solidFill>
                <a:effectLst/>
                <a:uFillTx/>
                <a:latin typeface="Verdana"/>
                <a:ea typeface="Verdana"/>
              </a:rPr>
              <a:t>Finestra B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60;p18"/>
          <p:cNvSpPr/>
          <p:nvPr/>
        </p:nvSpPr>
        <p:spPr>
          <a:xfrm>
            <a:off x="5081040" y="1337040"/>
            <a:ext cx="111924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Capacità pilota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261;p18"/>
          <p:cNvSpPr/>
          <p:nvPr/>
        </p:nvSpPr>
        <p:spPr>
          <a:xfrm>
            <a:off x="500400" y="1566720"/>
            <a:ext cx="11808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10" b="1" u="none" strike="noStrike">
                <a:solidFill>
                  <a:srgbClr val="1E71B7"/>
                </a:solidFill>
                <a:effectLst/>
                <a:uFillTx/>
                <a:latin typeface="Verdana"/>
                <a:ea typeface="Verdana"/>
              </a:rPr>
              <a:t>18-20 anni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62;p18"/>
          <p:cNvSpPr/>
          <p:nvPr/>
        </p:nvSpPr>
        <p:spPr>
          <a:xfrm>
            <a:off x="2554200" y="1566720"/>
            <a:ext cx="11844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10" b="1" u="none" strike="noStrike">
                <a:solidFill>
                  <a:srgbClr val="E63931"/>
                </a:solidFill>
                <a:effectLst/>
                <a:uFillTx/>
                <a:latin typeface="Verdana"/>
                <a:ea typeface="Verdana"/>
              </a:rPr>
              <a:t>21-25+ anni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63;p18"/>
          <p:cNvSpPr/>
          <p:nvPr/>
        </p:nvSpPr>
        <p:spPr>
          <a:xfrm>
            <a:off x="5087880" y="1580400"/>
            <a:ext cx="42336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60" b="1" u="none" strike="noStrike">
                <a:solidFill>
                  <a:srgbClr val="DA6918"/>
                </a:solidFill>
                <a:effectLst/>
                <a:uFillTx/>
                <a:latin typeface="Verdana"/>
                <a:ea typeface="Verdana"/>
              </a:rPr>
              <a:t>200</a:t>
            </a:r>
            <a:endParaRPr lang="en-US" sz="14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264;p18"/>
          <p:cNvSpPr/>
          <p:nvPr/>
        </p:nvSpPr>
        <p:spPr>
          <a:xfrm>
            <a:off x="6294960" y="1584000"/>
            <a:ext cx="58104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70" b="1" u="none" strike="noStrike">
                <a:solidFill>
                  <a:srgbClr val="C65FA4"/>
                </a:solidFill>
                <a:effectLst/>
                <a:uFillTx/>
                <a:latin typeface="Verdana"/>
                <a:ea typeface="Verdana"/>
              </a:rPr>
              <a:t>≥100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65;p18"/>
          <p:cNvSpPr/>
          <p:nvPr/>
        </p:nvSpPr>
        <p:spPr>
          <a:xfrm>
            <a:off x="7529040" y="1580400"/>
            <a:ext cx="900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90" b="1" u="none" strike="noStrike">
                <a:solidFill>
                  <a:srgbClr val="278B67"/>
                </a:solidFill>
                <a:effectLst/>
                <a:uFillTx/>
                <a:latin typeface="Verdana"/>
                <a:ea typeface="Verdana"/>
              </a:rPr>
              <a:t>~18%</a:t>
            </a:r>
            <a:endParaRPr lang="en-US" sz="1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66;p18"/>
          <p:cNvSpPr/>
          <p:nvPr/>
        </p:nvSpPr>
        <p:spPr>
          <a:xfrm>
            <a:off x="5081040" y="1844640"/>
            <a:ext cx="597960" cy="1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8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persone/anno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67;p18"/>
          <p:cNvSpPr/>
          <p:nvPr/>
        </p:nvSpPr>
        <p:spPr>
          <a:xfrm>
            <a:off x="6277680" y="1847880"/>
            <a:ext cx="649440" cy="1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8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donne prese in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268;p18"/>
          <p:cNvSpPr/>
          <p:nvPr/>
        </p:nvSpPr>
        <p:spPr>
          <a:xfrm>
            <a:off x="7512120" y="1847880"/>
            <a:ext cx="738720" cy="1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8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degli inattivi non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269;p18"/>
          <p:cNvSpPr/>
          <p:nvPr/>
        </p:nvSpPr>
        <p:spPr>
          <a:xfrm>
            <a:off x="490320" y="1906200"/>
            <a:ext cx="15717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Uscita dalla scuola o entro 30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270;p18"/>
          <p:cNvSpPr/>
          <p:nvPr/>
        </p:nvSpPr>
        <p:spPr>
          <a:xfrm>
            <a:off x="2544120" y="1906200"/>
            <a:ext cx="16920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Giovani fuori da lavoro e studio.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271;p18"/>
          <p:cNvSpPr/>
          <p:nvPr/>
        </p:nvSpPr>
        <p:spPr>
          <a:xfrm>
            <a:off x="6277680" y="1968120"/>
            <a:ext cx="279360" cy="1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6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carico</a:t>
            </a:r>
            <a:endParaRPr lang="en-US" sz="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272;p18"/>
          <p:cNvSpPr/>
          <p:nvPr/>
        </p:nvSpPr>
        <p:spPr>
          <a:xfrm>
            <a:off x="7512120" y="1968120"/>
            <a:ext cx="639360" cy="1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8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studenti 15-24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273;p18"/>
          <p:cNvSpPr/>
          <p:nvPr/>
        </p:nvSpPr>
        <p:spPr>
          <a:xfrm>
            <a:off x="486720" y="2057040"/>
            <a:ext cx="166788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giorni dall’interruzione. Serve a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274;p18"/>
          <p:cNvSpPr/>
          <p:nvPr/>
        </p:nvSpPr>
        <p:spPr>
          <a:xfrm>
            <a:off x="2547360" y="2053800"/>
            <a:ext cx="14929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È la finestra di riattivazione,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275;p18"/>
          <p:cNvSpPr/>
          <p:nvPr/>
        </p:nvSpPr>
        <p:spPr>
          <a:xfrm>
            <a:off x="490320" y="2207880"/>
            <a:ext cx="12736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intervenire prima che la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276;p18"/>
          <p:cNvSpPr/>
          <p:nvPr/>
        </p:nvSpPr>
        <p:spPr>
          <a:xfrm>
            <a:off x="2544120" y="2207880"/>
            <a:ext cx="136944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coerente con la perdita di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277;p18"/>
          <p:cNvSpPr/>
          <p:nvPr/>
        </p:nvSpPr>
        <p:spPr>
          <a:xfrm>
            <a:off x="486720" y="2358720"/>
            <a:ext cx="14655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disconnessione si consolidi.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78;p18"/>
          <p:cNvSpPr/>
          <p:nvPr/>
        </p:nvSpPr>
        <p:spPr>
          <a:xfrm>
            <a:off x="2547360" y="2358720"/>
            <a:ext cx="112608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ritenzione femminile.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279;p18"/>
          <p:cNvSpPr/>
          <p:nvPr/>
        </p:nvSpPr>
        <p:spPr>
          <a:xfrm>
            <a:off x="5084640" y="2845800"/>
            <a:ext cx="17604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Dati osservati vs inferiti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280;p18"/>
          <p:cNvSpPr/>
          <p:nvPr/>
        </p:nvSpPr>
        <p:spPr>
          <a:xfrm>
            <a:off x="5084640" y="3089160"/>
            <a:ext cx="356436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I dati principali osservano soprattutto il 15-24; la policy opera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281;p18"/>
          <p:cNvSpPr/>
          <p:nvPr/>
        </p:nvSpPr>
        <p:spPr>
          <a:xfrm>
            <a:off x="5081040" y="3243600"/>
            <a:ext cx="322452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sui 18-25.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282;p18"/>
          <p:cNvSpPr/>
          <p:nvPr/>
        </p:nvSpPr>
        <p:spPr>
          <a:xfrm>
            <a:off x="5084640" y="3401280"/>
            <a:ext cx="51228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88;p19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Google Shape;289;p19"/>
          <p:cNvSpPr/>
          <p:nvPr/>
        </p:nvSpPr>
        <p:spPr>
          <a:xfrm>
            <a:off x="229680" y="119880"/>
            <a:ext cx="900000" cy="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20" b="0" u="none" strike="noStrike">
                <a:solidFill>
                  <a:srgbClr val="4B5052"/>
                </a:solidFill>
                <a:effectLst/>
                <a:uFillTx/>
                <a:latin typeface="Verdana"/>
                <a:ea typeface="Verdana"/>
              </a:rPr>
              <a:t>DataPolis 2026 · Bagheria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290;p19"/>
          <p:cNvSpPr/>
          <p:nvPr/>
        </p:nvSpPr>
        <p:spPr>
          <a:xfrm>
            <a:off x="4193280" y="119880"/>
            <a:ext cx="800280" cy="1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80" b="1" u="none" strike="noStrike">
                <a:solidFill>
                  <a:srgbClr val="4B5052"/>
                </a:solidFill>
                <a:effectLst/>
                <a:uFillTx/>
                <a:latin typeface="Verdana"/>
                <a:ea typeface="Verdana"/>
              </a:rPr>
              <a:t>POLICY PROPOSAL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Google Shape;291;p19"/>
          <p:cNvSpPr/>
          <p:nvPr/>
        </p:nvSpPr>
        <p:spPr>
          <a:xfrm>
            <a:off x="291600" y="500400"/>
            <a:ext cx="681408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Dal contatto all’esito: il servizio deve produrre passaggi verificabili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Google Shape;292;p19"/>
          <p:cNvSpPr/>
          <p:nvPr/>
        </p:nvSpPr>
        <p:spPr>
          <a:xfrm>
            <a:off x="281160" y="774720"/>
            <a:ext cx="5569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97078"/>
                </a:solidFill>
                <a:effectLst/>
                <a:uFillTx/>
                <a:latin typeface="Verdana"/>
                <a:ea typeface="Verdana"/>
              </a:rPr>
              <a:t>Ogni presa in carico ha un output: contatto, piano entro 15 giorni, opportunità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Google Shape;293;p19"/>
          <p:cNvSpPr/>
          <p:nvPr/>
        </p:nvSpPr>
        <p:spPr>
          <a:xfrm>
            <a:off x="284400" y="929160"/>
            <a:ext cx="115020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697078"/>
                </a:solidFill>
                <a:effectLst/>
                <a:uFillTx/>
                <a:latin typeface="Verdana"/>
                <a:ea typeface="Verdana"/>
              </a:rPr>
              <a:t>praticabile, follow-up.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Google Shape;294;p19"/>
          <p:cNvSpPr/>
          <p:nvPr/>
        </p:nvSpPr>
        <p:spPr>
          <a:xfrm>
            <a:off x="593280" y="1837800"/>
            <a:ext cx="11671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nei luoghi e canali già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295;p19"/>
          <p:cNvSpPr/>
          <p:nvPr/>
        </p:nvSpPr>
        <p:spPr>
          <a:xfrm>
            <a:off x="2787480" y="1837800"/>
            <a:ext cx="134568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prossima azione entro 15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Google Shape;296;p19"/>
          <p:cNvSpPr/>
          <p:nvPr/>
        </p:nvSpPr>
        <p:spPr>
          <a:xfrm>
            <a:off x="4978440" y="1837800"/>
            <a:ext cx="87228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attività, mentor,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297;p19"/>
          <p:cNvSpPr/>
          <p:nvPr/>
        </p:nvSpPr>
        <p:spPr>
          <a:xfrm>
            <a:off x="7169040" y="1837800"/>
            <a:ext cx="138312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follow-up a 3, 6 e 12 mesi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Google Shape;298;p19"/>
          <p:cNvSpPr/>
          <p:nvPr/>
        </p:nvSpPr>
        <p:spPr>
          <a:xfrm>
            <a:off x="586440" y="1991880"/>
            <a:ext cx="60480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frequentati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299;p19"/>
          <p:cNvSpPr/>
          <p:nvPr/>
        </p:nvSpPr>
        <p:spPr>
          <a:xfrm>
            <a:off x="2783880" y="1991880"/>
            <a:ext cx="31680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giorni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300;p19"/>
          <p:cNvSpPr/>
          <p:nvPr/>
        </p:nvSpPr>
        <p:spPr>
          <a:xfrm>
            <a:off x="4978440" y="1991880"/>
            <a:ext cx="11880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compenso, sede, orari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301;p19"/>
          <p:cNvSpPr/>
          <p:nvPr/>
        </p:nvSpPr>
        <p:spPr>
          <a:xfrm>
            <a:off x="593280" y="3082320"/>
            <a:ext cx="271008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Perché outreach e non solo sportello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302;p19"/>
          <p:cNvSpPr/>
          <p:nvPr/>
        </p:nvSpPr>
        <p:spPr>
          <a:xfrm>
            <a:off x="593280" y="3329280"/>
            <a:ext cx="331344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La componente “in cerca” scende di 10,2 punti; gli inattivi non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303;p19"/>
          <p:cNvSpPr/>
          <p:nvPr/>
        </p:nvSpPr>
        <p:spPr>
          <a:xfrm>
            <a:off x="4638960" y="3329280"/>
            <a:ext cx="355680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L’outreach apre il primo contatto: scuole secondarie, servizi sociali,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304;p19"/>
          <p:cNvSpPr/>
          <p:nvPr/>
        </p:nvSpPr>
        <p:spPr>
          <a:xfrm>
            <a:off x="589680" y="3480120"/>
            <a:ext cx="347472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studenti solo di 0,6. Uno sportello intercetta chi è già più vicino al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305;p19"/>
          <p:cNvSpPr/>
          <p:nvPr/>
        </p:nvSpPr>
        <p:spPr>
          <a:xfrm>
            <a:off x="4635360" y="3466440"/>
            <a:ext cx="355680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consultori, associazioni e partner territoriali. I dati indicano i canali,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306;p19"/>
          <p:cNvSpPr/>
          <p:nvPr/>
        </p:nvSpPr>
        <p:spPr>
          <a:xfrm>
            <a:off x="593280" y="3634200"/>
            <a:ext cx="47808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mercato.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307;p19"/>
          <p:cNvSpPr/>
          <p:nvPr/>
        </p:nvSpPr>
        <p:spPr>
          <a:xfrm>
            <a:off x="4638960" y="3630960"/>
            <a:ext cx="11192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non liste nominative.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308;p19"/>
          <p:cNvSpPr/>
          <p:nvPr/>
        </p:nvSpPr>
        <p:spPr>
          <a:xfrm>
            <a:off x="864000" y="1481040"/>
            <a:ext cx="113652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Contatto attivo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309;p19"/>
          <p:cNvSpPr/>
          <p:nvPr/>
        </p:nvSpPr>
        <p:spPr>
          <a:xfrm>
            <a:off x="3061800" y="1481040"/>
            <a:ext cx="123300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Piano individuale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310;p19"/>
          <p:cNvSpPr/>
          <p:nvPr/>
        </p:nvSpPr>
        <p:spPr>
          <a:xfrm>
            <a:off x="5252400" y="1481040"/>
            <a:ext cx="11880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Opportunità verificata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311;p19"/>
          <p:cNvSpPr/>
          <p:nvPr/>
        </p:nvSpPr>
        <p:spPr>
          <a:xfrm>
            <a:off x="7450200" y="1481040"/>
            <a:ext cx="9820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89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Esiti misurati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317;p20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Google Shape;318;p20"/>
          <p:cNvSpPr/>
          <p:nvPr/>
        </p:nvSpPr>
        <p:spPr>
          <a:xfrm>
            <a:off x="4193280" y="119880"/>
            <a:ext cx="800280" cy="1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80" b="1" u="none" strike="noStrike">
                <a:solidFill>
                  <a:srgbClr val="4D4F4D"/>
                </a:solidFill>
                <a:effectLst/>
                <a:uFillTx/>
                <a:latin typeface="Verdana"/>
                <a:ea typeface="Verdana"/>
              </a:rPr>
              <a:t>POLICY PROPOSAL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319;p20"/>
          <p:cNvSpPr/>
          <p:nvPr/>
        </p:nvSpPr>
        <p:spPr>
          <a:xfrm>
            <a:off x="229680" y="119880"/>
            <a:ext cx="900000" cy="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20" b="0" u="none" strike="noStrike">
                <a:solidFill>
                  <a:srgbClr val="51504A"/>
                </a:solidFill>
                <a:effectLst/>
                <a:uFillTx/>
                <a:latin typeface="Verdana"/>
                <a:ea typeface="Verdana"/>
              </a:rPr>
              <a:t>DataPolis 2026 · Bagheria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Google Shape;320;p20"/>
          <p:cNvSpPr/>
          <p:nvPr/>
        </p:nvSpPr>
        <p:spPr>
          <a:xfrm>
            <a:off x="291600" y="497160"/>
            <a:ext cx="566892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236"/>
                </a:solidFill>
                <a:effectLst/>
                <a:uFillTx/>
                <a:latin typeface="Verdana"/>
                <a:ea typeface="Verdana"/>
              </a:rPr>
              <a:t>Mobilità: non infrastruttura, ma vincolo di ammissibilità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Google Shape;321;p20"/>
          <p:cNvSpPr/>
          <p:nvPr/>
        </p:nvSpPr>
        <p:spPr>
          <a:xfrm>
            <a:off x="284400" y="761040"/>
            <a:ext cx="45273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E7072"/>
                </a:solidFill>
                <a:effectLst/>
                <a:uFillTx/>
                <a:latin typeface="Verdana"/>
                <a:ea typeface="Verdana"/>
              </a:rPr>
              <a:t>Il problema non è “portare il treno”: è non progettare opportunità dando per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322;p20"/>
          <p:cNvSpPr/>
          <p:nvPr/>
        </p:nvSpPr>
        <p:spPr>
          <a:xfrm>
            <a:off x="281160" y="929160"/>
            <a:ext cx="83124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6D6F6F"/>
                </a:solidFill>
                <a:effectLst/>
                <a:uFillTx/>
                <a:latin typeface="Verdana"/>
                <a:ea typeface="Verdana"/>
              </a:rPr>
              <a:t>scontata l’auto.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323;p20"/>
          <p:cNvSpPr/>
          <p:nvPr/>
        </p:nvSpPr>
        <p:spPr>
          <a:xfrm>
            <a:off x="5355360" y="1268640"/>
            <a:ext cx="131796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102234"/>
                </a:solidFill>
                <a:effectLst/>
                <a:uFillTx/>
                <a:latin typeface="Verdana"/>
                <a:ea typeface="Verdana"/>
              </a:rPr>
              <a:t>Cosa dicono i dati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324;p20"/>
          <p:cNvSpPr/>
          <p:nvPr/>
        </p:nvSpPr>
        <p:spPr>
          <a:xfrm>
            <a:off x="5362200" y="1553040"/>
            <a:ext cx="27547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40" b="1" u="none" strike="noStrike">
                <a:solidFill>
                  <a:srgbClr val="C05F9E"/>
                </a:solidFill>
                <a:effectLst/>
                <a:uFillTx/>
                <a:latin typeface="Verdana"/>
                <a:ea typeface="Verdana"/>
              </a:rPr>
              <a:t>31,5% vs 16,4%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325;p20"/>
          <p:cNvSpPr/>
          <p:nvPr/>
        </p:nvSpPr>
        <p:spPr>
          <a:xfrm>
            <a:off x="5355360" y="1803600"/>
            <a:ext cx="295344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15212E"/>
                </a:solidFill>
                <a:effectLst/>
                <a:uFillTx/>
                <a:latin typeface="Verdana"/>
                <a:ea typeface="Verdana"/>
              </a:rPr>
              <a:t>uso del treno: donne vs uomini fra chi esce da Bagheria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326;p20"/>
          <p:cNvSpPr/>
          <p:nvPr/>
        </p:nvSpPr>
        <p:spPr>
          <a:xfrm>
            <a:off x="5358960" y="2043360"/>
            <a:ext cx="15854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40" b="1" u="none" strike="noStrike">
                <a:solidFill>
                  <a:srgbClr val="DA6917"/>
                </a:solidFill>
                <a:effectLst/>
                <a:uFillTx/>
                <a:latin typeface="Verdana"/>
                <a:ea typeface="Verdana"/>
              </a:rPr>
              <a:t>98° percentile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327;p20"/>
          <p:cNvSpPr/>
          <p:nvPr/>
        </p:nvSpPr>
        <p:spPr>
          <a:xfrm>
            <a:off x="5358960" y="2300400"/>
            <a:ext cx="25455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15212E"/>
                </a:solidFill>
                <a:effectLst/>
                <a:uFillTx/>
                <a:latin typeface="Verdana"/>
                <a:ea typeface="Verdana"/>
              </a:rPr>
              <a:t>il treno è già l’asset di mobilità più distintivo del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328;p20"/>
          <p:cNvSpPr/>
          <p:nvPr/>
        </p:nvSpPr>
        <p:spPr>
          <a:xfrm>
            <a:off x="5355360" y="2454840"/>
            <a:ext cx="44388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5222E"/>
                </a:solidFill>
                <a:effectLst/>
                <a:uFillTx/>
                <a:latin typeface="Verdana"/>
                <a:ea typeface="Verdana"/>
              </a:rPr>
              <a:t>comune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329;p20"/>
          <p:cNvSpPr/>
          <p:nvPr/>
        </p:nvSpPr>
        <p:spPr>
          <a:xfrm>
            <a:off x="5365800" y="2694960"/>
            <a:ext cx="26964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40" b="1" u="none" strike="noStrike">
                <a:solidFill>
                  <a:srgbClr val="2070B4"/>
                </a:solidFill>
                <a:effectLst/>
                <a:uFillTx/>
                <a:latin typeface="Verdana"/>
                <a:ea typeface="Verdana"/>
              </a:rPr>
              <a:t>Nessun effetto generale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330;p20"/>
          <p:cNvSpPr/>
          <p:nvPr/>
        </p:nvSpPr>
        <p:spPr>
          <a:xfrm>
            <a:off x="5358960" y="2952000"/>
            <a:ext cx="258336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16212E"/>
                </a:solidFill>
                <a:effectLst/>
                <a:uFillTx/>
                <a:latin typeface="Verdana"/>
                <a:ea typeface="Verdana"/>
              </a:rPr>
              <a:t>mezzo collettivo e treno non spiegano un divario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331;p20"/>
          <p:cNvSpPr/>
          <p:nvPr/>
        </p:nvSpPr>
        <p:spPr>
          <a:xfrm>
            <a:off x="5358960" y="3106440"/>
            <a:ext cx="121860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15212E"/>
                </a:solidFill>
                <a:effectLst/>
                <a:uFillTx/>
                <a:latin typeface="Verdana"/>
                <a:ea typeface="Verdana"/>
              </a:rPr>
              <a:t>minore sui 390 comuni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332;p20"/>
          <p:cNvSpPr/>
          <p:nvPr/>
        </p:nvSpPr>
        <p:spPr>
          <a:xfrm>
            <a:off x="5496120" y="3414960"/>
            <a:ext cx="267228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102333"/>
                </a:solidFill>
                <a:effectLst/>
                <a:uFillTx/>
                <a:latin typeface="Verdana"/>
                <a:ea typeface="Verdana"/>
              </a:rPr>
              <a:t>Regola: nessuna opportunità entra nel piano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333;p20"/>
          <p:cNvSpPr/>
          <p:nvPr/>
        </p:nvSpPr>
        <p:spPr>
          <a:xfrm>
            <a:off x="5489280" y="3562200"/>
            <a:ext cx="275472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102233"/>
                </a:solidFill>
                <a:effectLst/>
                <a:uFillTx/>
                <a:latin typeface="Verdana"/>
                <a:ea typeface="Verdana"/>
              </a:rPr>
              <a:t>senza verifica di mezzo collettivo e orari reali.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Google Shape;334;p20"/>
          <p:cNvPicPr/>
          <p:nvPr/>
        </p:nvPicPr>
        <p:blipFill>
          <a:blip r:embed="rId2"/>
          <a:stretch/>
        </p:blipFill>
        <p:spPr>
          <a:xfrm>
            <a:off x="291600" y="1129320"/>
            <a:ext cx="4687920" cy="2985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365;p22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Google Shape;366;p22"/>
          <p:cNvSpPr/>
          <p:nvPr/>
        </p:nvSpPr>
        <p:spPr>
          <a:xfrm>
            <a:off x="541800" y="514440"/>
            <a:ext cx="144504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E33D30"/>
                </a:solidFill>
                <a:effectLst/>
                <a:uFillTx/>
                <a:latin typeface="Arial"/>
                <a:ea typeface="Arial"/>
              </a:rPr>
              <a:t>Conclusione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367;p22"/>
          <p:cNvSpPr/>
          <p:nvPr/>
        </p:nvSpPr>
        <p:spPr>
          <a:xfrm>
            <a:off x="545040" y="1559880"/>
            <a:ext cx="36324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10" b="1" u="none" strike="noStrike">
                <a:solidFill>
                  <a:srgbClr val="111725"/>
                </a:solidFill>
                <a:effectLst/>
                <a:uFillTx/>
                <a:latin typeface="Verdana"/>
                <a:ea typeface="Verdana"/>
              </a:rPr>
              <a:t>Un servizio che cerca chi non cerca,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368;p22"/>
          <p:cNvSpPr/>
          <p:nvPr/>
        </p:nvSpPr>
        <p:spPr>
          <a:xfrm>
            <a:off x="541800" y="1817280"/>
            <a:ext cx="215820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111725"/>
                </a:solidFill>
                <a:effectLst/>
                <a:uFillTx/>
                <a:latin typeface="Verdana"/>
                <a:ea typeface="Verdana"/>
              </a:rPr>
              <a:t>e misura se funziona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369;p22"/>
          <p:cNvSpPr/>
          <p:nvPr/>
        </p:nvSpPr>
        <p:spPr>
          <a:xfrm>
            <a:off x="744120" y="2890440"/>
            <a:ext cx="357732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Il perimetro è dichiarato: 15-24 osservabile, 18-25 target del servizio.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370;p22"/>
          <p:cNvSpPr/>
          <p:nvPr/>
        </p:nvSpPr>
        <p:spPr>
          <a:xfrm>
            <a:off x="744120" y="3346200"/>
            <a:ext cx="349524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15171E"/>
                </a:solidFill>
                <a:effectLst/>
                <a:uFillTx/>
                <a:latin typeface="Arial"/>
                <a:ea typeface="Arial"/>
              </a:rPr>
              <a:t>Il nodo studio-lavoro guida la transizione: dati mancanti raccolti dal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371;p22"/>
          <p:cNvSpPr/>
          <p:nvPr/>
        </p:nvSpPr>
        <p:spPr>
          <a:xfrm>
            <a:off x="737280" y="3486960"/>
            <a:ext cx="45396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5181F"/>
                </a:solidFill>
                <a:effectLst/>
                <a:uFillTx/>
                <a:latin typeface="Arial"/>
                <a:ea typeface="Arial"/>
              </a:rPr>
              <a:t>servizio.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372;p22"/>
          <p:cNvSpPr/>
          <p:nvPr/>
        </p:nvSpPr>
        <p:spPr>
          <a:xfrm>
            <a:off x="744120" y="3870720"/>
            <a:ext cx="315576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Il focus femminile richiede quota e outreach, non un servizio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373;p22"/>
          <p:cNvSpPr/>
          <p:nvPr/>
        </p:nvSpPr>
        <p:spPr>
          <a:xfrm>
            <a:off x="737280" y="4014720"/>
            <a:ext cx="140724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esclusivamente femminile.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374;p22"/>
          <p:cNvSpPr/>
          <p:nvPr/>
        </p:nvSpPr>
        <p:spPr>
          <a:xfrm>
            <a:off x="596520" y="4515480"/>
            <a:ext cx="3765960" cy="1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131721"/>
                </a:solidFill>
                <a:effectLst/>
                <a:uFillTx/>
                <a:latin typeface="Verdana"/>
                <a:ea typeface="Verdana"/>
              </a:rPr>
              <a:t>Non pretendiamo di spiegare la fuga. Proponiamo un pilota che produce evidenza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375;p22"/>
          <p:cNvSpPr/>
          <p:nvPr/>
        </p:nvSpPr>
        <p:spPr>
          <a:xfrm>
            <a:off x="593280" y="4632120"/>
            <a:ext cx="495360" cy="11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31722"/>
                </a:solidFill>
                <a:effectLst/>
                <a:uFillTx/>
                <a:latin typeface="Verdana"/>
                <a:ea typeface="Verdana"/>
              </a:rPr>
              <a:t>sugli esiti.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LibreOffice/26.8.0.3$Linux_X86_64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2026-09-24T13:11:51Z</dcterms:modified>
  <cp:revision>1</cp:revision>
  <dc:subject/>
  <dc:title/>
</cp:coreProperties>
</file>