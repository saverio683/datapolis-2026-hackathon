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the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7532C7-5BF8-49C9-9A5C-1C6C5F2C20A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2999520" cy="29995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2999520" cy="299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6;p3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Google Shape;17;p3"/>
          <p:cNvSpPr/>
          <p:nvPr/>
        </p:nvSpPr>
        <p:spPr>
          <a:xfrm>
            <a:off x="510840" y="576000"/>
            <a:ext cx="1078200" cy="2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PONTE </a:t>
            </a:r>
            <a:r>
              <a:rPr lang="en-US" sz="160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18;p3"/>
          <p:cNvSpPr/>
          <p:nvPr/>
        </p:nvSpPr>
        <p:spPr>
          <a:xfrm>
            <a:off x="510840" y="1556640"/>
            <a:ext cx="4197960" cy="29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Un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servizio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che va a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cercare </a:t>
            </a:r>
            <a:r>
              <a:rPr lang="en-US" sz="1620" b="1" u="none" strike="noStrike">
                <a:solidFill>
                  <a:srgbClr val="101725"/>
                </a:solidFill>
                <a:effectLst/>
                <a:uFillTx/>
                <a:latin typeface="Verdana"/>
                <a:ea typeface="Verdana"/>
              </a:rPr>
              <a:t>chi non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9;p3"/>
          <p:cNvSpPr/>
          <p:nvPr/>
        </p:nvSpPr>
        <p:spPr>
          <a:xfrm>
            <a:off x="507600" y="1875600"/>
            <a:ext cx="63936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7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cerca</a:t>
            </a:r>
            <a:endParaRPr lang="en-US" sz="1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20;p3"/>
          <p:cNvSpPr/>
          <p:nvPr/>
        </p:nvSpPr>
        <p:spPr>
          <a:xfrm>
            <a:off x="507600" y="2163600"/>
            <a:ext cx="296028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e che 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misura 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se 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funzio</a:t>
            </a:r>
            <a:r>
              <a:rPr lang="en-US" sz="164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na</a:t>
            </a:r>
            <a:endParaRPr lang="en-US" sz="1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21;p3"/>
          <p:cNvSpPr/>
          <p:nvPr/>
        </p:nvSpPr>
        <p:spPr>
          <a:xfrm>
            <a:off x="524520" y="3867480"/>
            <a:ext cx="160596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DataPolis 2026 · Bagheria (PA)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22;p3"/>
          <p:cNvSpPr/>
          <p:nvPr/>
        </p:nvSpPr>
        <p:spPr>
          <a:xfrm>
            <a:off x="514440" y="4004640"/>
            <a:ext cx="208944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Alessandro Carosia e Saverio Randazzo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8;p4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Google Shape;29;p4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30;p4"/>
          <p:cNvSpPr/>
          <p:nvPr/>
        </p:nvSpPr>
        <p:spPr>
          <a:xfrm>
            <a:off x="2060640" y="171360"/>
            <a:ext cx="57060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31;p4"/>
          <p:cNvSpPr/>
          <p:nvPr/>
        </p:nvSpPr>
        <p:spPr>
          <a:xfrm>
            <a:off x="459360" y="651600"/>
            <a:ext cx="5336280" cy="2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11724"/>
                </a:solidFill>
                <a:effectLst/>
                <a:uFillTx/>
                <a:latin typeface="Arial"/>
                <a:ea typeface="Arial"/>
              </a:rPr>
              <a:t>Introduzione: il problema è una </a:t>
            </a:r>
            <a:r>
              <a:rPr lang="en-US" sz="1350" b="1" u="none" strike="noStrike">
                <a:solidFill>
                  <a:srgbClr val="111724"/>
                </a:solidFill>
                <a:effectLst/>
                <a:uFillTx/>
                <a:latin typeface="Arial"/>
                <a:ea typeface="Arial"/>
              </a:rPr>
              <a:t>catena, non un singolo numero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32;p4"/>
          <p:cNvSpPr/>
          <p:nvPr/>
        </p:nvSpPr>
        <p:spPr>
          <a:xfrm>
            <a:off x="476640" y="1038960"/>
            <a:ext cx="379368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Il brief parla di giovani, lavoro, studio e fuga di talenti; i dati </a:t>
            </a:r>
            <a:r>
              <a:rPr lang="en-US" sz="86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mostrano tre punti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33;p4"/>
          <p:cNvSpPr/>
          <p:nvPr/>
        </p:nvSpPr>
        <p:spPr>
          <a:xfrm>
            <a:off x="469800" y="1172520"/>
            <a:ext cx="48852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di rottura.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34;p4"/>
          <p:cNvSpPr/>
          <p:nvPr/>
        </p:nvSpPr>
        <p:spPr>
          <a:xfrm>
            <a:off x="709560" y="1398960"/>
            <a:ext cx="37695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131720"/>
                </a:solidFill>
                <a:effectLst/>
                <a:uFillTx/>
                <a:latin typeface="Arial"/>
                <a:ea typeface="Arial"/>
              </a:rPr>
              <a:t>Molti giovani sono fuori da lavoro e </a:t>
            </a:r>
            <a:r>
              <a:rPr lang="en-US" sz="1010" b="0" u="none" strike="noStrike">
                <a:solidFill>
                  <a:srgbClr val="131720"/>
                </a:solidFill>
                <a:effectLst/>
                <a:uFillTx/>
                <a:latin typeface="Arial"/>
                <a:ea typeface="Arial"/>
              </a:rPr>
              <a:t>studio; tra questi prevale chi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35;p4"/>
          <p:cNvSpPr/>
          <p:nvPr/>
        </p:nvSpPr>
        <p:spPr>
          <a:xfrm>
            <a:off x="706320" y="1559880"/>
            <a:ext cx="12459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non risulta in ricerca.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36;p4"/>
          <p:cNvSpPr/>
          <p:nvPr/>
        </p:nvSpPr>
        <p:spPr>
          <a:xfrm>
            <a:off x="713160" y="1998720"/>
            <a:ext cx="3796920" cy="19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Il legame tra capitale umano e ingresso nel lavoro è debole: non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37;p4"/>
          <p:cNvSpPr/>
          <p:nvPr/>
        </p:nvSpPr>
        <p:spPr>
          <a:xfrm>
            <a:off x="706320" y="2177280"/>
            <a:ext cx="236736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basta </a:t>
            </a: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leggere il </a:t>
            </a: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migliorament</a:t>
            </a:r>
            <a:r>
              <a:rPr lang="en-US" sz="103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o assoluto.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Google Shape;38;p4"/>
          <p:cNvSpPr/>
          <p:nvPr/>
        </p:nvSpPr>
        <p:spPr>
          <a:xfrm>
            <a:off x="713160" y="2633040"/>
            <a:ext cx="374544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Il divario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femminile non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nasce da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minore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istruzione: </a:t>
            </a:r>
            <a:r>
              <a:rPr lang="en-US" sz="103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emerge nel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39;p4"/>
          <p:cNvSpPr/>
          <p:nvPr/>
        </p:nvSpPr>
        <p:spPr>
          <a:xfrm>
            <a:off x="706320" y="2794320"/>
            <a:ext cx="203112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passaggio verso lavoro e mobilità.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Google Shape;40;p4"/>
          <p:cNvSpPr/>
          <p:nvPr/>
        </p:nvSpPr>
        <p:spPr>
          <a:xfrm>
            <a:off x="569160" y="3696120"/>
            <a:ext cx="3481560" cy="2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Serve un servizio attivo, non solo uno sportello.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41;p4"/>
          <p:cNvSpPr/>
          <p:nvPr/>
        </p:nvSpPr>
        <p:spPr>
          <a:xfrm>
            <a:off x="366840" y="4902840"/>
            <a:ext cx="3985560" cy="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Brief del contest: profiling,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focus tematico, proposta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data-driven. Fonti del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progetto: ISTAT, matrici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pendolarismo, MIUR, </a:t>
            </a:r>
            <a:r>
              <a:rPr lang="en-US" sz="500" b="0" u="none" strike="noStrike">
                <a:solidFill>
                  <a:srgbClr val="74757B"/>
                </a:solidFill>
                <a:effectLst/>
                <a:uFillTx/>
                <a:latin typeface="Arial"/>
                <a:ea typeface="Arial"/>
              </a:rPr>
              <a:t>pipeline del repository.</a:t>
            </a:r>
            <a:endParaRPr lang="en-US" sz="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47;p5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Google Shape;48;p5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</a:t>
            </a: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49;p5"/>
          <p:cNvSpPr/>
          <p:nvPr/>
        </p:nvSpPr>
        <p:spPr>
          <a:xfrm>
            <a:off x="2060640" y="171360"/>
            <a:ext cx="57060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50;p5"/>
          <p:cNvSpPr/>
          <p:nvPr/>
        </p:nvSpPr>
        <p:spPr>
          <a:xfrm>
            <a:off x="456120" y="644400"/>
            <a:ext cx="3162600" cy="2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11724"/>
                </a:solidFill>
                <a:effectLst/>
                <a:uFillTx/>
                <a:latin typeface="Arial"/>
                <a:ea typeface="Arial"/>
              </a:rPr>
              <a:t>Fonti trattate: cosa entra nella pipeline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51;p5"/>
          <p:cNvSpPr/>
          <p:nvPr/>
        </p:nvSpPr>
        <p:spPr>
          <a:xfrm>
            <a:off x="476640" y="1021680"/>
            <a:ext cx="37249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Fonti ufficiali, ruoli </a:t>
            </a: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separati e controlli </a:t>
            </a: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automatici prima della </a:t>
            </a: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narrazione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Google Shape;52;p5"/>
          <p:cNvSpPr/>
          <p:nvPr/>
        </p:nvSpPr>
        <p:spPr>
          <a:xfrm>
            <a:off x="1306440" y="1666440"/>
            <a:ext cx="371880" cy="1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ISTAT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Google Shape;53;p5"/>
          <p:cNvSpPr/>
          <p:nvPr/>
        </p:nvSpPr>
        <p:spPr>
          <a:xfrm>
            <a:off x="2369160" y="1762200"/>
            <a:ext cx="156852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d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z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p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r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f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s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i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o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n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a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l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e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1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5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-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2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4</a:t>
            </a:r>
            <a:r>
              <a:rPr lang="en-US" sz="820" b="0" u="none" strike="noStrike">
                <a:solidFill>
                  <a:srgbClr val="5F6268"/>
                </a:solidFill>
                <a:effectLst/>
                <a:uFillTx/>
                <a:latin typeface="Arial"/>
                <a:ea typeface="Arial"/>
              </a:rPr>
              <a:t>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Google Shape;54;p5"/>
          <p:cNvSpPr/>
          <p:nvPr/>
        </p:nvSpPr>
        <p:spPr>
          <a:xfrm>
            <a:off x="5252400" y="1741680"/>
            <a:ext cx="3888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11723"/>
                </a:solidFill>
                <a:effectLst/>
                <a:uFillTx/>
                <a:latin typeface="Arial"/>
                <a:ea typeface="Arial"/>
              </a:rPr>
              <a:t>ISTAT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Google Shape;55;p5"/>
          <p:cNvSpPr/>
          <p:nvPr/>
        </p:nvSpPr>
        <p:spPr>
          <a:xfrm>
            <a:off x="6311880" y="1762200"/>
            <a:ext cx="185292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3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storico 1991-</a:t>
            </a:r>
            <a:r>
              <a:rPr lang="en-US" sz="83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2011, NEET 15-</a:t>
            </a:r>
            <a:r>
              <a:rPr lang="en-US" sz="83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29 come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56;p5"/>
          <p:cNvSpPr/>
          <p:nvPr/>
        </p:nvSpPr>
        <p:spPr>
          <a:xfrm>
            <a:off x="1306440" y="1817280"/>
            <a:ext cx="73872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Censimento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Google Shape;57;p5"/>
          <p:cNvSpPr/>
          <p:nvPr/>
        </p:nvSpPr>
        <p:spPr>
          <a:xfrm>
            <a:off x="2372400" y="1896120"/>
            <a:ext cx="15134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36A"/>
                </a:solidFill>
                <a:effectLst/>
                <a:uFillTx/>
                <a:latin typeface="Arial"/>
                <a:ea typeface="Arial"/>
              </a:rPr>
              <a:t>istruzione, popolazione per età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58;p5"/>
          <p:cNvSpPr/>
          <p:nvPr/>
        </p:nvSpPr>
        <p:spPr>
          <a:xfrm>
            <a:off x="5245560" y="1899360"/>
            <a:ext cx="851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8milaCensus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Google Shape;59;p5"/>
          <p:cNvSpPr/>
          <p:nvPr/>
        </p:nvSpPr>
        <p:spPr>
          <a:xfrm>
            <a:off x="6311880" y="1896120"/>
            <a:ext cx="69768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E626A"/>
                </a:solidFill>
                <a:effectLst/>
                <a:uFillTx/>
                <a:latin typeface="Arial"/>
                <a:ea typeface="Arial"/>
              </a:rPr>
              <a:t>dato separato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60;p5"/>
          <p:cNvSpPr/>
          <p:nvPr/>
        </p:nvSpPr>
        <p:spPr>
          <a:xfrm>
            <a:off x="1306440" y="1974960"/>
            <a:ext cx="7318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31723"/>
                </a:solidFill>
                <a:effectLst/>
                <a:uFillTx/>
                <a:latin typeface="Arial"/>
                <a:ea typeface="Arial"/>
              </a:rPr>
              <a:t>permanente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61;p5"/>
          <p:cNvSpPr/>
          <p:nvPr/>
        </p:nvSpPr>
        <p:spPr>
          <a:xfrm>
            <a:off x="1309680" y="2897280"/>
            <a:ext cx="36828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MIUR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62;p5"/>
          <p:cNvSpPr/>
          <p:nvPr/>
        </p:nvSpPr>
        <p:spPr>
          <a:xfrm>
            <a:off x="2369160" y="2921040"/>
            <a:ext cx="1427760" cy="1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5F6368"/>
                </a:solidFill>
                <a:effectLst/>
                <a:uFillTx/>
                <a:latin typeface="Arial"/>
                <a:ea typeface="Arial"/>
              </a:rPr>
              <a:t>canali operativi per il servizio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63;p5"/>
          <p:cNvSpPr/>
          <p:nvPr/>
        </p:nvSpPr>
        <p:spPr>
          <a:xfrm>
            <a:off x="1302840" y="3054960"/>
            <a:ext cx="10267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4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scuole tecniche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69;p6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Google Shape;70;p6"/>
          <p:cNvSpPr/>
          <p:nvPr/>
        </p:nvSpPr>
        <p:spPr>
          <a:xfrm>
            <a:off x="514440" y="579600"/>
            <a:ext cx="430200" cy="1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39" b="1" u="none" strike="noStrike">
                <a:solidFill>
                  <a:srgbClr val="1A64A5"/>
                </a:solidFill>
                <a:effectLst/>
                <a:uFillTx/>
                <a:latin typeface="Arial"/>
                <a:ea typeface="Arial"/>
              </a:rPr>
              <a:t>AREA 1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71;p6"/>
          <p:cNvSpPr/>
          <p:nvPr/>
        </p:nvSpPr>
        <p:spPr>
          <a:xfrm>
            <a:off x="521280" y="1601280"/>
            <a:ext cx="2716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80" b="1" u="none" strike="noStrike">
                <a:solidFill>
                  <a:srgbClr val="101727"/>
                </a:solidFill>
                <a:effectLst/>
                <a:uFillTx/>
                <a:latin typeface="Verdana"/>
                <a:ea typeface="Verdana"/>
              </a:rPr>
              <a:t>Titolo di studio</a:t>
            </a:r>
            <a:endParaRPr lang="en-US" sz="2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72;p6"/>
          <p:cNvSpPr/>
          <p:nvPr/>
        </p:nvSpPr>
        <p:spPr>
          <a:xfrm>
            <a:off x="531360" y="2060640"/>
            <a:ext cx="141768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380" b="1" u="none" strike="noStrike">
                <a:solidFill>
                  <a:srgbClr val="101727"/>
                </a:solidFill>
                <a:effectLst/>
                <a:uFillTx/>
                <a:latin typeface="Verdana"/>
                <a:ea typeface="Verdana"/>
              </a:rPr>
              <a:t>e lavoro</a:t>
            </a:r>
            <a:endParaRPr lang="en-US" sz="2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73;p6"/>
          <p:cNvSpPr/>
          <p:nvPr/>
        </p:nvSpPr>
        <p:spPr>
          <a:xfrm>
            <a:off x="558720" y="3003480"/>
            <a:ext cx="33339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F6269"/>
                </a:solidFill>
                <a:effectLst/>
                <a:uFillTx/>
                <a:latin typeface="Arial"/>
                <a:ea typeface="Arial"/>
              </a:rPr>
              <a:t>La relazione non è osservabile come incrocio individuale; va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74;p6"/>
          <p:cNvSpPr/>
          <p:nvPr/>
        </p:nvSpPr>
        <p:spPr>
          <a:xfrm>
            <a:off x="555480" y="3137040"/>
            <a:ext cx="21272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5C636C"/>
                </a:solidFill>
                <a:effectLst/>
                <a:uFillTx/>
                <a:latin typeface="Arial"/>
                <a:ea typeface="Arial"/>
              </a:rPr>
              <a:t>letta come doppia misura sul territorio.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80;p7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81;p7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ogle Shape;82;p7"/>
          <p:cNvSpPr/>
          <p:nvPr/>
        </p:nvSpPr>
        <p:spPr>
          <a:xfrm>
            <a:off x="2060640" y="171360"/>
            <a:ext cx="57060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INTRODUZIONE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Google Shape;83;p7"/>
          <p:cNvSpPr/>
          <p:nvPr/>
        </p:nvSpPr>
        <p:spPr>
          <a:xfrm>
            <a:off x="456120" y="627480"/>
            <a:ext cx="494568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Quadro iniziale: tre cifre che guidano la proposta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4;p7"/>
          <p:cNvSpPr/>
          <p:nvPr/>
        </p:nvSpPr>
        <p:spPr>
          <a:xfrm>
            <a:off x="473040" y="1021680"/>
            <a:ext cx="31147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Non sono slogan: sono vincoli di progettazione del servizio.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5;p7"/>
          <p:cNvSpPr/>
          <p:nvPr/>
        </p:nvSpPr>
        <p:spPr>
          <a:xfrm>
            <a:off x="596520" y="1340640"/>
            <a:ext cx="7729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26,9%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6;p7"/>
          <p:cNvSpPr/>
          <p:nvPr/>
        </p:nvSpPr>
        <p:spPr>
          <a:xfrm>
            <a:off x="3404520" y="1340640"/>
            <a:ext cx="77652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D86B20"/>
                </a:solidFill>
                <a:effectLst/>
                <a:uFillTx/>
                <a:latin typeface="Arial"/>
                <a:ea typeface="Arial"/>
              </a:rPr>
              <a:t>70,6%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7;p7"/>
          <p:cNvSpPr/>
          <p:nvPr/>
        </p:nvSpPr>
        <p:spPr>
          <a:xfrm>
            <a:off x="6195600" y="1340640"/>
            <a:ext cx="762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366AF"/>
                </a:solidFill>
                <a:effectLst/>
                <a:uFillTx/>
                <a:latin typeface="Arial"/>
                <a:ea typeface="Arial"/>
              </a:rPr>
              <a:t>12,4%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8;p7"/>
          <p:cNvSpPr/>
          <p:nvPr/>
        </p:nvSpPr>
        <p:spPr>
          <a:xfrm>
            <a:off x="593280" y="1800000"/>
            <a:ext cx="21240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15-24 fuori da lavoro e studio nel 2024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89;p7"/>
          <p:cNvSpPr/>
          <p:nvPr/>
        </p:nvSpPr>
        <p:spPr>
          <a:xfrm>
            <a:off x="3394440" y="1800000"/>
            <a:ext cx="200376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fra questi, non classificati in ricerca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0;p7"/>
          <p:cNvSpPr/>
          <p:nvPr/>
        </p:nvSpPr>
        <p:spPr>
          <a:xfrm>
            <a:off x="6171480" y="1800000"/>
            <a:ext cx="20725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tasso di occupazione giovanile 15-24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1;p7"/>
          <p:cNvSpPr/>
          <p:nvPr/>
        </p:nvSpPr>
        <p:spPr>
          <a:xfrm>
            <a:off x="380520" y="4920120"/>
            <a:ext cx="3762720" cy="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717277"/>
                </a:solidFill>
                <a:effectLst/>
                <a:uFillTx/>
                <a:latin typeface="Arial"/>
                <a:ea typeface="Arial"/>
              </a:rPr>
              <a:t>Dati: ISTAT, Censimento permanente 2018-2024; elaborazioni da edu_youth_states_2018_2024.csv e edu_recent_analysis_panel.csv.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Google Shape;92;p7"/>
          <p:cNvPicPr/>
          <p:nvPr/>
        </p:nvPicPr>
        <p:blipFill>
          <a:blip r:embed="rId2"/>
          <a:stretch/>
        </p:blipFill>
        <p:spPr>
          <a:xfrm>
            <a:off x="2149920" y="2080440"/>
            <a:ext cx="4844160" cy="2726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Google Shape;93;p7"/>
          <p:cNvSpPr/>
          <p:nvPr/>
        </p:nvSpPr>
        <p:spPr>
          <a:xfrm>
            <a:off x="552600" y="2108160"/>
            <a:ext cx="1695240" cy="2304720"/>
          </a:xfrm>
          <a:prstGeom prst="rect">
            <a:avLst/>
          </a:prstGeom>
          <a:solidFill>
            <a:srgbClr val="FBF8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4;p7"/>
          <p:cNvSpPr/>
          <p:nvPr/>
        </p:nvSpPr>
        <p:spPr>
          <a:xfrm>
            <a:off x="6958440" y="2171880"/>
            <a:ext cx="1695240" cy="2304720"/>
          </a:xfrm>
          <a:prstGeom prst="rect">
            <a:avLst/>
          </a:prstGeom>
          <a:solidFill>
            <a:srgbClr val="FBF8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100;p8"/>
          <p:cNvPicPr/>
          <p:nvPr/>
        </p:nvPicPr>
        <p:blipFill>
          <a:blip r:embed="rId1"/>
          <a:stretch/>
        </p:blipFill>
        <p:spPr>
          <a:xfrm>
            <a:off x="0" y="68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Google Shape;101;p8"/>
          <p:cNvSpPr/>
          <p:nvPr/>
        </p:nvSpPr>
        <p:spPr>
          <a:xfrm>
            <a:off x="384120" y="157680"/>
            <a:ext cx="858600" cy="1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0" u="none" strike="noStrike">
                <a:solidFill>
                  <a:srgbClr val="656669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2;p8"/>
          <p:cNvSpPr/>
          <p:nvPr/>
        </p:nvSpPr>
        <p:spPr>
          <a:xfrm>
            <a:off x="2060640" y="171360"/>
            <a:ext cx="10814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F626A"/>
                </a:solidFill>
                <a:effectLst/>
                <a:uFillTx/>
                <a:latin typeface="Arial"/>
                <a:ea typeface="Arial"/>
              </a:rPr>
              <a:t>TITOLO DI STUDIO — LAVORO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3;p8"/>
          <p:cNvSpPr/>
          <p:nvPr/>
        </p:nvSpPr>
        <p:spPr>
          <a:xfrm>
            <a:off x="459360" y="630720"/>
            <a:ext cx="486324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Il recupero recente non riattiva il nucleo inattivo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4;p8"/>
          <p:cNvSpPr/>
          <p:nvPr/>
        </p:nvSpPr>
        <p:spPr>
          <a:xfrm>
            <a:off x="473040" y="1018440"/>
            <a:ext cx="41911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A"/>
                </a:solidFill>
                <a:effectLst/>
                <a:uFillTx/>
                <a:latin typeface="Arial"/>
                <a:ea typeface="Arial"/>
              </a:rPr>
              <a:t>La componente in cerca cala; quella inattiva non studentesca resta quasi ferma.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5;p8"/>
          <p:cNvSpPr/>
          <p:nvPr/>
        </p:nvSpPr>
        <p:spPr>
          <a:xfrm>
            <a:off x="5873040" y="1271880"/>
            <a:ext cx="1787760" cy="19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7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Perché conta per la policy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8"/>
          <p:cNvSpPr/>
          <p:nvPr/>
        </p:nvSpPr>
        <p:spPr>
          <a:xfrm>
            <a:off x="5886720" y="1717560"/>
            <a:ext cx="76284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33D2F"/>
                </a:solidFill>
                <a:effectLst/>
                <a:uFillTx/>
                <a:latin typeface="Arial"/>
                <a:ea typeface="Arial"/>
              </a:rPr>
              <a:t>19,0%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7;p8"/>
          <p:cNvSpPr/>
          <p:nvPr/>
        </p:nvSpPr>
        <p:spPr>
          <a:xfrm>
            <a:off x="5869800" y="2177280"/>
            <a:ext cx="19490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inattivi non studenti 15-24 nel 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8;p8"/>
          <p:cNvSpPr/>
          <p:nvPr/>
        </p:nvSpPr>
        <p:spPr>
          <a:xfrm>
            <a:off x="5873040" y="2742840"/>
            <a:ext cx="62208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60" b="0" u="none" strike="noStrike">
                <a:solidFill>
                  <a:srgbClr val="EFB427"/>
                </a:solidFill>
                <a:effectLst/>
                <a:uFillTx/>
                <a:latin typeface="Arial"/>
                <a:ea typeface="Arial"/>
              </a:rPr>
              <a:t>7,9%</a:t>
            </a:r>
            <a:endParaRPr lang="en-US" sz="1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9;p8"/>
          <p:cNvSpPr/>
          <p:nvPr/>
        </p:nvSpPr>
        <p:spPr>
          <a:xfrm>
            <a:off x="5869800" y="3205800"/>
            <a:ext cx="147240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in cerca di lavoro nel 2024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0;p8"/>
          <p:cNvSpPr/>
          <p:nvPr/>
        </p:nvSpPr>
        <p:spPr>
          <a:xfrm>
            <a:off x="5869800" y="3768120"/>
            <a:ext cx="235368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Uno sportello intercetta chi si presenta.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1;p8"/>
          <p:cNvSpPr/>
          <p:nvPr/>
        </p:nvSpPr>
        <p:spPr>
          <a:xfrm>
            <a:off x="5873040" y="3884400"/>
            <a:ext cx="25113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Ponte 19 nasce per raggiungere anche chi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2;p8"/>
          <p:cNvSpPr/>
          <p:nvPr/>
        </p:nvSpPr>
        <p:spPr>
          <a:xfrm>
            <a:off x="5869800" y="4007880"/>
            <a:ext cx="97200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non si presenta.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3;p8"/>
          <p:cNvSpPr/>
          <p:nvPr/>
        </p:nvSpPr>
        <p:spPr>
          <a:xfrm>
            <a:off x="384120" y="4906440"/>
            <a:ext cx="2946600" cy="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90" b="0" u="none" strike="noStrike">
                <a:solidFill>
                  <a:srgbClr val="76777C"/>
                </a:solidFill>
                <a:effectLst/>
                <a:uFillTx/>
                <a:latin typeface="Arial"/>
                <a:ea typeface="Arial"/>
              </a:rPr>
              <a:t>Dati: edu_youth_states_2018_2024.csv. Il 2020 manca nella fonte per la classe 15-24 e non è interpolato.</a:t>
            </a:r>
            <a:endParaRPr lang="en-US" sz="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119;p9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Google Shape;120;p9"/>
          <p:cNvSpPr/>
          <p:nvPr/>
        </p:nvSpPr>
        <p:spPr>
          <a:xfrm>
            <a:off x="384120" y="171360"/>
            <a:ext cx="8586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1;p9"/>
          <p:cNvSpPr/>
          <p:nvPr/>
        </p:nvSpPr>
        <p:spPr>
          <a:xfrm>
            <a:off x="2060640" y="171360"/>
            <a:ext cx="10814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F626A"/>
                </a:solidFill>
                <a:effectLst/>
                <a:uFillTx/>
                <a:latin typeface="Arial"/>
                <a:ea typeface="Arial"/>
              </a:rPr>
              <a:t>TITOLO DI STUDIO — LAVORO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2;p9"/>
          <p:cNvSpPr/>
          <p:nvPr/>
        </p:nvSpPr>
        <p:spPr>
          <a:xfrm>
            <a:off x="449280" y="610200"/>
            <a:ext cx="53262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6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Titolo di studio e lavoro: il deficit resta nel confronto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3;p9"/>
          <p:cNvSpPr/>
          <p:nvPr/>
        </p:nvSpPr>
        <p:spPr>
          <a:xfrm>
            <a:off x="473040" y="1021680"/>
            <a:ext cx="45169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Nel 2024 Bagheria è sotto la Sicilia sia sul capitale umano adulto sia sull’occupazione.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4;p9"/>
          <p:cNvSpPr/>
          <p:nvPr/>
        </p:nvSpPr>
        <p:spPr>
          <a:xfrm>
            <a:off x="5667480" y="1189800"/>
            <a:ext cx="1002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Lettura corretta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25;p9"/>
          <p:cNvSpPr/>
          <p:nvPr/>
        </p:nvSpPr>
        <p:spPr>
          <a:xfrm>
            <a:off x="5818320" y="1587600"/>
            <a:ext cx="232956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Il confronto è descrittivo: non isola causalità.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6;p9"/>
          <p:cNvSpPr/>
          <p:nvPr/>
        </p:nvSpPr>
        <p:spPr>
          <a:xfrm>
            <a:off x="5814720" y="2026440"/>
            <a:ext cx="274788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5171E"/>
                </a:solidFill>
                <a:effectLst/>
                <a:uFillTx/>
                <a:latin typeface="Arial"/>
                <a:ea typeface="Arial"/>
              </a:rPr>
              <a:t>La quota di diplomati cresce, ma il lavoro resta sotto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27;p9"/>
          <p:cNvSpPr/>
          <p:nvPr/>
        </p:nvSpPr>
        <p:spPr>
          <a:xfrm>
            <a:off x="5814720" y="2170440"/>
            <a:ext cx="635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81E"/>
                </a:solidFill>
                <a:effectLst/>
                <a:uFillTx/>
                <a:latin typeface="Arial"/>
                <a:ea typeface="Arial"/>
              </a:rPr>
              <a:t>benchmark.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28;p9"/>
          <p:cNvSpPr/>
          <p:nvPr/>
        </p:nvSpPr>
        <p:spPr>
          <a:xfrm>
            <a:off x="5818320" y="2544120"/>
            <a:ext cx="2795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Per il 15-24 la distanza occupazionale con la Sicilia 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29;p9"/>
          <p:cNvSpPr/>
          <p:nvPr/>
        </p:nvSpPr>
        <p:spPr>
          <a:xfrm>
            <a:off x="5811480" y="2688120"/>
            <a:ext cx="82800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circa -3,1 punti.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0;p9"/>
          <p:cNvSpPr/>
          <p:nvPr/>
        </p:nvSpPr>
        <p:spPr>
          <a:xfrm>
            <a:off x="5663880" y="3579480"/>
            <a:ext cx="272736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21723"/>
                </a:solidFill>
                <a:effectLst/>
                <a:uFillTx/>
                <a:latin typeface="Arial"/>
                <a:ea typeface="Arial"/>
              </a:rPr>
              <a:t>Questo giustifica una policy di transizione,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1;p9"/>
          <p:cNvSpPr/>
          <p:nvPr/>
        </p:nvSpPr>
        <p:spPr>
          <a:xfrm>
            <a:off x="5667480" y="3740400"/>
            <a:ext cx="2302200" cy="18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3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non soltanto formazione aggiuntiva.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2;p9"/>
          <p:cNvSpPr/>
          <p:nvPr/>
        </p:nvSpPr>
        <p:spPr>
          <a:xfrm>
            <a:off x="380520" y="4916520"/>
            <a:ext cx="3783240" cy="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707177"/>
                </a:solidFill>
                <a:effectLst/>
                <a:uFillTx/>
                <a:latin typeface="Arial"/>
                <a:ea typeface="Arial"/>
              </a:rPr>
              <a:t>Dati: edu_kpi_dashboard.csv, anno 2024. Misure aggregate separate; non osservano l'incrocio individuale titolo x condizione lavorativa.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38;p1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Google Shape;139;p10"/>
          <p:cNvSpPr/>
          <p:nvPr/>
        </p:nvSpPr>
        <p:spPr>
          <a:xfrm>
            <a:off x="229680" y="130320"/>
            <a:ext cx="900000" cy="10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90" b="0" u="none" strike="noStrike">
                <a:solidFill>
                  <a:srgbClr val="51504A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0;p10"/>
          <p:cNvSpPr/>
          <p:nvPr/>
        </p:nvSpPr>
        <p:spPr>
          <a:xfrm>
            <a:off x="3970440" y="137160"/>
            <a:ext cx="1235880" cy="11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40" b="1" u="none" strike="noStrike">
                <a:solidFill>
                  <a:srgbClr val="4D4F4D"/>
                </a:solidFill>
                <a:effectLst/>
                <a:uFillTx/>
                <a:latin typeface="Arial"/>
                <a:ea typeface="Arial"/>
              </a:rPr>
              <a:t>TITOLO DI STUDIO → LAVORO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141;p10"/>
          <p:cNvSpPr/>
          <p:nvPr/>
        </p:nvSpPr>
        <p:spPr>
          <a:xfrm>
            <a:off x="291600" y="531360"/>
            <a:ext cx="4760280" cy="29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102236"/>
                </a:solidFill>
                <a:effectLst/>
                <a:uFillTx/>
                <a:latin typeface="Arial"/>
                <a:ea typeface="Arial"/>
              </a:rPr>
              <a:t>Il collo di bottiglia viene dopo la scuola di base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2;p10"/>
          <p:cNvSpPr/>
          <p:nvPr/>
        </p:nvSpPr>
        <p:spPr>
          <a:xfrm>
            <a:off x="284400" y="792000"/>
            <a:ext cx="396504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D6F70"/>
                </a:solidFill>
                <a:effectLst/>
                <a:uFillTx/>
                <a:latin typeface="Arial"/>
                <a:ea typeface="Arial"/>
              </a:rPr>
              <a:t>La relazione titolo → lavoro non va forzata sulla persona: la leggiamo come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3;p10"/>
          <p:cNvSpPr/>
          <p:nvPr/>
        </p:nvSpPr>
        <p:spPr>
          <a:xfrm>
            <a:off x="284400" y="946440"/>
            <a:ext cx="2788920" cy="17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0" b="0" u="none" strike="noStrike">
                <a:solidFill>
                  <a:srgbClr val="6E6F70"/>
                </a:solidFill>
                <a:effectLst/>
                <a:uFillTx/>
                <a:latin typeface="Arial"/>
                <a:ea typeface="Arial"/>
              </a:rPr>
              <a:t>progressione territoriale e come esigenza di servizio.</a:t>
            </a:r>
            <a:endParaRPr lang="en-US" sz="9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4;p10"/>
          <p:cNvSpPr/>
          <p:nvPr/>
        </p:nvSpPr>
        <p:spPr>
          <a:xfrm>
            <a:off x="4981680" y="1258200"/>
            <a:ext cx="119124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5;p10"/>
          <p:cNvSpPr/>
          <p:nvPr/>
        </p:nvSpPr>
        <p:spPr>
          <a:xfrm>
            <a:off x="5149800" y="1523880"/>
            <a:ext cx="85536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112233"/>
                </a:solidFill>
                <a:effectLst/>
                <a:uFillTx/>
                <a:latin typeface="Arial"/>
                <a:ea typeface="Arial"/>
              </a:rPr>
              <a:t>La base regge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6;p10"/>
          <p:cNvSpPr/>
          <p:nvPr/>
        </p:nvSpPr>
        <p:spPr>
          <a:xfrm>
            <a:off x="5132520" y="1690200"/>
            <a:ext cx="3107880" cy="1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C6F72"/>
                </a:solidFill>
                <a:effectLst/>
                <a:uFillTx/>
                <a:latin typeface="Arial"/>
                <a:ea typeface="Arial"/>
              </a:rPr>
              <a:t>96,7% dei 15-19enni ha almeno la licenza media nel 2011.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47;p10"/>
          <p:cNvSpPr/>
          <p:nvPr/>
        </p:nvSpPr>
        <p:spPr>
          <a:xfrm>
            <a:off x="5149800" y="1910160"/>
            <a:ext cx="14414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1" u="none" strike="noStrike">
                <a:solidFill>
                  <a:srgbClr val="122233"/>
                </a:solidFill>
                <a:effectLst/>
                <a:uFillTx/>
                <a:latin typeface="Arial"/>
                <a:ea typeface="Arial"/>
              </a:rPr>
              <a:t>Il gradino successivo no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48;p10"/>
          <p:cNvSpPr/>
          <p:nvPr/>
        </p:nvSpPr>
        <p:spPr>
          <a:xfrm>
            <a:off x="5136120" y="2053800"/>
            <a:ext cx="31248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D7072"/>
                </a:solidFill>
                <a:effectLst/>
                <a:uFillTx/>
                <a:latin typeface="Arial"/>
                <a:ea typeface="Arial"/>
              </a:rPr>
              <a:t>Diploma/laurea e titolo universitario restano sotto Palermo,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49;p10"/>
          <p:cNvSpPr/>
          <p:nvPr/>
        </p:nvSpPr>
        <p:spPr>
          <a:xfrm>
            <a:off x="5132520" y="2214720"/>
            <a:ext cx="745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C6F72"/>
                </a:solidFill>
                <a:effectLst/>
                <a:uFillTx/>
                <a:latin typeface="Arial"/>
                <a:ea typeface="Arial"/>
              </a:rPr>
              <a:t>Sicilia e Italia.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50;p10"/>
          <p:cNvSpPr/>
          <p:nvPr/>
        </p:nvSpPr>
        <p:spPr>
          <a:xfrm>
            <a:off x="5132520" y="2435040"/>
            <a:ext cx="17431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70" b="1" u="none" strike="noStrike">
                <a:solidFill>
                  <a:srgbClr val="122233"/>
                </a:solidFill>
                <a:effectLst/>
                <a:uFillTx/>
                <a:latin typeface="Arial"/>
                <a:ea typeface="Arial"/>
              </a:rPr>
              <a:t>Non è una catena individuale</a:t>
            </a:r>
            <a:endParaRPr lang="en-US" sz="9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51;p10"/>
          <p:cNvSpPr/>
          <p:nvPr/>
        </p:nvSpPr>
        <p:spPr>
          <a:xfrm>
            <a:off x="5136120" y="2592000"/>
            <a:ext cx="3224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D6F72"/>
                </a:solidFill>
                <a:effectLst/>
                <a:uFillTx/>
                <a:latin typeface="Arial"/>
                <a:ea typeface="Arial"/>
              </a:rPr>
              <a:t>Le tavole comunali non osservano chi, tra i diplomati, lavora.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52;p10"/>
          <p:cNvSpPr/>
          <p:nvPr/>
        </p:nvSpPr>
        <p:spPr>
          <a:xfrm>
            <a:off x="5112000" y="2810160"/>
            <a:ext cx="930960" cy="17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112234"/>
                </a:solidFill>
                <a:effectLst/>
                <a:uFillTx/>
                <a:latin typeface="Arial"/>
                <a:ea typeface="Arial"/>
              </a:rPr>
              <a:t>Da qui la policy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53;p10"/>
          <p:cNvSpPr/>
          <p:nvPr/>
        </p:nvSpPr>
        <p:spPr>
          <a:xfrm>
            <a:off x="5132520" y="2965680"/>
            <a:ext cx="3261960" cy="17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6D6F72"/>
                </a:solidFill>
                <a:effectLst/>
                <a:uFillTx/>
                <a:latin typeface="Arial"/>
                <a:ea typeface="Arial"/>
              </a:rPr>
              <a:t>Serve transizione: azione ravvicinata, opportunità praticabile,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54;p10"/>
          <p:cNvSpPr/>
          <p:nvPr/>
        </p:nvSpPr>
        <p:spPr>
          <a:xfrm>
            <a:off x="5132520" y="3116520"/>
            <a:ext cx="800280" cy="1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6D6F71"/>
                </a:solidFill>
                <a:effectLst/>
                <a:uFillTx/>
                <a:latin typeface="Arial"/>
                <a:ea typeface="Arial"/>
              </a:rPr>
              <a:t>esito misurato.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Google Shape;155;p10"/>
          <p:cNvPicPr/>
          <p:nvPr/>
        </p:nvPicPr>
        <p:blipFill>
          <a:blip r:embed="rId2"/>
          <a:stretch/>
        </p:blipFill>
        <p:spPr>
          <a:xfrm>
            <a:off x="291600" y="1106280"/>
            <a:ext cx="4433040" cy="3017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61;p11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Google Shape;162;p11"/>
          <p:cNvSpPr/>
          <p:nvPr/>
        </p:nvSpPr>
        <p:spPr>
          <a:xfrm>
            <a:off x="514440" y="576000"/>
            <a:ext cx="44388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" b="1" u="none" strike="noStrike">
                <a:solidFill>
                  <a:srgbClr val="BD739B"/>
                </a:solidFill>
                <a:effectLst/>
                <a:uFillTx/>
                <a:latin typeface="Arial"/>
                <a:ea typeface="Arial"/>
              </a:rPr>
              <a:t>AREA 2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3;p11"/>
          <p:cNvSpPr/>
          <p:nvPr/>
        </p:nvSpPr>
        <p:spPr>
          <a:xfrm>
            <a:off x="538200" y="1728000"/>
            <a:ext cx="2939760" cy="45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90" b="1" u="none" strike="noStrike">
                <a:solidFill>
                  <a:srgbClr val="101726"/>
                </a:solidFill>
                <a:effectLst/>
                <a:uFillTx/>
                <a:latin typeface="Verdana"/>
                <a:ea typeface="Verdana"/>
              </a:rPr>
              <a:t>Focus femminile</a:t>
            </a:r>
            <a:endParaRPr lang="en-US" sz="2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4;p11"/>
          <p:cNvSpPr/>
          <p:nvPr/>
        </p:nvSpPr>
        <p:spPr>
          <a:xfrm>
            <a:off x="555480" y="2904120"/>
            <a:ext cx="3680280" cy="1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70" b="0" u="none" strike="noStrike">
                <a:solidFill>
                  <a:srgbClr val="5D636B"/>
                </a:solidFill>
                <a:effectLst/>
                <a:uFillTx/>
                <a:latin typeface="Arial"/>
                <a:ea typeface="Arial"/>
              </a:rPr>
              <a:t>Qui non cerchiamo una causa unica. Individuiamo il punto</a:t>
            </a:r>
            <a:endParaRPr lang="en-US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5;p11"/>
          <p:cNvSpPr/>
          <p:nvPr/>
        </p:nvSpPr>
        <p:spPr>
          <a:xfrm>
            <a:off x="551880" y="3075480"/>
            <a:ext cx="17398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10" b="0" u="none" strike="noStrike">
                <a:solidFill>
                  <a:srgbClr val="5C626A"/>
                </a:solidFill>
                <a:effectLst/>
                <a:uFillTx/>
                <a:latin typeface="Arial"/>
                <a:ea typeface="Arial"/>
              </a:rPr>
              <a:t>dove il divario si concentra.</a:t>
            </a:r>
            <a:endParaRPr lang="en-US" sz="1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71;p12"/>
          <p:cNvPicPr/>
          <p:nvPr/>
        </p:nvPicPr>
        <p:blipFill>
          <a:blip r:embed="rId1"/>
          <a:stretch/>
        </p:blipFill>
        <p:spPr>
          <a:xfrm>
            <a:off x="0" y="3600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Google Shape;172;p12"/>
          <p:cNvSpPr/>
          <p:nvPr/>
        </p:nvSpPr>
        <p:spPr>
          <a:xfrm>
            <a:off x="380520" y="171360"/>
            <a:ext cx="862200" cy="10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73;p12"/>
          <p:cNvSpPr/>
          <p:nvPr/>
        </p:nvSpPr>
        <p:spPr>
          <a:xfrm>
            <a:off x="2060640" y="171360"/>
            <a:ext cx="6908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46B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4;p12"/>
          <p:cNvSpPr/>
          <p:nvPr/>
        </p:nvSpPr>
        <p:spPr>
          <a:xfrm>
            <a:off x="462960" y="627480"/>
            <a:ext cx="499356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Il rovesciamento: più diploma, meno lavoro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5;p12"/>
          <p:cNvSpPr/>
          <p:nvPr/>
        </p:nvSpPr>
        <p:spPr>
          <a:xfrm>
            <a:off x="466200" y="1018440"/>
            <a:ext cx="42289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A Bagheria le ragazze hanno più diploma dei ragazzi, ma lavorano circa la metà.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6;p12"/>
          <p:cNvSpPr/>
          <p:nvPr/>
        </p:nvSpPr>
        <p:spPr>
          <a:xfrm>
            <a:off x="5910840" y="2026440"/>
            <a:ext cx="1324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370A0"/>
                </a:solidFill>
                <a:effectLst/>
                <a:uFillTx/>
                <a:latin typeface="Arial"/>
                <a:ea typeface="Arial"/>
              </a:rPr>
              <a:t>510 </a:t>
            </a: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vs</a:t>
            </a:r>
            <a:r>
              <a:rPr lang="en-US" sz="1900" b="1" u="none" strike="noStrike">
                <a:solidFill>
                  <a:srgbClr val="C370A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1" u="none" strike="noStrike">
                <a:solidFill>
                  <a:srgbClr val="2A6099"/>
                </a:solidFill>
                <a:effectLst/>
                <a:uFillTx/>
                <a:latin typeface="Arial"/>
                <a:ea typeface="Arial"/>
              </a:rPr>
              <a:t>462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7;p12"/>
          <p:cNvSpPr/>
          <p:nvPr/>
        </p:nvSpPr>
        <p:spPr>
          <a:xfrm>
            <a:off x="5897160" y="2489040"/>
            <a:ext cx="18565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21722"/>
                </a:solidFill>
                <a:effectLst/>
                <a:uFillTx/>
                <a:latin typeface="Arial"/>
                <a:ea typeface="Arial"/>
              </a:rPr>
              <a:t>diploma per 1.000 residenti 15-24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8;p12"/>
          <p:cNvSpPr/>
          <p:nvPr/>
        </p:nvSpPr>
        <p:spPr>
          <a:xfrm>
            <a:off x="5904000" y="3157560"/>
            <a:ext cx="1173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370A0"/>
                </a:solidFill>
                <a:effectLst/>
                <a:uFillTx/>
                <a:latin typeface="Arial"/>
                <a:ea typeface="Arial"/>
              </a:rPr>
              <a:t>82</a:t>
            </a:r>
            <a:r>
              <a:rPr lang="en-US" sz="1900" b="1" u="none" strike="noStrike">
                <a:solidFill>
                  <a:srgbClr val="1366B0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1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vs</a:t>
            </a:r>
            <a:r>
              <a:rPr lang="en-US" sz="1900" b="1" u="none" strike="noStrike">
                <a:solidFill>
                  <a:srgbClr val="1366B0"/>
                </a:solidFill>
                <a:effectLst/>
                <a:uFillTx/>
                <a:latin typeface="Arial"/>
                <a:ea typeface="Arial"/>
              </a:rPr>
              <a:t> 165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79;p12"/>
          <p:cNvSpPr/>
          <p:nvPr/>
        </p:nvSpPr>
        <p:spPr>
          <a:xfrm>
            <a:off x="5897160" y="3620520"/>
            <a:ext cx="189072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occupati per 1.000 residenti 15-24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80;p12"/>
          <p:cNvSpPr/>
          <p:nvPr/>
        </p:nvSpPr>
        <p:spPr>
          <a:xfrm>
            <a:off x="380520" y="4920120"/>
            <a:ext cx="2847240" cy="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707277"/>
                </a:solidFill>
                <a:effectLst/>
                <a:uFillTx/>
                <a:latin typeface="Arial"/>
                <a:ea typeface="Arial"/>
              </a:rPr>
              <a:t>Dati: genere_per_1000.csv, Bagheria 2024. Diploma e occupazione sono misure aggregate separate.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86;p13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187;p13"/>
          <p:cNvSpPr/>
          <p:nvPr/>
        </p:nvSpPr>
        <p:spPr>
          <a:xfrm>
            <a:off x="384120" y="157680"/>
            <a:ext cx="858600" cy="10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0" u="none" strike="noStrike">
                <a:solidFill>
                  <a:srgbClr val="656669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88;p13"/>
          <p:cNvSpPr/>
          <p:nvPr/>
        </p:nvSpPr>
        <p:spPr>
          <a:xfrm>
            <a:off x="2063880" y="171360"/>
            <a:ext cx="6872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46B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89;p13"/>
          <p:cNvSpPr/>
          <p:nvPr/>
        </p:nvSpPr>
        <p:spPr>
          <a:xfrm>
            <a:off x="459360" y="613800"/>
            <a:ext cx="523692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111725"/>
                </a:solidFill>
                <a:effectLst/>
                <a:uFillTx/>
                <a:latin typeface="Arial"/>
                <a:ea typeface="Arial"/>
              </a:rPr>
              <a:t>Il tasso femminile cresce, ma il divario non si chiude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90;p13"/>
          <p:cNvSpPr/>
          <p:nvPr/>
        </p:nvSpPr>
        <p:spPr>
          <a:xfrm>
            <a:off x="473040" y="1018440"/>
            <a:ext cx="45374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Bagheria migliora in valore assoluto; resta sotto Palermo, Sicilia e Italia in ogni annata.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91;p13"/>
          <p:cNvSpPr/>
          <p:nvPr/>
        </p:nvSpPr>
        <p:spPr>
          <a:xfrm>
            <a:off x="6120000" y="2214720"/>
            <a:ext cx="223704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8,2% nel 2024: valore più alto della serie di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92;p13"/>
          <p:cNvSpPr/>
          <p:nvPr/>
        </p:nvSpPr>
        <p:spPr>
          <a:xfrm>
            <a:off x="6123600" y="2355480"/>
            <a:ext cx="51588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Bagheria.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93;p13"/>
          <p:cNvSpPr/>
          <p:nvPr/>
        </p:nvSpPr>
        <p:spPr>
          <a:xfrm>
            <a:off x="6123600" y="2797560"/>
            <a:ext cx="1715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15171E"/>
                </a:solidFill>
                <a:effectLst/>
                <a:uFillTx/>
                <a:latin typeface="Arial"/>
                <a:ea typeface="Arial"/>
              </a:rPr>
              <a:t>Non è un crollo: cresce ovunque.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94;p13"/>
          <p:cNvSpPr/>
          <p:nvPr/>
        </p:nvSpPr>
        <p:spPr>
          <a:xfrm>
            <a:off x="6126840" y="3315600"/>
            <a:ext cx="26107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141720"/>
                </a:solidFill>
                <a:effectLst/>
                <a:uFillTx/>
                <a:latin typeface="Arial"/>
                <a:ea typeface="Arial"/>
              </a:rPr>
              <a:t>Il punto è la mancata convergenza col benchmark.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200;p14"/>
          <p:cNvSpPr/>
          <p:nvPr/>
        </p:nvSpPr>
        <p:spPr>
          <a:xfrm>
            <a:off x="8773560" y="171360"/>
            <a:ext cx="104400" cy="8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Google Shape;201;p14" descr="/mnt/data/pt_render/page-12.png"/>
          <p:cNvPicPr/>
          <p:nvPr/>
        </p:nvPicPr>
        <p:blipFill>
          <a:blip r:embed="rId1"/>
          <a:srcRect l="0" t="0" r="0" b="10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144"/>
          <p:cNvSpPr txBox="1"/>
          <p:nvPr/>
        </p:nvSpPr>
        <p:spPr>
          <a:xfrm>
            <a:off x="429027" y="598788"/>
            <a:ext cx="8509037" cy="259177"/>
          </a:xfrm>
          <a:prstGeom prst="rect">
            <a:avLst/>
          </a:prstGeom>
          <a:solidFill>
            <a:srgbClr val="FBF8EF"/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101725"/>
                </a:solidFill>
                <a:latin typeface="Arial"/>
              </a:rPr>
              <a:t>Casalinghe stimate dal censimento: un'etichetta utile per l'outreach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39603" y="1157359"/>
            <a:ext cx="4500315" cy="134057"/>
          </a:xfrm>
          <a:prstGeom prst="rect">
            <a:avLst/>
          </a:prstGeom>
          <a:solidFill>
            <a:srgbClr val="FBF8EF"/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700" b="0">
                <a:solidFill>
                  <a:srgbClr val="5E6369"/>
                </a:solidFill>
                <a:latin typeface="Arial"/>
              </a:rPr>
              <a:t>Stima di modello del censimento, non una dichiarazione: non misura ore di cura né intenzioni.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39603" y="1447816"/>
            <a:ext cx="3731642" cy="201085"/>
          </a:xfrm>
          <a:prstGeom prst="rect">
            <a:avLst/>
          </a:prstGeom>
          <a:solidFill>
            <a:srgbClr val="FBF8EF"/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250" b="1">
                <a:solidFill>
                  <a:srgbClr val="101725"/>
                </a:solidFill>
                <a:latin typeface="Arial"/>
              </a:rPr>
              <a:t>Casalinghe, stima censuaria: a Bagheria 13,4%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21468" y="1559530"/>
            <a:ext cx="3173013" cy="321737"/>
          </a:xfrm>
          <a:prstGeom prst="rect">
            <a:avLst/>
          </a:prstGeom>
          <a:solidFill>
            <a:srgbClr val="FBF8EF"/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1A1A1A"/>
                </a:solidFill>
                <a:latin typeface="Arial"/>
              </a:rPr>
              <a:t>È una stima di modello, non una dichiarazione:</a:t>
            </a:r>
          </a:p>
          <a:p>
            <a:r>
              <a:rPr sz="1000" b="0">
                <a:solidFill>
                  <a:srgbClr val="1A1A1A"/>
                </a:solidFill>
                <a:latin typeface="Arial"/>
              </a:rPr>
              <a:t>non va trasformata in diagnosi familiare.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7523" y="4893080"/>
            <a:ext cx="4111510" cy="107246"/>
          </a:xfrm>
          <a:prstGeom prst="rect">
            <a:avLst/>
          </a:prstGeom>
          <a:solidFill>
            <a:srgbClr val="FBF8EF"/>
          </a:solidFill>
        </p:spPr>
        <p:txBody>
          <a:bodyPr wrap="square" lIns="0" rIns="0" tIns="0" bIns="0" anchor="ctr">
            <a:spAutoFit/>
          </a:bodyPr>
          <a:lstStyle/>
          <a:p>
            <a:r>
              <a:rPr sz="550" b="0">
                <a:solidFill>
                  <a:srgbClr val="5E6369"/>
                </a:solidFill>
                <a:latin typeface="Arial"/>
              </a:rPr>
              <a:t>Dati: genere_casalinghe.csv, anno 2024. Stima di modello del censimento (dal 2021), non misura delle ore di cura.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207;p15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Google Shape;208;p15"/>
          <p:cNvSpPr/>
          <p:nvPr/>
        </p:nvSpPr>
        <p:spPr>
          <a:xfrm>
            <a:off x="380520" y="171360"/>
            <a:ext cx="862200" cy="9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0" u="none" strike="noStrike">
                <a:solidFill>
                  <a:srgbClr val="636466"/>
                </a:solidFill>
                <a:effectLst/>
                <a:uFillTx/>
                <a:latin typeface="Arial"/>
                <a:ea typeface="Arial"/>
              </a:rPr>
              <a:t>DataPolis 2026 · Bagheria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209;p15"/>
          <p:cNvSpPr/>
          <p:nvPr/>
        </p:nvSpPr>
        <p:spPr>
          <a:xfrm>
            <a:off x="2060640" y="171360"/>
            <a:ext cx="690840" cy="9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" b="1" u="none" strike="noStrike">
                <a:solidFill>
                  <a:srgbClr val="5E646B"/>
                </a:solidFill>
                <a:effectLst/>
                <a:uFillTx/>
                <a:latin typeface="Arial"/>
                <a:ea typeface="Arial"/>
              </a:rPr>
              <a:t>FOCUS FEMMINILE</a:t>
            </a:r>
            <a:endParaRPr lang="en-US" sz="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210;p15"/>
          <p:cNvSpPr/>
          <p:nvPr/>
        </p:nvSpPr>
        <p:spPr>
          <a:xfrm>
            <a:off x="462960" y="617040"/>
            <a:ext cx="3965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940" b="1" u="none" strike="noStrike">
                <a:solidFill>
                  <a:srgbClr val="101725"/>
                </a:solidFill>
                <a:effectLst/>
                <a:uFillTx/>
                <a:latin typeface="Arial"/>
                <a:ea typeface="Arial"/>
              </a:rPr>
              <a:t>Mobilità e finestra di intervento</a:t>
            </a:r>
            <a:endParaRPr lang="en-US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11;p15"/>
          <p:cNvSpPr/>
          <p:nvPr/>
        </p:nvSpPr>
        <p:spPr>
          <a:xfrm>
            <a:off x="473040" y="1021680"/>
            <a:ext cx="436968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5E6369"/>
                </a:solidFill>
                <a:effectLst/>
                <a:uFillTx/>
                <a:latin typeface="Arial"/>
                <a:ea typeface="Arial"/>
              </a:rPr>
              <a:t>Le ragazze si spostano per studiare; il nodo emerge nel lavoro e nella fascia 22-25.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12;p15"/>
          <p:cNvSpPr/>
          <p:nvPr/>
        </p:nvSpPr>
        <p:spPr>
          <a:xfrm>
            <a:off x="589680" y="4628520"/>
            <a:ext cx="606996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31722"/>
                </a:solidFill>
                <a:effectLst/>
                <a:uFillTx/>
                <a:latin typeface="Arial"/>
                <a:ea typeface="Arial"/>
              </a:rPr>
              <a:t>Uso progettuale: reclutare prima che la finestra 22-25 si chiuda, e verificare la raggiungibilità reale delle opportunità.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218;p16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Google Shape;219;p16"/>
          <p:cNvSpPr/>
          <p:nvPr/>
        </p:nvSpPr>
        <p:spPr>
          <a:xfrm>
            <a:off x="521280" y="576000"/>
            <a:ext cx="1119240" cy="15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2A7F5C"/>
                </a:solidFill>
                <a:effectLst/>
                <a:uFillTx/>
                <a:latin typeface="Arial"/>
                <a:ea typeface="Arial"/>
              </a:rPr>
              <a:t>POLICY PROPOSAL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20;p16"/>
          <p:cNvSpPr/>
          <p:nvPr/>
        </p:nvSpPr>
        <p:spPr>
          <a:xfrm>
            <a:off x="541800" y="1703880"/>
            <a:ext cx="165420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530" b="1" u="none" strike="noStrike">
                <a:solidFill>
                  <a:srgbClr val="101727"/>
                </a:solidFill>
                <a:effectLst/>
                <a:uFillTx/>
                <a:latin typeface="Verdana"/>
                <a:ea typeface="Verdana"/>
              </a:rPr>
              <a:t>Ponte 19</a:t>
            </a:r>
            <a:endParaRPr lang="en-US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221;p16"/>
          <p:cNvSpPr/>
          <p:nvPr/>
        </p:nvSpPr>
        <p:spPr>
          <a:xfrm>
            <a:off x="538200" y="2297160"/>
            <a:ext cx="346104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121723"/>
                </a:solidFill>
                <a:effectLst/>
                <a:uFillTx/>
                <a:latin typeface="Verdana"/>
                <a:ea typeface="Verdana"/>
              </a:rPr>
              <a:t>Servizio comunale di transizione e riattivazione per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222;p16"/>
          <p:cNvSpPr/>
          <p:nvPr/>
        </p:nvSpPr>
        <p:spPr>
          <a:xfrm>
            <a:off x="541800" y="2478960"/>
            <a:ext cx="498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60" b="1" u="none" strike="noStrike">
                <a:solidFill>
                  <a:srgbClr val="121722"/>
                </a:solidFill>
                <a:effectLst/>
                <a:uFillTx/>
                <a:latin typeface="Verdana"/>
                <a:ea typeface="Verdana"/>
              </a:rPr>
              <a:t>i 18-25.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223;p16"/>
          <p:cNvSpPr/>
          <p:nvPr/>
        </p:nvSpPr>
        <p:spPr>
          <a:xfrm>
            <a:off x="555480" y="2927880"/>
            <a:ext cx="3783240" cy="16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20" b="0" u="none" strike="noStrike">
                <a:solidFill>
                  <a:srgbClr val="5D636B"/>
                </a:solidFill>
                <a:effectLst/>
                <a:uFillTx/>
                <a:latin typeface="Arial"/>
                <a:ea typeface="Arial"/>
              </a:rPr>
              <a:t>Contatto attivo - quota femminile - opportunità verificate - esiti misurati.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229;p17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Google Shape;230;p17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31;p17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32;p17"/>
          <p:cNvSpPr/>
          <p:nvPr/>
        </p:nvSpPr>
        <p:spPr>
          <a:xfrm>
            <a:off x="291600" y="500400"/>
            <a:ext cx="4907520" cy="25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Ponte 19: evidenza → intervento → KPI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33;p17"/>
          <p:cNvSpPr/>
          <p:nvPr/>
        </p:nvSpPr>
        <p:spPr>
          <a:xfrm>
            <a:off x="593280" y="1083600"/>
            <a:ext cx="10335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Evidenza dai dati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34;p17"/>
          <p:cNvSpPr/>
          <p:nvPr/>
        </p:nvSpPr>
        <p:spPr>
          <a:xfrm>
            <a:off x="4601160" y="1083600"/>
            <a:ext cx="154080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Conseguenza progettuale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35;p17"/>
          <p:cNvSpPr/>
          <p:nvPr/>
        </p:nvSpPr>
        <p:spPr>
          <a:xfrm>
            <a:off x="778320" y="1450440"/>
            <a:ext cx="2881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70,6% di chi è fuori da lavoro e studio non cerca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36;p17"/>
          <p:cNvSpPr/>
          <p:nvPr/>
        </p:nvSpPr>
        <p:spPr>
          <a:xfrm>
            <a:off x="4601160" y="1450440"/>
            <a:ext cx="20930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Outreach attivo, non solo sportello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37;p17"/>
          <p:cNvSpPr/>
          <p:nvPr/>
        </p:nvSpPr>
        <p:spPr>
          <a:xfrm>
            <a:off x="4601160" y="1923480"/>
            <a:ext cx="26139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Servizio di transizione, non sola formazione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238;p17"/>
          <p:cNvSpPr/>
          <p:nvPr/>
        </p:nvSpPr>
        <p:spPr>
          <a:xfrm>
            <a:off x="778320" y="1923480"/>
            <a:ext cx="20037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Gap persistente istruzione/lavoro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39;p17"/>
          <p:cNvSpPr/>
          <p:nvPr/>
        </p:nvSpPr>
        <p:spPr>
          <a:xfrm>
            <a:off x="781560" y="2396520"/>
            <a:ext cx="128376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Finestra critica 22-25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40;p17"/>
          <p:cNvSpPr/>
          <p:nvPr/>
        </p:nvSpPr>
        <p:spPr>
          <a:xfrm>
            <a:off x="4601160" y="2396520"/>
            <a:ext cx="214092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Seconda finestra di ingaggio mirata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41;p17"/>
          <p:cNvSpPr/>
          <p:nvPr/>
        </p:nvSpPr>
        <p:spPr>
          <a:xfrm>
            <a:off x="781560" y="2869560"/>
            <a:ext cx="24289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Mobilità studio/lavoro con segno diverso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42;p17"/>
          <p:cNvSpPr/>
          <p:nvPr/>
        </p:nvSpPr>
        <p:spPr>
          <a:xfrm>
            <a:off x="4604400" y="2869560"/>
            <a:ext cx="23605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Raggiungibilità verificata caso per caso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43;p17"/>
          <p:cNvSpPr/>
          <p:nvPr/>
        </p:nvSpPr>
        <p:spPr>
          <a:xfrm>
            <a:off x="781560" y="3342960"/>
            <a:ext cx="18496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Platea giovanile in contrazione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44;p17"/>
          <p:cNvSpPr/>
          <p:nvPr/>
        </p:nvSpPr>
        <p:spPr>
          <a:xfrm>
            <a:off x="4604400" y="3342960"/>
            <a:ext cx="18975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KPI territoriali espressi in tasso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45;p17"/>
          <p:cNvSpPr/>
          <p:nvPr/>
        </p:nvSpPr>
        <p:spPr>
          <a:xfrm>
            <a:off x="340200" y="844920"/>
            <a:ext cx="1217880" cy="151200"/>
          </a:xfrm>
          <a:prstGeom prst="rect">
            <a:avLst/>
          </a:prstGeom>
          <a:solidFill>
            <a:srgbClr val="F7F3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5600" bIns="7560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46;p17"/>
          <p:cNvSpPr/>
          <p:nvPr/>
        </p:nvSpPr>
        <p:spPr>
          <a:xfrm>
            <a:off x="155880" y="932040"/>
            <a:ext cx="218520" cy="151200"/>
          </a:xfrm>
          <a:prstGeom prst="rect">
            <a:avLst/>
          </a:prstGeom>
          <a:solidFill>
            <a:srgbClr val="F7F3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5600" bIns="7560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252;p18"/>
          <p:cNvPicPr/>
          <p:nvPr/>
        </p:nvPicPr>
        <p:blipFill>
          <a:blip r:embed="rId1"/>
          <a:stretch/>
        </p:blipFill>
        <p:spPr>
          <a:xfrm>
            <a:off x="6840" y="-684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253;p18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54;p18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55;p18"/>
          <p:cNvSpPr/>
          <p:nvPr/>
        </p:nvSpPr>
        <p:spPr>
          <a:xfrm>
            <a:off x="274320" y="500400"/>
            <a:ext cx="531936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Target: due finestre, non un unico contenitore 18-25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56;p18"/>
          <p:cNvSpPr/>
          <p:nvPr/>
        </p:nvSpPr>
        <p:spPr>
          <a:xfrm>
            <a:off x="284400" y="761040"/>
            <a:ext cx="3978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La presa in carico distingue prevenzione e riattivazione. La quota di genere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Google Shape;257;p18"/>
          <p:cNvSpPr/>
          <p:nvPr/>
        </p:nvSpPr>
        <p:spPr>
          <a:xfrm>
            <a:off x="281160" y="929160"/>
            <a:ext cx="316944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obbliga a costruire canali diversi, non a escludere qualcuno.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58;p18"/>
          <p:cNvSpPr/>
          <p:nvPr/>
        </p:nvSpPr>
        <p:spPr>
          <a:xfrm>
            <a:off x="490320" y="1337040"/>
            <a:ext cx="772920" cy="1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E71B7"/>
                </a:solidFill>
                <a:effectLst/>
                <a:uFillTx/>
                <a:latin typeface="Verdana"/>
                <a:ea typeface="Verdana"/>
              </a:rPr>
              <a:t>Finestra 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ogle Shape;259;p18"/>
          <p:cNvSpPr/>
          <p:nvPr/>
        </p:nvSpPr>
        <p:spPr>
          <a:xfrm>
            <a:off x="2547360" y="1337040"/>
            <a:ext cx="76284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9" b="1" u="none" strike="noStrike">
                <a:solidFill>
                  <a:srgbClr val="E63931"/>
                </a:solidFill>
                <a:effectLst/>
                <a:uFillTx/>
                <a:latin typeface="Verdana"/>
                <a:ea typeface="Verdana"/>
              </a:rPr>
              <a:t>Finestra B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60;p18"/>
          <p:cNvSpPr/>
          <p:nvPr/>
        </p:nvSpPr>
        <p:spPr>
          <a:xfrm>
            <a:off x="5081040" y="1337040"/>
            <a:ext cx="111924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Capacità pilota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61;p18"/>
          <p:cNvSpPr/>
          <p:nvPr/>
        </p:nvSpPr>
        <p:spPr>
          <a:xfrm>
            <a:off x="500400" y="1566720"/>
            <a:ext cx="118080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1E71B7"/>
                </a:solidFill>
                <a:effectLst/>
                <a:uFillTx/>
                <a:latin typeface="Verdana"/>
                <a:ea typeface="Verdana"/>
              </a:rPr>
              <a:t>18-20 anni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62;p18"/>
          <p:cNvSpPr/>
          <p:nvPr/>
        </p:nvSpPr>
        <p:spPr>
          <a:xfrm>
            <a:off x="2554200" y="1566720"/>
            <a:ext cx="1184400" cy="27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10" b="1" u="none" strike="noStrike">
                <a:solidFill>
                  <a:srgbClr val="E63931"/>
                </a:solidFill>
                <a:effectLst/>
                <a:uFillTx/>
                <a:latin typeface="Verdana"/>
                <a:ea typeface="Verdana"/>
              </a:rPr>
              <a:t>22-25 anni</a:t>
            </a:r>
            <a:endParaRPr lang="en-US" sz="15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63;p18"/>
          <p:cNvSpPr/>
          <p:nvPr/>
        </p:nvSpPr>
        <p:spPr>
          <a:xfrm>
            <a:off x="5087880" y="1580400"/>
            <a:ext cx="42336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60" b="1" u="none" strike="noStrike">
                <a:solidFill>
                  <a:srgbClr val="DA6918"/>
                </a:solidFill>
                <a:effectLst/>
                <a:uFillTx/>
                <a:latin typeface="Verdana"/>
                <a:ea typeface="Verdana"/>
              </a:rPr>
              <a:t>200</a:t>
            </a:r>
            <a:endParaRPr lang="en-US" sz="14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64;p18"/>
          <p:cNvSpPr/>
          <p:nvPr/>
        </p:nvSpPr>
        <p:spPr>
          <a:xfrm>
            <a:off x="6294960" y="1584000"/>
            <a:ext cx="581040" cy="2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70" b="1" u="none" strike="noStrike">
                <a:solidFill>
                  <a:srgbClr val="C65FA4"/>
                </a:solidFill>
                <a:effectLst/>
                <a:uFillTx/>
                <a:latin typeface="Verdana"/>
                <a:ea typeface="Verdana"/>
              </a:rPr>
              <a:t>≥100</a:t>
            </a:r>
            <a:endParaRPr lang="en-US" sz="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65;p18"/>
          <p:cNvSpPr/>
          <p:nvPr/>
        </p:nvSpPr>
        <p:spPr>
          <a:xfrm>
            <a:off x="7529040" y="1580400"/>
            <a:ext cx="900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90" b="1" u="none" strike="noStrike">
                <a:solidFill>
                  <a:srgbClr val="278B67"/>
                </a:solidFill>
                <a:effectLst/>
                <a:uFillTx/>
                <a:latin typeface="Verdana"/>
                <a:ea typeface="Verdana"/>
              </a:rPr>
              <a:t>~18%</a:t>
            </a:r>
            <a:endParaRPr lang="en-US" sz="14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Google Shape;266;p18"/>
          <p:cNvSpPr/>
          <p:nvPr/>
        </p:nvSpPr>
        <p:spPr>
          <a:xfrm>
            <a:off x="5081040" y="1844640"/>
            <a:ext cx="59796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persone/anno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67;p18"/>
          <p:cNvSpPr/>
          <p:nvPr/>
        </p:nvSpPr>
        <p:spPr>
          <a:xfrm>
            <a:off x="6277680" y="1847880"/>
            <a:ext cx="64944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donne prese in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Google Shape;268;p18"/>
          <p:cNvSpPr/>
          <p:nvPr/>
        </p:nvSpPr>
        <p:spPr>
          <a:xfrm>
            <a:off x="7512120" y="1847880"/>
            <a:ext cx="73872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degli inattivi non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69;p18"/>
          <p:cNvSpPr/>
          <p:nvPr/>
        </p:nvSpPr>
        <p:spPr>
          <a:xfrm>
            <a:off x="490320" y="1906200"/>
            <a:ext cx="15717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Uscita dalla scuola o entro 30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70;p18"/>
          <p:cNvSpPr/>
          <p:nvPr/>
        </p:nvSpPr>
        <p:spPr>
          <a:xfrm>
            <a:off x="2544120" y="1906200"/>
            <a:ext cx="1692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Giovani fuori da lavoro e studio.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Google Shape;271;p18"/>
          <p:cNvSpPr/>
          <p:nvPr/>
        </p:nvSpPr>
        <p:spPr>
          <a:xfrm>
            <a:off x="6277680" y="1968120"/>
            <a:ext cx="27936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6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carico</a:t>
            </a:r>
            <a:endParaRPr lang="en-US" sz="5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72;p18"/>
          <p:cNvSpPr/>
          <p:nvPr/>
        </p:nvSpPr>
        <p:spPr>
          <a:xfrm>
            <a:off x="7512120" y="1968120"/>
            <a:ext cx="63936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studenti 15-24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Google Shape;273;p18"/>
          <p:cNvSpPr/>
          <p:nvPr/>
        </p:nvSpPr>
        <p:spPr>
          <a:xfrm>
            <a:off x="486720" y="2057040"/>
            <a:ext cx="166788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giorni dall’interruzione. Serve 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74;p18"/>
          <p:cNvSpPr/>
          <p:nvPr/>
        </p:nvSpPr>
        <p:spPr>
          <a:xfrm>
            <a:off x="2547360" y="2053800"/>
            <a:ext cx="14929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È la finestra di riattivazione,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75;p18"/>
          <p:cNvSpPr/>
          <p:nvPr/>
        </p:nvSpPr>
        <p:spPr>
          <a:xfrm>
            <a:off x="490320" y="2207880"/>
            <a:ext cx="127368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intervenire prima che la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76;p18"/>
          <p:cNvSpPr/>
          <p:nvPr/>
        </p:nvSpPr>
        <p:spPr>
          <a:xfrm>
            <a:off x="2544120" y="2207880"/>
            <a:ext cx="1369440" cy="1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coerente con la perdita di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77;p18"/>
          <p:cNvSpPr/>
          <p:nvPr/>
        </p:nvSpPr>
        <p:spPr>
          <a:xfrm>
            <a:off x="486720" y="2358720"/>
            <a:ext cx="14655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disconnessione si consolidi.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Google Shape;278;p18"/>
          <p:cNvSpPr/>
          <p:nvPr/>
        </p:nvSpPr>
        <p:spPr>
          <a:xfrm>
            <a:off x="2547360" y="2358720"/>
            <a:ext cx="112608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ritenzione femminile.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Google Shape;279;p18"/>
          <p:cNvSpPr/>
          <p:nvPr/>
        </p:nvSpPr>
        <p:spPr>
          <a:xfrm>
            <a:off x="5084640" y="2845800"/>
            <a:ext cx="17604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Dati osservati vs inferiti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Google Shape;280;p18"/>
          <p:cNvSpPr/>
          <p:nvPr/>
        </p:nvSpPr>
        <p:spPr>
          <a:xfrm>
            <a:off x="5084640" y="3089160"/>
            <a:ext cx="3564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I dati principali osservano soprattutto il 15-24; la policy opera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Google Shape;281;p18"/>
          <p:cNvSpPr/>
          <p:nvPr/>
        </p:nvSpPr>
        <p:spPr>
          <a:xfrm>
            <a:off x="5081040" y="3243600"/>
            <a:ext cx="35643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sui 18-25; i 21enni entrano su segnalazione.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Google Shape;282;p18"/>
          <p:cNvSpPr/>
          <p:nvPr/>
        </p:nvSpPr>
        <p:spPr>
          <a:xfrm>
            <a:off x="5084640" y="3401280"/>
            <a:ext cx="51228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88;p19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Google Shape;289;p19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Google Shape;290;p19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B5052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Google Shape;291;p19"/>
          <p:cNvSpPr/>
          <p:nvPr/>
        </p:nvSpPr>
        <p:spPr>
          <a:xfrm>
            <a:off x="291600" y="500400"/>
            <a:ext cx="681408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Dal contatto all’esito: il servizio deve produrre passaggi verificabili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Google Shape;292;p19"/>
          <p:cNvSpPr/>
          <p:nvPr/>
        </p:nvSpPr>
        <p:spPr>
          <a:xfrm>
            <a:off x="281160" y="774720"/>
            <a:ext cx="5569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Ogni presa in carico ha un output: contatto, piano entro 15 giorni, opportunità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Google Shape;293;p19"/>
          <p:cNvSpPr/>
          <p:nvPr/>
        </p:nvSpPr>
        <p:spPr>
          <a:xfrm>
            <a:off x="284400" y="929160"/>
            <a:ext cx="115020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97078"/>
                </a:solidFill>
                <a:effectLst/>
                <a:uFillTx/>
                <a:latin typeface="Verdana"/>
                <a:ea typeface="Verdana"/>
              </a:rPr>
              <a:t>praticabile, follow-up.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Google Shape;294;p19"/>
          <p:cNvSpPr/>
          <p:nvPr/>
        </p:nvSpPr>
        <p:spPr>
          <a:xfrm>
            <a:off x="593280" y="1837800"/>
            <a:ext cx="116712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nei luoghi e canali già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Google Shape;295;p19"/>
          <p:cNvSpPr/>
          <p:nvPr/>
        </p:nvSpPr>
        <p:spPr>
          <a:xfrm>
            <a:off x="2787480" y="1837800"/>
            <a:ext cx="1345680" cy="14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prossima azione entro 15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Google Shape;296;p19"/>
          <p:cNvSpPr/>
          <p:nvPr/>
        </p:nvSpPr>
        <p:spPr>
          <a:xfrm>
            <a:off x="4978440" y="1837800"/>
            <a:ext cx="87228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attività, mentor,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Google Shape;297;p19"/>
          <p:cNvSpPr/>
          <p:nvPr/>
        </p:nvSpPr>
        <p:spPr>
          <a:xfrm>
            <a:off x="7169040" y="1837800"/>
            <a:ext cx="138312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follow-up a 3, 6 e 12 mesi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Google Shape;298;p19"/>
          <p:cNvSpPr/>
          <p:nvPr/>
        </p:nvSpPr>
        <p:spPr>
          <a:xfrm>
            <a:off x="586440" y="1991880"/>
            <a:ext cx="604800" cy="1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frequentati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Google Shape;299;p19"/>
          <p:cNvSpPr/>
          <p:nvPr/>
        </p:nvSpPr>
        <p:spPr>
          <a:xfrm>
            <a:off x="2783880" y="1991880"/>
            <a:ext cx="31680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giorni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Google Shape;300;p19"/>
          <p:cNvSpPr/>
          <p:nvPr/>
        </p:nvSpPr>
        <p:spPr>
          <a:xfrm>
            <a:off x="4978440" y="1991880"/>
            <a:ext cx="1188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compenso, sede, orari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Google Shape;301;p19"/>
          <p:cNvSpPr/>
          <p:nvPr/>
        </p:nvSpPr>
        <p:spPr>
          <a:xfrm>
            <a:off x="593280" y="3082320"/>
            <a:ext cx="2710080" cy="18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Perché outreach e non solo sportello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Google Shape;302;p19"/>
          <p:cNvSpPr/>
          <p:nvPr/>
        </p:nvSpPr>
        <p:spPr>
          <a:xfrm>
            <a:off x="593280" y="3329280"/>
            <a:ext cx="3313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A definizione costante (2021-2024) chi cerca scende dal 10,6%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Google Shape;303;p19"/>
          <p:cNvSpPr/>
          <p:nvPr/>
        </p:nvSpPr>
        <p:spPr>
          <a:xfrm>
            <a:off x="4638960" y="3329280"/>
            <a:ext cx="35568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L’outreach apre il primo contatto: scuole secondarie, servizi sociali,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Google Shape;304;p19"/>
          <p:cNvSpPr/>
          <p:nvPr/>
        </p:nvSpPr>
        <p:spPr>
          <a:xfrm>
            <a:off x="589680" y="3480120"/>
            <a:ext cx="3474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al 7,9%; gli inattivi non studenti restano fermi, 19,2% e 19,0%.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Google Shape;305;p19"/>
          <p:cNvSpPr/>
          <p:nvPr/>
        </p:nvSpPr>
        <p:spPr>
          <a:xfrm>
            <a:off x="4635360" y="3466440"/>
            <a:ext cx="35568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consultori, associazioni e partner territoriali. I dati indicano i canali,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Google Shape;306;p19"/>
          <p:cNvSpPr/>
          <p:nvPr/>
        </p:nvSpPr>
        <p:spPr>
          <a:xfrm>
            <a:off x="593280" y="3634200"/>
            <a:ext cx="3474720" cy="14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79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Uno sportello intercetta chi è già più vicino al mercato.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Google Shape;307;p19"/>
          <p:cNvSpPr/>
          <p:nvPr/>
        </p:nvSpPr>
        <p:spPr>
          <a:xfrm>
            <a:off x="4638960" y="3630960"/>
            <a:ext cx="1119240" cy="1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non liste nominative.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Google Shape;308;p19"/>
          <p:cNvSpPr/>
          <p:nvPr/>
        </p:nvSpPr>
        <p:spPr>
          <a:xfrm>
            <a:off x="864000" y="1481040"/>
            <a:ext cx="1136520" cy="1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Contatto attivo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Google Shape;309;p19"/>
          <p:cNvSpPr/>
          <p:nvPr/>
        </p:nvSpPr>
        <p:spPr>
          <a:xfrm>
            <a:off x="3061800" y="1481040"/>
            <a:ext cx="123300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Piano individuale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Google Shape;310;p19"/>
          <p:cNvSpPr/>
          <p:nvPr/>
        </p:nvSpPr>
        <p:spPr>
          <a:xfrm>
            <a:off x="5252400" y="1481040"/>
            <a:ext cx="1188000" cy="18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Opportunità verificata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Google Shape;311;p19"/>
          <p:cNvSpPr/>
          <p:nvPr/>
        </p:nvSpPr>
        <p:spPr>
          <a:xfrm>
            <a:off x="7450200" y="1481040"/>
            <a:ext cx="982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89" b="1" u="none" strike="noStrike">
                <a:solidFill>
                  <a:srgbClr val="0E2238"/>
                </a:solidFill>
                <a:effectLst/>
                <a:uFillTx/>
                <a:latin typeface="Verdana"/>
                <a:ea typeface="Verdana"/>
              </a:rPr>
              <a:t>Esiti misurati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317;p20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Google Shape;318;p20"/>
          <p:cNvSpPr/>
          <p:nvPr/>
        </p:nvSpPr>
        <p:spPr>
          <a:xfrm>
            <a:off x="4193280" y="119880"/>
            <a:ext cx="800280" cy="1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80" b="1" u="none" strike="noStrike">
                <a:solidFill>
                  <a:srgbClr val="4D4F4D"/>
                </a:solidFill>
                <a:effectLst/>
                <a:uFillTx/>
                <a:latin typeface="Verdana"/>
                <a:ea typeface="Verdana"/>
              </a:rPr>
              <a:t>POLICY PROPOSAL</a:t>
            </a:r>
            <a:endParaRPr lang="en-US" sz="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Google Shape;319;p20"/>
          <p:cNvSpPr/>
          <p:nvPr/>
        </p:nvSpPr>
        <p:spPr>
          <a:xfrm>
            <a:off x="229680" y="119880"/>
            <a:ext cx="900000" cy="9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20" b="0" u="none" strike="noStrike">
                <a:solidFill>
                  <a:srgbClr val="51504A"/>
                </a:solidFill>
                <a:effectLst/>
                <a:uFillTx/>
                <a:latin typeface="Verdana"/>
                <a:ea typeface="Verdana"/>
              </a:rPr>
              <a:t>DataPolis 2026 · Bagheria</a:t>
            </a:r>
            <a:endParaRPr lang="en-US" sz="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Google Shape;320;p20"/>
          <p:cNvSpPr/>
          <p:nvPr/>
        </p:nvSpPr>
        <p:spPr>
          <a:xfrm>
            <a:off x="291600" y="497160"/>
            <a:ext cx="5668920" cy="25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02236"/>
                </a:solidFill>
                <a:effectLst/>
                <a:uFillTx/>
                <a:latin typeface="Verdana"/>
                <a:ea typeface="Verdana"/>
              </a:rPr>
              <a:t>Mobilità: non infrastruttura, ma vincolo di ammissibilità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Google Shape;321;p20"/>
          <p:cNvSpPr/>
          <p:nvPr/>
        </p:nvSpPr>
        <p:spPr>
          <a:xfrm>
            <a:off x="284400" y="761040"/>
            <a:ext cx="45273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6E7072"/>
                </a:solidFill>
                <a:effectLst/>
                <a:uFillTx/>
                <a:latin typeface="Verdana"/>
                <a:ea typeface="Verdana"/>
              </a:rPr>
              <a:t>Il problema non è “portare il treno”: è non progettare opportunità dando per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Google Shape;322;p20"/>
          <p:cNvSpPr/>
          <p:nvPr/>
        </p:nvSpPr>
        <p:spPr>
          <a:xfrm>
            <a:off x="281160" y="929160"/>
            <a:ext cx="8312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6D6F6F"/>
                </a:solidFill>
                <a:effectLst/>
                <a:uFillTx/>
                <a:latin typeface="Verdana"/>
                <a:ea typeface="Verdana"/>
              </a:rPr>
              <a:t>scontata l’auto.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Google Shape;323;p20"/>
          <p:cNvSpPr/>
          <p:nvPr/>
        </p:nvSpPr>
        <p:spPr>
          <a:xfrm>
            <a:off x="5355360" y="1268640"/>
            <a:ext cx="1317960" cy="18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010" b="1" u="none" strike="noStrike">
                <a:solidFill>
                  <a:srgbClr val="102234"/>
                </a:solidFill>
                <a:effectLst/>
                <a:uFillTx/>
                <a:latin typeface="Verdana"/>
                <a:ea typeface="Verdana"/>
              </a:rPr>
              <a:t>Cosa dicono i dati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Google Shape;324;p20"/>
          <p:cNvSpPr/>
          <p:nvPr/>
        </p:nvSpPr>
        <p:spPr>
          <a:xfrm>
            <a:off x="5362200" y="1553040"/>
            <a:ext cx="275472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C05F9E"/>
                </a:solidFill>
                <a:effectLst/>
                <a:uFillTx/>
                <a:latin typeface="Verdana"/>
                <a:ea typeface="Verdana"/>
              </a:rPr>
              <a:t>31,5% vs 16,4%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Google Shape;325;p20"/>
          <p:cNvSpPr/>
          <p:nvPr/>
        </p:nvSpPr>
        <p:spPr>
          <a:xfrm>
            <a:off x="5355360" y="1803600"/>
            <a:ext cx="295344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15212E"/>
                </a:solidFill>
                <a:effectLst/>
                <a:uFillTx/>
                <a:latin typeface="Verdana"/>
                <a:ea typeface="Verdana"/>
              </a:rPr>
              <a:t>uso del treno: donne vs uomini fra chi esce da Bagheria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Google Shape;326;p20"/>
          <p:cNvSpPr/>
          <p:nvPr/>
        </p:nvSpPr>
        <p:spPr>
          <a:xfrm>
            <a:off x="5358960" y="2043360"/>
            <a:ext cx="15854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DA6917"/>
                </a:solidFill>
                <a:effectLst/>
                <a:uFillTx/>
                <a:latin typeface="Verdana"/>
                <a:ea typeface="Verdana"/>
              </a:rPr>
              <a:t>98° percentile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Google Shape;327;p20"/>
          <p:cNvSpPr/>
          <p:nvPr/>
        </p:nvSpPr>
        <p:spPr>
          <a:xfrm>
            <a:off x="5358960" y="2300400"/>
            <a:ext cx="2545560" cy="1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15212E"/>
                </a:solidFill>
                <a:effectLst/>
                <a:uFillTx/>
                <a:latin typeface="Verdana"/>
                <a:ea typeface="Verdana"/>
              </a:rPr>
              <a:t>il treno è già l’asset di mobilità più distintivo del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Google Shape;328;p20"/>
          <p:cNvSpPr/>
          <p:nvPr/>
        </p:nvSpPr>
        <p:spPr>
          <a:xfrm>
            <a:off x="5355360" y="2454840"/>
            <a:ext cx="443880" cy="14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15222E"/>
                </a:solidFill>
                <a:effectLst/>
                <a:uFillTx/>
                <a:latin typeface="Verdana"/>
                <a:ea typeface="Verdana"/>
              </a:rPr>
              <a:t>comune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Google Shape;329;p20"/>
          <p:cNvSpPr/>
          <p:nvPr/>
        </p:nvSpPr>
        <p:spPr>
          <a:xfrm>
            <a:off x="5365800" y="2694960"/>
            <a:ext cx="26964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2070B4"/>
                </a:solidFill>
                <a:effectLst/>
                <a:uFillTx/>
                <a:latin typeface="Verdana"/>
                <a:ea typeface="Verdana"/>
              </a:rPr>
              <a:t>Nessun effetto generale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Google Shape;330;p20"/>
          <p:cNvSpPr/>
          <p:nvPr/>
        </p:nvSpPr>
        <p:spPr>
          <a:xfrm>
            <a:off x="5358960" y="2952000"/>
            <a:ext cx="25833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16212E"/>
                </a:solidFill>
                <a:effectLst/>
                <a:uFillTx/>
                <a:latin typeface="Verdana"/>
                <a:ea typeface="Verdana"/>
              </a:rPr>
              <a:t>mezzo collettivo e treno non spiegano un divario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Google Shape;331;p20"/>
          <p:cNvSpPr/>
          <p:nvPr/>
        </p:nvSpPr>
        <p:spPr>
          <a:xfrm>
            <a:off x="5358960" y="3106440"/>
            <a:ext cx="2583360" cy="14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10" b="0" u="none" strike="noStrike">
                <a:solidFill>
                  <a:srgbClr val="15212E"/>
                </a:solidFill>
                <a:effectLst/>
                <a:uFillTx/>
                <a:latin typeface="Verdana"/>
                <a:ea typeface="Verdana"/>
              </a:rPr>
              <a:t>minore sui 381 comuni non capoluogo</a:t>
            </a:r>
            <a:endParaRPr lang="en-US" sz="8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Google Shape;332;p20"/>
          <p:cNvSpPr/>
          <p:nvPr/>
        </p:nvSpPr>
        <p:spPr>
          <a:xfrm>
            <a:off x="5496120" y="3414960"/>
            <a:ext cx="267228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02333"/>
                </a:solidFill>
                <a:effectLst/>
                <a:uFillTx/>
                <a:latin typeface="Verdana"/>
                <a:ea typeface="Verdana"/>
              </a:rPr>
              <a:t>Regola: nessuna opportunità entra nel piano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Google Shape;333;p20"/>
          <p:cNvSpPr/>
          <p:nvPr/>
        </p:nvSpPr>
        <p:spPr>
          <a:xfrm>
            <a:off x="5489280" y="3562200"/>
            <a:ext cx="2754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102233"/>
                </a:solidFill>
                <a:effectLst/>
                <a:uFillTx/>
                <a:latin typeface="Verdana"/>
                <a:ea typeface="Verdana"/>
              </a:rPr>
              <a:t>senza verifica di mezzo collettivo e orari reali.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Google Shape;334;p20"/>
          <p:cNvPicPr/>
          <p:nvPr/>
        </p:nvPicPr>
        <p:blipFill>
          <a:blip r:embed="rId2"/>
          <a:stretch/>
        </p:blipFill>
        <p:spPr>
          <a:xfrm>
            <a:off x="291600" y="1129320"/>
            <a:ext cx="4687920" cy="2985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365;p22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Google Shape;366;p22"/>
          <p:cNvSpPr/>
          <p:nvPr/>
        </p:nvSpPr>
        <p:spPr>
          <a:xfrm>
            <a:off x="541800" y="514440"/>
            <a:ext cx="14450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E33D30"/>
                </a:solidFill>
                <a:effectLst/>
                <a:uFillTx/>
                <a:latin typeface="Arial"/>
                <a:ea typeface="Arial"/>
              </a:rPr>
              <a:t>Conclusione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Google Shape;367;p22"/>
          <p:cNvSpPr/>
          <p:nvPr/>
        </p:nvSpPr>
        <p:spPr>
          <a:xfrm>
            <a:off x="545040" y="1559880"/>
            <a:ext cx="36324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1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Un servizio che cerca chi non cerca,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Google Shape;368;p22"/>
          <p:cNvSpPr/>
          <p:nvPr/>
        </p:nvSpPr>
        <p:spPr>
          <a:xfrm>
            <a:off x="541800" y="1817280"/>
            <a:ext cx="215820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30" b="1" u="none" strike="noStrike">
                <a:solidFill>
                  <a:srgbClr val="111725"/>
                </a:solidFill>
                <a:effectLst/>
                <a:uFillTx/>
                <a:latin typeface="Verdana"/>
                <a:ea typeface="Verdana"/>
              </a:rPr>
              <a:t>e misura se funziona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Google Shape;369;p22"/>
          <p:cNvSpPr/>
          <p:nvPr/>
        </p:nvSpPr>
        <p:spPr>
          <a:xfrm>
            <a:off x="744120" y="2890440"/>
            <a:ext cx="357732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Il perimetro è dichiarato: 15-24 osservabile, 18-25 target del servizio.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Google Shape;370;p22"/>
          <p:cNvSpPr/>
          <p:nvPr/>
        </p:nvSpPr>
        <p:spPr>
          <a:xfrm>
            <a:off x="744120" y="3346200"/>
            <a:ext cx="3495240" cy="16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10" b="0" u="none" strike="noStrike">
                <a:solidFill>
                  <a:srgbClr val="15171E"/>
                </a:solidFill>
                <a:effectLst/>
                <a:uFillTx/>
                <a:latin typeface="Arial"/>
                <a:ea typeface="Arial"/>
              </a:rPr>
              <a:t>Il nodo studio-lavoro guida la transizione: dati mancanti raccolti dal</a:t>
            </a:r>
            <a:endParaRPr lang="en-US" sz="9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Google Shape;371;p22"/>
          <p:cNvSpPr/>
          <p:nvPr/>
        </p:nvSpPr>
        <p:spPr>
          <a:xfrm>
            <a:off x="737280" y="3486960"/>
            <a:ext cx="4539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5181F"/>
                </a:solidFill>
                <a:effectLst/>
                <a:uFillTx/>
                <a:latin typeface="Arial"/>
                <a:ea typeface="Arial"/>
              </a:rPr>
              <a:t>servizio.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Google Shape;372;p22"/>
          <p:cNvSpPr/>
          <p:nvPr/>
        </p:nvSpPr>
        <p:spPr>
          <a:xfrm>
            <a:off x="744120" y="3870720"/>
            <a:ext cx="3155760" cy="1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14171F"/>
                </a:solidFill>
                <a:effectLst/>
                <a:uFillTx/>
                <a:latin typeface="Arial"/>
                <a:ea typeface="Arial"/>
              </a:rPr>
              <a:t>Il focus femminile richiede quota e outreach, non un servizio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Google Shape;373;p22"/>
          <p:cNvSpPr/>
          <p:nvPr/>
        </p:nvSpPr>
        <p:spPr>
          <a:xfrm>
            <a:off x="737280" y="4014720"/>
            <a:ext cx="140724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889" b="0" u="none" strike="noStrike">
                <a:solidFill>
                  <a:srgbClr val="15171F"/>
                </a:solidFill>
                <a:effectLst/>
                <a:uFillTx/>
                <a:latin typeface="Arial"/>
                <a:ea typeface="Arial"/>
              </a:rPr>
              <a:t>esclusivamente femminile.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Google Shape;374;p22"/>
          <p:cNvSpPr/>
          <p:nvPr/>
        </p:nvSpPr>
        <p:spPr>
          <a:xfrm>
            <a:off x="596520" y="4515480"/>
            <a:ext cx="3765960" cy="11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30" b="1" u="none" strike="noStrike">
                <a:solidFill>
                  <a:srgbClr val="131721"/>
                </a:solidFill>
                <a:effectLst/>
                <a:uFillTx/>
                <a:latin typeface="Verdana"/>
                <a:ea typeface="Verdana"/>
              </a:rPr>
              <a:t>Non pretendiamo di spiegare la fuga. Proponiamo un pilota che produce evidenza</a:t>
            </a:r>
            <a:endParaRPr lang="en-US" sz="6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375;p22"/>
          <p:cNvSpPr/>
          <p:nvPr/>
        </p:nvSpPr>
        <p:spPr>
          <a:xfrm>
            <a:off x="593280" y="4632120"/>
            <a:ext cx="495360" cy="11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620" b="1" u="none" strike="noStrike">
                <a:solidFill>
                  <a:srgbClr val="131722"/>
                </a:solidFill>
                <a:effectLst/>
                <a:uFillTx/>
                <a:latin typeface="Verdana"/>
                <a:ea typeface="Verdana"/>
              </a:rPr>
              <a:t>sugli esiti.</a:t>
            </a:r>
            <a:endParaRPr lang="en-US" sz="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LibreOffice/26.8.0.3$Linux_X86_64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2026-09-24T13:11:51Z</dcterms:modified>
  <cp:revision>1</cp:revision>
  <dc:subject/>
  <dc:title/>
</cp:coreProperties>
</file>